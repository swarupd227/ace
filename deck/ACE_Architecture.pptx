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B33"/>
        </a:solidFill>
      </p:bgPr>
    </p:bg>
    <p:spTree>
      <p:nvGrpSpPr>
        <p:cNvPr id="1" name=""/>
        <p:cNvGrpSpPr/>
        <p:nvPr/>
      </p:nvGrpSpPr>
      <p:grpSpPr>
        <a:xfrm>
          <a:off x="0" y="0"/>
          <a:ext cx="0" cy="0"/>
          <a:chOff x="0" y="0"/>
          <a:chExt cx="0" cy="0"/>
        </a:xfrm>
      </p:grpSpPr>
      <p:sp>
        <p:nvSpPr>
          <p:cNvPr id="2" name="Shape 0"/>
          <p:cNvSpPr/>
          <p:nvPr/>
        </p:nvSpPr>
        <p:spPr>
          <a:xfrm>
            <a:off x="0" y="0"/>
            <a:ext cx="201168" cy="6858000"/>
          </a:xfrm>
          <a:prstGeom prst="rect">
            <a:avLst/>
          </a:prstGeom>
          <a:solidFill>
            <a:srgbClr val="13B5A6"/>
          </a:solidFill>
          <a:ln/>
        </p:spPr>
      </p:sp>
      <p:sp>
        <p:nvSpPr>
          <p:cNvPr id="3" name="Shape 1"/>
          <p:cNvSpPr/>
          <p:nvPr/>
        </p:nvSpPr>
        <p:spPr>
          <a:xfrm>
            <a:off x="8686800" y="-2468880"/>
            <a:ext cx="6583680" cy="6583680"/>
          </a:xfrm>
          <a:prstGeom prst="ellipse">
            <a:avLst/>
          </a:prstGeom>
          <a:solidFill>
            <a:srgbClr val="24365C">
              <a:alpha val="55000"/>
            </a:srgbClr>
          </a:solidFill>
          <a:ln/>
        </p:spPr>
      </p:sp>
      <p:sp>
        <p:nvSpPr>
          <p:cNvPr id="4" name="Shape 2"/>
          <p:cNvSpPr/>
          <p:nvPr/>
        </p:nvSpPr>
        <p:spPr>
          <a:xfrm>
            <a:off x="10241280" y="2834640"/>
            <a:ext cx="4572000" cy="4572000"/>
          </a:xfrm>
          <a:prstGeom prst="ellipse">
            <a:avLst/>
          </a:prstGeom>
          <a:solidFill>
            <a:srgbClr val="24365C">
              <a:alpha val="38000"/>
            </a:srgbClr>
          </a:solidFill>
          <a:ln/>
        </p:spPr>
      </p:sp>
      <p:sp>
        <p:nvSpPr>
          <p:cNvPr id="5" name="Shape 3"/>
          <p:cNvSpPr/>
          <p:nvPr/>
        </p:nvSpPr>
        <p:spPr>
          <a:xfrm>
            <a:off x="10058400" y="640080"/>
            <a:ext cx="2926080" cy="2926080"/>
          </a:xfrm>
          <a:prstGeom prst="ellipse">
            <a:avLst/>
          </a:prstGeom>
          <a:solidFill>
            <a:srgbClr val="13B5A6">
              <a:alpha val="14000"/>
            </a:srgbClr>
          </a:solidFill>
          <a:ln/>
        </p:spPr>
      </p:sp>
      <p:sp>
        <p:nvSpPr>
          <p:cNvPr id="6" name="Text 4"/>
          <p:cNvSpPr/>
          <p:nvPr/>
        </p:nvSpPr>
        <p:spPr>
          <a:xfrm>
            <a:off x="731520" y="1371600"/>
            <a:ext cx="9144000" cy="365760"/>
          </a:xfrm>
          <a:prstGeom prst="rect">
            <a:avLst/>
          </a:prstGeom>
          <a:noFill/>
          <a:ln/>
        </p:spPr>
        <p:txBody>
          <a:bodyPr wrap="square" lIns="0" tIns="0" rIns="0" bIns="0" rtlCol="0" anchor="ctr"/>
          <a:lstStyle/>
          <a:p>
            <a:pPr indent="0" marL="0">
              <a:buNone/>
            </a:pPr>
            <a:r>
              <a:rPr lang="en-US" sz="1300" b="1" spc="300" kern="0" dirty="0">
                <a:solidFill>
                  <a:srgbClr val="13B5A6"/>
                </a:solidFill>
                <a:latin typeface="Calibri" pitchFamily="34" charset="0"/>
                <a:ea typeface="Calibri" pitchFamily="34" charset="-122"/>
                <a:cs typeface="Calibri" pitchFamily="34" charset="-120"/>
              </a:rPr>
              <a:t>NOUS INFOSYSTEMS   ·   FOR VEE HEALTHTEK</a:t>
            </a:r>
            <a:endParaRPr lang="en-US" sz="1300" dirty="0"/>
          </a:p>
        </p:txBody>
      </p:sp>
      <p:sp>
        <p:nvSpPr>
          <p:cNvPr id="7" name="Text 5"/>
          <p:cNvSpPr/>
          <p:nvPr/>
        </p:nvSpPr>
        <p:spPr>
          <a:xfrm>
            <a:off x="731520" y="1965960"/>
            <a:ext cx="10424160" cy="1005840"/>
          </a:xfrm>
          <a:prstGeom prst="rect">
            <a:avLst/>
          </a:prstGeom>
          <a:noFill/>
          <a:ln/>
        </p:spPr>
        <p:txBody>
          <a:bodyPr wrap="square" lIns="0" tIns="0" rIns="0" bIns="0" rtlCol="0" anchor="ctr"/>
          <a:lstStyle/>
          <a:p>
            <a:pPr indent="0" marL="0">
              <a:buNone/>
            </a:pPr>
            <a:r>
              <a:rPr lang="en-US" sz="4400" b="1" dirty="0">
                <a:solidFill>
                  <a:srgbClr val="FFFFFF"/>
                </a:solidFill>
                <a:latin typeface="Georgia" pitchFamily="34" charset="0"/>
                <a:ea typeface="Georgia" pitchFamily="34" charset="-122"/>
                <a:cs typeface="Georgia" pitchFamily="34" charset="-120"/>
              </a:rPr>
              <a:t>ACE — Autonomous Coding Engine</a:t>
            </a:r>
            <a:endParaRPr lang="en-US" sz="4400" dirty="0"/>
          </a:p>
        </p:txBody>
      </p:sp>
      <p:sp>
        <p:nvSpPr>
          <p:cNvPr id="8" name="Text 6"/>
          <p:cNvSpPr/>
          <p:nvPr/>
        </p:nvSpPr>
        <p:spPr>
          <a:xfrm>
            <a:off x="731520" y="3063240"/>
            <a:ext cx="10058400" cy="54864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Agentic AI that turns clinical notes into billable codes</a:t>
            </a:r>
            <a:endParaRPr lang="en-US" sz="2000" dirty="0"/>
          </a:p>
        </p:txBody>
      </p:sp>
      <p:sp>
        <p:nvSpPr>
          <p:cNvPr id="9" name="Text 7"/>
          <p:cNvSpPr/>
          <p:nvPr/>
        </p:nvSpPr>
        <p:spPr>
          <a:xfrm>
            <a:off x="749808" y="3703320"/>
            <a:ext cx="10058400" cy="457200"/>
          </a:xfrm>
          <a:prstGeom prst="rect">
            <a:avLst/>
          </a:prstGeom>
          <a:noFill/>
          <a:ln/>
        </p:spPr>
        <p:txBody>
          <a:bodyPr wrap="square" lIns="0" tIns="0" rIns="0" bIns="0" rtlCol="0" anchor="ctr"/>
          <a:lstStyle/>
          <a:p>
            <a:pPr indent="0" marL="0">
              <a:buNone/>
            </a:pPr>
            <a:r>
              <a:rPr lang="en-US" sz="1400" i="1" dirty="0">
                <a:solidFill>
                  <a:srgbClr val="9FB0C7"/>
                </a:solidFill>
                <a:latin typeface="Calibri" pitchFamily="34" charset="0"/>
                <a:ea typeface="Calibri" pitchFamily="34" charset="-122"/>
                <a:cs typeface="Calibri" pitchFamily="34" charset="-120"/>
              </a:rPr>
              <a:t>Functional flow  ·  Technical architecture  ·  Design rationale</a:t>
            </a:r>
            <a:endParaRPr lang="en-US" sz="1400" dirty="0"/>
          </a:p>
        </p:txBody>
      </p:sp>
      <p:sp>
        <p:nvSpPr>
          <p:cNvPr id="10" name="Shape 8"/>
          <p:cNvSpPr/>
          <p:nvPr/>
        </p:nvSpPr>
        <p:spPr>
          <a:xfrm>
            <a:off x="731520" y="4709160"/>
            <a:ext cx="2053742" cy="420624"/>
          </a:xfrm>
          <a:prstGeom prst="roundRect">
            <a:avLst>
              <a:gd name="adj" fmla="val 50000"/>
            </a:avLst>
          </a:prstGeom>
          <a:solidFill>
            <a:srgbClr val="24365C"/>
          </a:solidFill>
          <a:ln w="12700">
            <a:solidFill>
              <a:srgbClr val="13B5A6"/>
            </a:solidFill>
            <a:prstDash val="solid"/>
          </a:ln>
        </p:spPr>
      </p:sp>
      <p:sp>
        <p:nvSpPr>
          <p:cNvPr id="11" name="Text 9"/>
          <p:cNvSpPr/>
          <p:nvPr/>
        </p:nvSpPr>
        <p:spPr>
          <a:xfrm>
            <a:off x="731520" y="4709160"/>
            <a:ext cx="2053742" cy="420624"/>
          </a:xfrm>
          <a:prstGeom prst="rect">
            <a:avLst/>
          </a:prstGeom>
          <a:noFill/>
          <a:ln/>
        </p:spPr>
        <p:txBody>
          <a:bodyPr wrap="square" lIns="0" tIns="0" rIns="0" bIns="0" rtlCol="0" anchor="ctr"/>
          <a:lstStyle/>
          <a:p>
            <a:pPr algn="ctr" indent="0" marL="0">
              <a:buNone/>
            </a:pPr>
            <a:r>
              <a:rPr lang="en-US" sz="1050" dirty="0">
                <a:solidFill>
                  <a:srgbClr val="E6EEFA"/>
                </a:solidFill>
                <a:latin typeface="Calibri" pitchFamily="34" charset="0"/>
                <a:ea typeface="Calibri" pitchFamily="34" charset="-122"/>
                <a:cs typeface="Calibri" pitchFamily="34" charset="-120"/>
              </a:rPr>
              <a:t>Reads like a coder</a:t>
            </a:r>
            <a:endParaRPr lang="en-US" sz="1050" dirty="0"/>
          </a:p>
        </p:txBody>
      </p:sp>
      <p:sp>
        <p:nvSpPr>
          <p:cNvPr id="12" name="Shape 10"/>
          <p:cNvSpPr/>
          <p:nvPr/>
        </p:nvSpPr>
        <p:spPr>
          <a:xfrm>
            <a:off x="2986430" y="4709160"/>
            <a:ext cx="1876349" cy="420624"/>
          </a:xfrm>
          <a:prstGeom prst="roundRect">
            <a:avLst>
              <a:gd name="adj" fmla="val 50000"/>
            </a:avLst>
          </a:prstGeom>
          <a:solidFill>
            <a:srgbClr val="24365C"/>
          </a:solidFill>
          <a:ln w="12700">
            <a:solidFill>
              <a:srgbClr val="13B5A6"/>
            </a:solidFill>
            <a:prstDash val="solid"/>
          </a:ln>
        </p:spPr>
      </p:sp>
      <p:sp>
        <p:nvSpPr>
          <p:cNvPr id="13" name="Text 11"/>
          <p:cNvSpPr/>
          <p:nvPr/>
        </p:nvSpPr>
        <p:spPr>
          <a:xfrm>
            <a:off x="2986430" y="4709160"/>
            <a:ext cx="1876349" cy="420624"/>
          </a:xfrm>
          <a:prstGeom prst="rect">
            <a:avLst/>
          </a:prstGeom>
          <a:noFill/>
          <a:ln/>
        </p:spPr>
        <p:txBody>
          <a:bodyPr wrap="square" lIns="0" tIns="0" rIns="0" bIns="0" rtlCol="0" anchor="ctr"/>
          <a:lstStyle/>
          <a:p>
            <a:pPr algn="ctr" indent="0" marL="0">
              <a:buNone/>
            </a:pPr>
            <a:r>
              <a:rPr lang="en-US" sz="1050" dirty="0">
                <a:solidFill>
                  <a:srgbClr val="E6EEFA"/>
                </a:solidFill>
                <a:latin typeface="Calibri" pitchFamily="34" charset="0"/>
                <a:ea typeface="Calibri" pitchFamily="34" charset="-122"/>
                <a:cs typeface="Calibri" pitchFamily="34" charset="-120"/>
              </a:rPr>
              <a:t>Cites every code</a:t>
            </a:r>
            <a:endParaRPr lang="en-US" sz="1050" dirty="0"/>
          </a:p>
        </p:txBody>
      </p:sp>
      <p:sp>
        <p:nvSpPr>
          <p:cNvPr id="14" name="Shape 12"/>
          <p:cNvSpPr/>
          <p:nvPr/>
        </p:nvSpPr>
        <p:spPr>
          <a:xfrm>
            <a:off x="5063947" y="4709160"/>
            <a:ext cx="1965046" cy="420624"/>
          </a:xfrm>
          <a:prstGeom prst="roundRect">
            <a:avLst>
              <a:gd name="adj" fmla="val 50000"/>
            </a:avLst>
          </a:prstGeom>
          <a:solidFill>
            <a:srgbClr val="24365C"/>
          </a:solidFill>
          <a:ln w="12700">
            <a:solidFill>
              <a:srgbClr val="13B5A6"/>
            </a:solidFill>
            <a:prstDash val="solid"/>
          </a:ln>
        </p:spPr>
      </p:sp>
      <p:sp>
        <p:nvSpPr>
          <p:cNvPr id="15" name="Text 13"/>
          <p:cNvSpPr/>
          <p:nvPr/>
        </p:nvSpPr>
        <p:spPr>
          <a:xfrm>
            <a:off x="5063947" y="4709160"/>
            <a:ext cx="1965046" cy="420624"/>
          </a:xfrm>
          <a:prstGeom prst="rect">
            <a:avLst/>
          </a:prstGeom>
          <a:noFill/>
          <a:ln/>
        </p:spPr>
        <p:txBody>
          <a:bodyPr wrap="square" lIns="0" tIns="0" rIns="0" bIns="0" rtlCol="0" anchor="ctr"/>
          <a:lstStyle/>
          <a:p>
            <a:pPr algn="ctr" indent="0" marL="0">
              <a:buNone/>
            </a:pPr>
            <a:r>
              <a:rPr lang="en-US" sz="1050" dirty="0">
                <a:solidFill>
                  <a:srgbClr val="E6EEFA"/>
                </a:solidFill>
                <a:latin typeface="Calibri" pitchFamily="34" charset="0"/>
                <a:ea typeface="Calibri" pitchFamily="34" charset="-122"/>
                <a:cs typeface="Calibri" pitchFamily="34" charset="-120"/>
              </a:rPr>
              <a:t>Knows when to ask</a:t>
            </a:r>
            <a:endParaRPr lang="en-US" sz="1050" dirty="0"/>
          </a:p>
        </p:txBody>
      </p:sp>
      <p:sp>
        <p:nvSpPr>
          <p:cNvPr id="16" name="Shape 14"/>
          <p:cNvSpPr/>
          <p:nvPr/>
        </p:nvSpPr>
        <p:spPr>
          <a:xfrm>
            <a:off x="7230161" y="4709160"/>
            <a:ext cx="2053742" cy="420624"/>
          </a:xfrm>
          <a:prstGeom prst="roundRect">
            <a:avLst>
              <a:gd name="adj" fmla="val 50000"/>
            </a:avLst>
          </a:prstGeom>
          <a:solidFill>
            <a:srgbClr val="24365C"/>
          </a:solidFill>
          <a:ln w="12700">
            <a:solidFill>
              <a:srgbClr val="13B5A6"/>
            </a:solidFill>
            <a:prstDash val="solid"/>
          </a:ln>
        </p:spPr>
      </p:sp>
      <p:sp>
        <p:nvSpPr>
          <p:cNvPr id="17" name="Text 15"/>
          <p:cNvSpPr/>
          <p:nvPr/>
        </p:nvSpPr>
        <p:spPr>
          <a:xfrm>
            <a:off x="7230161" y="4709160"/>
            <a:ext cx="2053742" cy="420624"/>
          </a:xfrm>
          <a:prstGeom prst="rect">
            <a:avLst/>
          </a:prstGeom>
          <a:noFill/>
          <a:ln/>
        </p:spPr>
        <p:txBody>
          <a:bodyPr wrap="square" lIns="0" tIns="0" rIns="0" bIns="0" rtlCol="0" anchor="ctr"/>
          <a:lstStyle/>
          <a:p>
            <a:pPr algn="ctr" indent="0" marL="0">
              <a:buNone/>
            </a:pPr>
            <a:r>
              <a:rPr lang="en-US" sz="1050" dirty="0">
                <a:solidFill>
                  <a:srgbClr val="E6EEFA"/>
                </a:solidFill>
                <a:latin typeface="Calibri" pitchFamily="34" charset="0"/>
                <a:ea typeface="Calibri" pitchFamily="34" charset="-122"/>
                <a:cs typeface="Calibri" pitchFamily="34" charset="-120"/>
              </a:rPr>
              <a:t>Yours to configure</a:t>
            </a:r>
            <a:endParaRPr lang="en-US" sz="1050" dirty="0"/>
          </a:p>
        </p:txBody>
      </p:sp>
      <p:sp>
        <p:nvSpPr>
          <p:cNvPr id="18" name="Text 16"/>
          <p:cNvSpPr/>
          <p:nvPr/>
        </p:nvSpPr>
        <p:spPr>
          <a:xfrm>
            <a:off x="731520" y="6035040"/>
            <a:ext cx="10058400" cy="365760"/>
          </a:xfrm>
          <a:prstGeom prst="rect">
            <a:avLst/>
          </a:prstGeom>
          <a:noFill/>
          <a:ln/>
        </p:spPr>
        <p:txBody>
          <a:bodyPr wrap="square" lIns="0" tIns="0" rIns="0" bIns="0" rtlCol="0" anchor="ctr"/>
          <a:lstStyle/>
          <a:p>
            <a:pPr indent="0" marL="0">
              <a:buNone/>
            </a:pPr>
            <a:r>
              <a:rPr lang="en-US" sz="1100" dirty="0">
                <a:solidFill>
                  <a:srgbClr val="7E90A8"/>
                </a:solidFill>
                <a:latin typeface="Calibri" pitchFamily="34" charset="0"/>
                <a:ea typeface="Calibri" pitchFamily="34" charset="-122"/>
                <a:cs typeface="Calibri" pitchFamily="34" charset="-120"/>
              </a:rPr>
              <a:t>In-person demo · Bangalore · June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8FC"/>
        </a:solidFill>
      </p:bgPr>
    </p:bg>
    <p:spTree>
      <p:nvGrpSpPr>
        <p:cNvPr id="1" name=""/>
        <p:cNvGrpSpPr/>
        <p:nvPr/>
      </p:nvGrpSpPr>
      <p:grpSpPr>
        <a:xfrm>
          <a:off x="0" y="0"/>
          <a:ext cx="0" cy="0"/>
          <a:chOff x="0" y="0"/>
          <a:chExt cx="0" cy="0"/>
        </a:xfrm>
      </p:grpSpPr>
      <p:sp>
        <p:nvSpPr>
          <p:cNvPr id="2" name="Shape 0"/>
          <p:cNvSpPr/>
          <p:nvPr/>
        </p:nvSpPr>
        <p:spPr>
          <a:xfrm>
            <a:off x="0" y="0"/>
            <a:ext cx="12188952" cy="1078992"/>
          </a:xfrm>
          <a:prstGeom prst="rect">
            <a:avLst/>
          </a:prstGeom>
          <a:solidFill>
            <a:srgbClr val="FFFFFF"/>
          </a:solidFill>
          <a:ln/>
        </p:spPr>
      </p:sp>
      <p:sp>
        <p:nvSpPr>
          <p:cNvPr id="3" name="Shape 1"/>
          <p:cNvSpPr/>
          <p:nvPr/>
        </p:nvSpPr>
        <p:spPr>
          <a:xfrm>
            <a:off x="0" y="1078992"/>
            <a:ext cx="12188952" cy="27432"/>
          </a:xfrm>
          <a:prstGeom prst="rect">
            <a:avLst/>
          </a:prstGeom>
          <a:solidFill>
            <a:srgbClr val="D8E1EC"/>
          </a:solidFill>
          <a:ln/>
        </p:spPr>
      </p:sp>
      <p:sp>
        <p:nvSpPr>
          <p:cNvPr id="4" name="Shape 2"/>
          <p:cNvSpPr/>
          <p:nvPr/>
        </p:nvSpPr>
        <p:spPr>
          <a:xfrm>
            <a:off x="457200" y="310896"/>
            <a:ext cx="109728" cy="512064"/>
          </a:xfrm>
          <a:prstGeom prst="rect">
            <a:avLst/>
          </a:prstGeom>
          <a:solidFill>
            <a:srgbClr val="13B5A6"/>
          </a:solidFill>
          <a:ln/>
        </p:spPr>
      </p:sp>
      <p:sp>
        <p:nvSpPr>
          <p:cNvPr id="5" name="Text 3"/>
          <p:cNvSpPr/>
          <p:nvPr/>
        </p:nvSpPr>
        <p:spPr>
          <a:xfrm>
            <a:off x="713232" y="274320"/>
            <a:ext cx="10058400" cy="237744"/>
          </a:xfrm>
          <a:prstGeom prst="rect">
            <a:avLst/>
          </a:prstGeom>
          <a:noFill/>
          <a:ln/>
        </p:spPr>
        <p:txBody>
          <a:bodyPr wrap="square" lIns="0" tIns="0" rIns="0" bIns="0" rtlCol="0" anchor="ctr"/>
          <a:lstStyle/>
          <a:p>
            <a:pPr indent="0" marL="0">
              <a:buNone/>
            </a:pPr>
            <a:r>
              <a:rPr lang="en-US" sz="1100" b="1" spc="200" kern="0" dirty="0">
                <a:solidFill>
                  <a:srgbClr val="13B5A6"/>
                </a:solidFill>
                <a:latin typeface="Calibri" pitchFamily="34" charset="0"/>
                <a:ea typeface="Calibri" pitchFamily="34" charset="-122"/>
                <a:cs typeface="Calibri" pitchFamily="34" charset="-120"/>
              </a:rPr>
              <a:t>WHY WE BUILT THIS</a:t>
            </a:r>
            <a:endParaRPr lang="en-US" sz="1100" dirty="0"/>
          </a:p>
        </p:txBody>
      </p:sp>
      <p:sp>
        <p:nvSpPr>
          <p:cNvPr id="6" name="Text 4"/>
          <p:cNvSpPr/>
          <p:nvPr/>
        </p:nvSpPr>
        <p:spPr>
          <a:xfrm>
            <a:off x="713232" y="475488"/>
            <a:ext cx="11155680" cy="457200"/>
          </a:xfrm>
          <a:prstGeom prst="rect">
            <a:avLst/>
          </a:prstGeom>
          <a:noFill/>
          <a:ln/>
        </p:spPr>
        <p:txBody>
          <a:bodyPr wrap="square" lIns="0" tIns="0" rIns="0" bIns="0" rtlCol="0" anchor="ctr"/>
          <a:lstStyle/>
          <a:p>
            <a:pPr indent="0" marL="0">
              <a:buNone/>
            </a:pPr>
            <a:r>
              <a:rPr lang="en-US" sz="2300" b="1" dirty="0">
                <a:solidFill>
                  <a:srgbClr val="1B2A4A"/>
                </a:solidFill>
                <a:latin typeface="Georgia" pitchFamily="34" charset="0"/>
                <a:ea typeface="Georgia" pitchFamily="34" charset="-122"/>
                <a:cs typeface="Georgia" pitchFamily="34" charset="-120"/>
              </a:rPr>
              <a:t>Turning clinical notes into clean claims — without losing trust</a:t>
            </a:r>
            <a:endParaRPr lang="en-US" sz="2300" dirty="0"/>
          </a:p>
        </p:txBody>
      </p:sp>
      <p:sp>
        <p:nvSpPr>
          <p:cNvPr id="7" name="Shape 5"/>
          <p:cNvSpPr/>
          <p:nvPr/>
        </p:nvSpPr>
        <p:spPr>
          <a:xfrm>
            <a:off x="457200" y="1417320"/>
            <a:ext cx="5532120" cy="4754880"/>
          </a:xfrm>
          <a:prstGeom prst="roundRect">
            <a:avLst>
              <a:gd name="adj" fmla="val 1346"/>
            </a:avLst>
          </a:prstGeom>
          <a:solidFill>
            <a:srgbClr val="FFFFFF"/>
          </a:solidFill>
          <a:ln w="12700">
            <a:solidFill>
              <a:srgbClr val="D8E1EC"/>
            </a:solidFill>
            <a:prstDash val="solid"/>
          </a:ln>
          <a:effectLst>
            <a:outerShdw sx="100000" sy="100000" kx="0" ky="0" algn="bl" rotWithShape="0" blurRad="88900" dist="38100" dir="8100000">
              <a:srgbClr val="1B2A4A">
                <a:alpha val="12000"/>
              </a:srgbClr>
            </a:outerShdw>
          </a:effectLst>
        </p:spPr>
      </p:sp>
      <p:sp>
        <p:nvSpPr>
          <p:cNvPr id="8" name="Text 6"/>
          <p:cNvSpPr/>
          <p:nvPr/>
        </p:nvSpPr>
        <p:spPr>
          <a:xfrm>
            <a:off x="731520" y="1600200"/>
            <a:ext cx="5029200" cy="365760"/>
          </a:xfrm>
          <a:prstGeom prst="rect">
            <a:avLst/>
          </a:prstGeom>
          <a:noFill/>
          <a:ln/>
        </p:spPr>
        <p:txBody>
          <a:bodyPr wrap="square" lIns="0" tIns="0" rIns="0" bIns="0" rtlCol="0" anchor="ctr"/>
          <a:lstStyle/>
          <a:p>
            <a:pPr indent="0" marL="0">
              <a:buNone/>
            </a:pPr>
            <a:r>
              <a:rPr lang="en-US" sz="1500" b="1" dirty="0">
                <a:solidFill>
                  <a:srgbClr val="1B2A4A"/>
                </a:solidFill>
                <a:latin typeface="Calibri" pitchFamily="34" charset="0"/>
                <a:ea typeface="Calibri" pitchFamily="34" charset="-122"/>
                <a:cs typeface="Calibri" pitchFamily="34" charset="-120"/>
              </a:rPr>
              <a:t>What makes coding hard</a:t>
            </a:r>
            <a:endParaRPr lang="en-US" sz="1500" dirty="0"/>
          </a:p>
        </p:txBody>
      </p:sp>
      <p:sp>
        <p:nvSpPr>
          <p:cNvPr id="9" name="Shape 7"/>
          <p:cNvSpPr/>
          <p:nvPr/>
        </p:nvSpPr>
        <p:spPr>
          <a:xfrm>
            <a:off x="731520" y="2103120"/>
            <a:ext cx="146304" cy="146304"/>
          </a:xfrm>
          <a:prstGeom prst="ellipse">
            <a:avLst/>
          </a:prstGeom>
          <a:solidFill>
            <a:srgbClr val="13B5A6"/>
          </a:solidFill>
          <a:ln/>
        </p:spPr>
      </p:sp>
      <p:sp>
        <p:nvSpPr>
          <p:cNvPr id="10" name="Text 8"/>
          <p:cNvSpPr/>
          <p:nvPr/>
        </p:nvSpPr>
        <p:spPr>
          <a:xfrm>
            <a:off x="960120" y="2057400"/>
            <a:ext cx="4892040" cy="868680"/>
          </a:xfrm>
          <a:prstGeom prst="rect">
            <a:avLst/>
          </a:prstGeom>
          <a:noFill/>
          <a:ln/>
        </p:spPr>
        <p:txBody>
          <a:bodyPr wrap="square" lIns="0" tIns="0" rIns="0" bIns="0" rtlCol="0" anchor="t"/>
          <a:lstStyle/>
          <a:p>
            <a:pPr indent="0" marL="0">
              <a:lnSpc>
                <a:spcPct val="98000"/>
              </a:lnSpc>
              <a:buNone/>
            </a:pPr>
            <a:r>
              <a:rPr lang="en-US" sz="1150" b="1" dirty="0">
                <a:solidFill>
                  <a:srgbClr val="27313F"/>
                </a:solidFill>
                <a:latin typeface="Calibri" pitchFamily="34" charset="0"/>
                <a:ea typeface="Calibri" pitchFamily="34" charset="-122"/>
                <a:cs typeface="Calibri" pitchFamily="34" charset="-120"/>
              </a:rPr>
              <a:t>From notes to codes.  </a:t>
            </a:r>
            <a:pPr indent="0" marL="0">
              <a:lnSpc>
                <a:spcPct val="98000"/>
              </a:lnSpc>
              <a:buNone/>
            </a:pPr>
            <a:r>
              <a:rPr lang="en-US" sz="1150" dirty="0">
                <a:solidFill>
                  <a:srgbClr val="6B7A8D"/>
                </a:solidFill>
                <a:latin typeface="Calibri" pitchFamily="34" charset="0"/>
                <a:ea typeface="Calibri" pitchFamily="34" charset="-122"/>
                <a:cs typeface="Calibri" pitchFamily="34" charset="-120"/>
              </a:rPr>
              <a:t>A clinician writes the story; someone has to turn it into the exact ICD-10, CPT and HCPCS — and get the specificity, bundling and modifiers right.</a:t>
            </a:r>
            <a:endParaRPr lang="en-US" sz="1150" dirty="0"/>
          </a:p>
        </p:txBody>
      </p:sp>
      <p:sp>
        <p:nvSpPr>
          <p:cNvPr id="11" name="Shape 9"/>
          <p:cNvSpPr/>
          <p:nvPr/>
        </p:nvSpPr>
        <p:spPr>
          <a:xfrm>
            <a:off x="731520" y="3063240"/>
            <a:ext cx="146304" cy="146304"/>
          </a:xfrm>
          <a:prstGeom prst="ellipse">
            <a:avLst/>
          </a:prstGeom>
          <a:solidFill>
            <a:srgbClr val="13B5A6"/>
          </a:solidFill>
          <a:ln/>
        </p:spPr>
      </p:sp>
      <p:sp>
        <p:nvSpPr>
          <p:cNvPr id="12" name="Text 10"/>
          <p:cNvSpPr/>
          <p:nvPr/>
        </p:nvSpPr>
        <p:spPr>
          <a:xfrm>
            <a:off x="960120" y="3017520"/>
            <a:ext cx="4892040" cy="868680"/>
          </a:xfrm>
          <a:prstGeom prst="rect">
            <a:avLst/>
          </a:prstGeom>
          <a:noFill/>
          <a:ln/>
        </p:spPr>
        <p:txBody>
          <a:bodyPr wrap="square" lIns="0" tIns="0" rIns="0" bIns="0" rtlCol="0" anchor="t"/>
          <a:lstStyle/>
          <a:p>
            <a:pPr indent="0" marL="0">
              <a:lnSpc>
                <a:spcPct val="98000"/>
              </a:lnSpc>
              <a:buNone/>
            </a:pPr>
            <a:r>
              <a:rPr lang="en-US" sz="1150" b="1" dirty="0">
                <a:solidFill>
                  <a:srgbClr val="27313F"/>
                </a:solidFill>
                <a:latin typeface="Calibri" pitchFamily="34" charset="0"/>
                <a:ea typeface="Calibri" pitchFamily="34" charset="-122"/>
                <a:cs typeface="Calibri" pitchFamily="34" charset="-120"/>
              </a:rPr>
              <a:t>Mistakes are costly.  </a:t>
            </a:r>
            <a:pPr indent="0" marL="0">
              <a:lnSpc>
                <a:spcPct val="98000"/>
              </a:lnSpc>
              <a:buNone/>
            </a:pPr>
            <a:r>
              <a:rPr lang="en-US" sz="1150" dirty="0">
                <a:solidFill>
                  <a:srgbClr val="6B7A8D"/>
                </a:solidFill>
                <a:latin typeface="Calibri" pitchFamily="34" charset="0"/>
                <a:ea typeface="Calibri" pitchFamily="34" charset="-122"/>
                <a:cs typeface="Calibri" pitchFamily="34" charset="-120"/>
              </a:rPr>
              <a:t>A wrong code means a denial, a compliance question, or rework. Good coders are hard to find, and everything they touch is audited.</a:t>
            </a:r>
            <a:endParaRPr lang="en-US" sz="1150" dirty="0"/>
          </a:p>
        </p:txBody>
      </p:sp>
      <p:sp>
        <p:nvSpPr>
          <p:cNvPr id="13" name="Shape 11"/>
          <p:cNvSpPr/>
          <p:nvPr/>
        </p:nvSpPr>
        <p:spPr>
          <a:xfrm>
            <a:off x="731520" y="4023360"/>
            <a:ext cx="146304" cy="146304"/>
          </a:xfrm>
          <a:prstGeom prst="ellipse">
            <a:avLst/>
          </a:prstGeom>
          <a:solidFill>
            <a:srgbClr val="13B5A6"/>
          </a:solidFill>
          <a:ln/>
        </p:spPr>
      </p:sp>
      <p:sp>
        <p:nvSpPr>
          <p:cNvPr id="14" name="Text 12"/>
          <p:cNvSpPr/>
          <p:nvPr/>
        </p:nvSpPr>
        <p:spPr>
          <a:xfrm>
            <a:off x="960120" y="3977640"/>
            <a:ext cx="4892040" cy="868680"/>
          </a:xfrm>
          <a:prstGeom prst="rect">
            <a:avLst/>
          </a:prstGeom>
          <a:noFill/>
          <a:ln/>
        </p:spPr>
        <p:txBody>
          <a:bodyPr wrap="square" lIns="0" tIns="0" rIns="0" bIns="0" rtlCol="0" anchor="t"/>
          <a:lstStyle/>
          <a:p>
            <a:pPr indent="0" marL="0">
              <a:lnSpc>
                <a:spcPct val="98000"/>
              </a:lnSpc>
              <a:buNone/>
            </a:pPr>
            <a:r>
              <a:rPr lang="en-US" sz="1150" b="1" dirty="0">
                <a:solidFill>
                  <a:srgbClr val="27313F"/>
                </a:solidFill>
                <a:latin typeface="Calibri" pitchFamily="34" charset="0"/>
                <a:ea typeface="Calibri" pitchFamily="34" charset="-122"/>
                <a:cs typeface="Calibri" pitchFamily="34" charset="-120"/>
              </a:rPr>
              <a:t>There's never enough time.  </a:t>
            </a:r>
            <a:pPr indent="0" marL="0">
              <a:lnSpc>
                <a:spcPct val="98000"/>
              </a:lnSpc>
              <a:buNone/>
            </a:pPr>
            <a:r>
              <a:rPr lang="en-US" sz="1150" dirty="0">
                <a:solidFill>
                  <a:srgbClr val="6B7A8D"/>
                </a:solidFill>
                <a:latin typeface="Calibri" pitchFamily="34" charset="0"/>
                <a:ea typeface="Calibri" pitchFamily="34" charset="-122"/>
                <a:cs typeface="Calibri" pitchFamily="34" charset="-120"/>
              </a:rPr>
              <a:t>Volumes are high and turnaround matters. Coder time is the real cost.</a:t>
            </a:r>
            <a:endParaRPr lang="en-US" sz="1150" dirty="0"/>
          </a:p>
        </p:txBody>
      </p:sp>
      <p:sp>
        <p:nvSpPr>
          <p:cNvPr id="15" name="Shape 13"/>
          <p:cNvSpPr/>
          <p:nvPr/>
        </p:nvSpPr>
        <p:spPr>
          <a:xfrm>
            <a:off x="731520" y="4983480"/>
            <a:ext cx="146304" cy="146304"/>
          </a:xfrm>
          <a:prstGeom prst="ellipse">
            <a:avLst/>
          </a:prstGeom>
          <a:solidFill>
            <a:srgbClr val="13B5A6"/>
          </a:solidFill>
          <a:ln/>
        </p:spPr>
      </p:sp>
      <p:sp>
        <p:nvSpPr>
          <p:cNvPr id="16" name="Text 14"/>
          <p:cNvSpPr/>
          <p:nvPr/>
        </p:nvSpPr>
        <p:spPr>
          <a:xfrm>
            <a:off x="960120" y="4937760"/>
            <a:ext cx="4892040" cy="868680"/>
          </a:xfrm>
          <a:prstGeom prst="rect">
            <a:avLst/>
          </a:prstGeom>
          <a:noFill/>
          <a:ln/>
        </p:spPr>
        <p:txBody>
          <a:bodyPr wrap="square" lIns="0" tIns="0" rIns="0" bIns="0" rtlCol="0" anchor="t"/>
          <a:lstStyle/>
          <a:p>
            <a:pPr indent="0" marL="0">
              <a:lnSpc>
                <a:spcPct val="98000"/>
              </a:lnSpc>
              <a:buNone/>
            </a:pPr>
            <a:r>
              <a:rPr lang="en-US" sz="1150" b="1" dirty="0">
                <a:solidFill>
                  <a:srgbClr val="27313F"/>
                </a:solidFill>
                <a:latin typeface="Calibri" pitchFamily="34" charset="0"/>
                <a:ea typeface="Calibri" pitchFamily="34" charset="-122"/>
                <a:cs typeface="Calibri" pitchFamily="34" charset="-120"/>
              </a:rPr>
              <a:t>AI has to earn trust.  </a:t>
            </a:r>
            <a:pPr indent="0" marL="0">
              <a:lnSpc>
                <a:spcPct val="98000"/>
              </a:lnSpc>
              <a:buNone/>
            </a:pPr>
            <a:r>
              <a:rPr lang="en-US" sz="1150" dirty="0">
                <a:solidFill>
                  <a:srgbClr val="6B7A8D"/>
                </a:solidFill>
                <a:latin typeface="Calibri" pitchFamily="34" charset="0"/>
                <a:ea typeface="Calibri" pitchFamily="34" charset="-122"/>
                <a:cs typeface="Calibri" pitchFamily="34" charset="-120"/>
              </a:rPr>
              <a:t>Nobody lets a black box bill a claim. People want to see the reasoning before they hand over control.</a:t>
            </a:r>
            <a:endParaRPr lang="en-US" sz="1150" dirty="0"/>
          </a:p>
        </p:txBody>
      </p:sp>
      <p:sp>
        <p:nvSpPr>
          <p:cNvPr id="17" name="Shape 15"/>
          <p:cNvSpPr/>
          <p:nvPr/>
        </p:nvSpPr>
        <p:spPr>
          <a:xfrm>
            <a:off x="6217920" y="1417320"/>
            <a:ext cx="5513832" cy="4754880"/>
          </a:xfrm>
          <a:prstGeom prst="roundRect">
            <a:avLst>
              <a:gd name="adj" fmla="val 1346"/>
            </a:avLst>
          </a:prstGeom>
          <a:solidFill>
            <a:srgbClr val="1B2A4A"/>
          </a:solidFill>
          <a:ln w="12700">
            <a:solidFill>
              <a:srgbClr val="D8E1EC"/>
            </a:solidFill>
            <a:prstDash val="solid"/>
          </a:ln>
          <a:effectLst>
            <a:outerShdw sx="100000" sy="100000" kx="0" ky="0" algn="bl" rotWithShape="0" blurRad="88900" dist="38100" dir="8100000">
              <a:srgbClr val="1B2A4A">
                <a:alpha val="12000"/>
              </a:srgbClr>
            </a:outerShdw>
          </a:effectLst>
        </p:spPr>
      </p:sp>
      <p:sp>
        <p:nvSpPr>
          <p:cNvPr id="18" name="Text 16"/>
          <p:cNvSpPr/>
          <p:nvPr/>
        </p:nvSpPr>
        <p:spPr>
          <a:xfrm>
            <a:off x="6492240" y="1600200"/>
            <a:ext cx="493776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How you'll know it's working</a:t>
            </a:r>
            <a:endParaRPr lang="en-US" sz="1500" dirty="0"/>
          </a:p>
        </p:txBody>
      </p:sp>
      <p:sp>
        <p:nvSpPr>
          <p:cNvPr id="19" name="Text 17"/>
          <p:cNvSpPr/>
          <p:nvPr/>
        </p:nvSpPr>
        <p:spPr>
          <a:xfrm>
            <a:off x="6492240" y="1947672"/>
            <a:ext cx="4937760" cy="274320"/>
          </a:xfrm>
          <a:prstGeom prst="rect">
            <a:avLst/>
          </a:prstGeom>
          <a:noFill/>
          <a:ln/>
        </p:spPr>
        <p:txBody>
          <a:bodyPr wrap="square" lIns="0" tIns="0" rIns="0" bIns="0" rtlCol="0" anchor="ctr"/>
          <a:lstStyle/>
          <a:p>
            <a:pPr indent="0" marL="0">
              <a:buNone/>
            </a:pPr>
            <a:r>
              <a:rPr lang="en-US" sz="1050" i="1" dirty="0">
                <a:solidFill>
                  <a:srgbClr val="9FB0C7"/>
                </a:solidFill>
                <a:latin typeface="Calibri" pitchFamily="34" charset="0"/>
                <a:ea typeface="Calibri" pitchFamily="34" charset="-122"/>
                <a:cs typeface="Calibri" pitchFamily="34" charset="-120"/>
              </a:rPr>
              <a:t>These grow over time — they're not a day-one cliff</a:t>
            </a:r>
            <a:endParaRPr lang="en-US" sz="1050" dirty="0"/>
          </a:p>
        </p:txBody>
      </p:sp>
      <p:sp>
        <p:nvSpPr>
          <p:cNvPr id="20" name="Text 18"/>
          <p:cNvSpPr/>
          <p:nvPr/>
        </p:nvSpPr>
        <p:spPr>
          <a:xfrm>
            <a:off x="6492240" y="2331720"/>
            <a:ext cx="1828800" cy="566928"/>
          </a:xfrm>
          <a:prstGeom prst="rect">
            <a:avLst/>
          </a:prstGeom>
          <a:noFill/>
          <a:ln/>
        </p:spPr>
        <p:txBody>
          <a:bodyPr wrap="square" lIns="0" tIns="0" rIns="0" bIns="0" rtlCol="0" anchor="ctr"/>
          <a:lstStyle/>
          <a:p>
            <a:pPr indent="0" marL="0">
              <a:buNone/>
            </a:pPr>
            <a:r>
              <a:rPr lang="en-US" sz="2700" b="1" dirty="0">
                <a:solidFill>
                  <a:srgbClr val="13B5A6"/>
                </a:solidFill>
                <a:latin typeface="Georgia" pitchFamily="34" charset="0"/>
                <a:ea typeface="Georgia" pitchFamily="34" charset="-122"/>
                <a:cs typeface="Georgia" pitchFamily="34" charset="-120"/>
              </a:rPr>
              <a:t>≥ 90%</a:t>
            </a:r>
            <a:endParaRPr lang="en-US" sz="2700" dirty="0"/>
          </a:p>
        </p:txBody>
      </p:sp>
      <p:sp>
        <p:nvSpPr>
          <p:cNvPr id="21" name="Text 19"/>
          <p:cNvSpPr/>
          <p:nvPr/>
        </p:nvSpPr>
        <p:spPr>
          <a:xfrm>
            <a:off x="8366760" y="2331720"/>
            <a:ext cx="3200400" cy="566928"/>
          </a:xfrm>
          <a:prstGeom prst="rect">
            <a:avLst/>
          </a:prstGeom>
          <a:noFill/>
          <a:ln/>
        </p:spPr>
        <p:txBody>
          <a:bodyPr wrap="square" lIns="0" tIns="0" rIns="0" bIns="0" rtlCol="0" anchor="ctr"/>
          <a:lstStyle/>
          <a:p>
            <a:pPr indent="0" marL="0">
              <a:buNone/>
            </a:pPr>
            <a:r>
              <a:rPr lang="en-US" sz="1150" dirty="0">
                <a:solidFill>
                  <a:srgbClr val="E6EEFA"/>
                </a:solidFill>
                <a:latin typeface="Calibri" pitchFamily="34" charset="0"/>
                <a:ea typeface="Calibri" pitchFamily="34" charset="-122"/>
                <a:cs typeface="Calibri" pitchFamily="34" charset="-120"/>
              </a:rPr>
              <a:t>accuracy across the whole chart</a:t>
            </a:r>
            <a:endParaRPr lang="en-US" sz="1150" dirty="0"/>
          </a:p>
        </p:txBody>
      </p:sp>
      <p:sp>
        <p:nvSpPr>
          <p:cNvPr id="22" name="Text 20"/>
          <p:cNvSpPr/>
          <p:nvPr/>
        </p:nvSpPr>
        <p:spPr>
          <a:xfrm>
            <a:off x="6492240" y="3063240"/>
            <a:ext cx="1828800" cy="566928"/>
          </a:xfrm>
          <a:prstGeom prst="rect">
            <a:avLst/>
          </a:prstGeom>
          <a:noFill/>
          <a:ln/>
        </p:spPr>
        <p:txBody>
          <a:bodyPr wrap="square" lIns="0" tIns="0" rIns="0" bIns="0" rtlCol="0" anchor="ctr"/>
          <a:lstStyle/>
          <a:p>
            <a:pPr indent="0" marL="0">
              <a:buNone/>
            </a:pPr>
            <a:r>
              <a:rPr lang="en-US" sz="2700" b="1" dirty="0">
                <a:solidFill>
                  <a:srgbClr val="13B5A6"/>
                </a:solidFill>
                <a:latin typeface="Georgia" pitchFamily="34" charset="0"/>
                <a:ea typeface="Georgia" pitchFamily="34" charset="-122"/>
                <a:cs typeface="Georgia" pitchFamily="34" charset="-120"/>
              </a:rPr>
              <a:t>≥ 80%</a:t>
            </a:r>
            <a:endParaRPr lang="en-US" sz="2700" dirty="0"/>
          </a:p>
        </p:txBody>
      </p:sp>
      <p:sp>
        <p:nvSpPr>
          <p:cNvPr id="23" name="Text 21"/>
          <p:cNvSpPr/>
          <p:nvPr/>
        </p:nvSpPr>
        <p:spPr>
          <a:xfrm>
            <a:off x="8366760" y="3063240"/>
            <a:ext cx="3200400" cy="566928"/>
          </a:xfrm>
          <a:prstGeom prst="rect">
            <a:avLst/>
          </a:prstGeom>
          <a:noFill/>
          <a:ln/>
        </p:spPr>
        <p:txBody>
          <a:bodyPr wrap="square" lIns="0" tIns="0" rIns="0" bIns="0" rtlCol="0" anchor="ctr"/>
          <a:lstStyle/>
          <a:p>
            <a:pPr indent="0" marL="0">
              <a:buNone/>
            </a:pPr>
            <a:r>
              <a:rPr lang="en-US" sz="1150" dirty="0">
                <a:solidFill>
                  <a:srgbClr val="E6EEFA"/>
                </a:solidFill>
                <a:latin typeface="Calibri" pitchFamily="34" charset="0"/>
                <a:ea typeface="Calibri" pitchFamily="34" charset="-122"/>
                <a:cs typeface="Calibri" pitchFamily="34" charset="-120"/>
              </a:rPr>
              <a:t>billed with no human touch, once earned</a:t>
            </a:r>
            <a:endParaRPr lang="en-US" sz="1150" dirty="0"/>
          </a:p>
        </p:txBody>
      </p:sp>
      <p:sp>
        <p:nvSpPr>
          <p:cNvPr id="24" name="Text 22"/>
          <p:cNvSpPr/>
          <p:nvPr/>
        </p:nvSpPr>
        <p:spPr>
          <a:xfrm>
            <a:off x="6492240" y="3794760"/>
            <a:ext cx="1828800" cy="566928"/>
          </a:xfrm>
          <a:prstGeom prst="rect">
            <a:avLst/>
          </a:prstGeom>
          <a:noFill/>
          <a:ln/>
        </p:spPr>
        <p:txBody>
          <a:bodyPr wrap="square" lIns="0" tIns="0" rIns="0" bIns="0" rtlCol="0" anchor="ctr"/>
          <a:lstStyle/>
          <a:p>
            <a:pPr indent="0" marL="0">
              <a:buNone/>
            </a:pPr>
            <a:r>
              <a:rPr lang="en-US" sz="2700" b="1" dirty="0">
                <a:solidFill>
                  <a:srgbClr val="13B5A6"/>
                </a:solidFill>
                <a:latin typeface="Georgia" pitchFamily="34" charset="0"/>
                <a:ea typeface="Georgia" pitchFamily="34" charset="-122"/>
                <a:cs typeface="Georgia" pitchFamily="34" charset="-120"/>
              </a:rPr>
              <a:t>≥ 30%</a:t>
            </a:r>
            <a:endParaRPr lang="en-US" sz="2700" dirty="0"/>
          </a:p>
        </p:txBody>
      </p:sp>
      <p:sp>
        <p:nvSpPr>
          <p:cNvPr id="25" name="Text 23"/>
          <p:cNvSpPr/>
          <p:nvPr/>
        </p:nvSpPr>
        <p:spPr>
          <a:xfrm>
            <a:off x="8366760" y="3794760"/>
            <a:ext cx="3200400" cy="566928"/>
          </a:xfrm>
          <a:prstGeom prst="rect">
            <a:avLst/>
          </a:prstGeom>
          <a:noFill/>
          <a:ln/>
        </p:spPr>
        <p:txBody>
          <a:bodyPr wrap="square" lIns="0" tIns="0" rIns="0" bIns="0" rtlCol="0" anchor="ctr"/>
          <a:lstStyle/>
          <a:p>
            <a:pPr indent="0" marL="0">
              <a:buNone/>
            </a:pPr>
            <a:r>
              <a:rPr lang="en-US" sz="1150" dirty="0">
                <a:solidFill>
                  <a:srgbClr val="E6EEFA"/>
                </a:solidFill>
                <a:latin typeface="Calibri" pitchFamily="34" charset="0"/>
                <a:ea typeface="Calibri" pitchFamily="34" charset="-122"/>
                <a:cs typeface="Calibri" pitchFamily="34" charset="-120"/>
              </a:rPr>
              <a:t>less manual coding effort</a:t>
            </a:r>
            <a:endParaRPr lang="en-US" sz="1150" dirty="0"/>
          </a:p>
        </p:txBody>
      </p:sp>
      <p:sp>
        <p:nvSpPr>
          <p:cNvPr id="26" name="Text 24"/>
          <p:cNvSpPr/>
          <p:nvPr/>
        </p:nvSpPr>
        <p:spPr>
          <a:xfrm>
            <a:off x="6492240" y="4526280"/>
            <a:ext cx="1828800" cy="566928"/>
          </a:xfrm>
          <a:prstGeom prst="rect">
            <a:avLst/>
          </a:prstGeom>
          <a:noFill/>
          <a:ln/>
        </p:spPr>
        <p:txBody>
          <a:bodyPr wrap="square" lIns="0" tIns="0" rIns="0" bIns="0" rtlCol="0" anchor="ctr"/>
          <a:lstStyle/>
          <a:p>
            <a:pPr indent="0" marL="0">
              <a:buNone/>
            </a:pPr>
            <a:r>
              <a:rPr lang="en-US" sz="2700" b="1" dirty="0">
                <a:solidFill>
                  <a:srgbClr val="13B5A6"/>
                </a:solidFill>
                <a:latin typeface="Georgia" pitchFamily="34" charset="0"/>
                <a:ea typeface="Georgia" pitchFamily="34" charset="-122"/>
                <a:cs typeface="Georgia" pitchFamily="34" charset="-120"/>
              </a:rPr>
              <a:t>10–15%</a:t>
            </a:r>
            <a:endParaRPr lang="en-US" sz="2700" dirty="0"/>
          </a:p>
        </p:txBody>
      </p:sp>
      <p:sp>
        <p:nvSpPr>
          <p:cNvPr id="27" name="Text 25"/>
          <p:cNvSpPr/>
          <p:nvPr/>
        </p:nvSpPr>
        <p:spPr>
          <a:xfrm>
            <a:off x="8366760" y="4526280"/>
            <a:ext cx="3200400" cy="566928"/>
          </a:xfrm>
          <a:prstGeom prst="rect">
            <a:avLst/>
          </a:prstGeom>
          <a:noFill/>
          <a:ln/>
        </p:spPr>
        <p:txBody>
          <a:bodyPr wrap="square" lIns="0" tIns="0" rIns="0" bIns="0" rtlCol="0" anchor="ctr"/>
          <a:lstStyle/>
          <a:p>
            <a:pPr indent="0" marL="0">
              <a:buNone/>
            </a:pPr>
            <a:r>
              <a:rPr lang="en-US" sz="1150" dirty="0">
                <a:solidFill>
                  <a:srgbClr val="E6EEFA"/>
                </a:solidFill>
                <a:latin typeface="Calibri" pitchFamily="34" charset="0"/>
                <a:ea typeface="Calibri" pitchFamily="34" charset="-122"/>
                <a:cs typeface="Calibri" pitchFamily="34" charset="-120"/>
              </a:rPr>
              <a:t>faster turnaround</a:t>
            </a:r>
            <a:endParaRPr lang="en-US" sz="1150" dirty="0"/>
          </a:p>
        </p:txBody>
      </p:sp>
      <p:sp>
        <p:nvSpPr>
          <p:cNvPr id="28" name="Shape 26"/>
          <p:cNvSpPr/>
          <p:nvPr/>
        </p:nvSpPr>
        <p:spPr>
          <a:xfrm>
            <a:off x="6492240" y="5303520"/>
            <a:ext cx="4937760" cy="18288"/>
          </a:xfrm>
          <a:prstGeom prst="rect">
            <a:avLst/>
          </a:prstGeom>
          <a:solidFill>
            <a:srgbClr val="3A4D72"/>
          </a:solidFill>
          <a:ln/>
        </p:spPr>
      </p:sp>
      <p:sp>
        <p:nvSpPr>
          <p:cNvPr id="29" name="Text 27"/>
          <p:cNvSpPr/>
          <p:nvPr/>
        </p:nvSpPr>
        <p:spPr>
          <a:xfrm>
            <a:off x="6492240" y="5422392"/>
            <a:ext cx="4983480" cy="548640"/>
          </a:xfrm>
          <a:prstGeom prst="rect">
            <a:avLst/>
          </a:prstGeom>
          <a:noFill/>
          <a:ln/>
        </p:spPr>
        <p:txBody>
          <a:bodyPr wrap="square" lIns="0" tIns="0" rIns="0" bIns="0" rtlCol="0" anchor="t"/>
          <a:lstStyle/>
          <a:p>
            <a:pPr indent="0" marL="0">
              <a:lnSpc>
                <a:spcPct val="100000"/>
              </a:lnSpc>
              <a:buNone/>
            </a:pPr>
            <a:r>
              <a:rPr lang="en-US" sz="1050" i="1" dirty="0">
                <a:solidFill>
                  <a:srgbClr val="CADCFC"/>
                </a:solidFill>
                <a:latin typeface="Calibri" pitchFamily="34" charset="0"/>
                <a:ea typeface="Calibri" pitchFamily="34" charset="-122"/>
                <a:cs typeface="Calibri" pitchFamily="34" charset="-120"/>
              </a:rPr>
              <a:t>We start with a human checking every chart, certify the model once it holds 95%+, then ease off the sampling.</a:t>
            </a:r>
            <a:endParaRPr lang="en-US" sz="1050" dirty="0"/>
          </a:p>
        </p:txBody>
      </p:sp>
      <p:sp>
        <p:nvSpPr>
          <p:cNvPr id="30" name="Shape 28"/>
          <p:cNvSpPr/>
          <p:nvPr/>
        </p:nvSpPr>
        <p:spPr>
          <a:xfrm>
            <a:off x="0" y="6565392"/>
            <a:ext cx="12188952" cy="292608"/>
          </a:xfrm>
          <a:prstGeom prst="rect">
            <a:avLst/>
          </a:prstGeom>
          <a:solidFill>
            <a:srgbClr val="0E1B33"/>
          </a:solidFill>
          <a:ln/>
        </p:spPr>
      </p:sp>
      <p:sp>
        <p:nvSpPr>
          <p:cNvPr id="31" name="Text 29"/>
          <p:cNvSpPr/>
          <p:nvPr/>
        </p:nvSpPr>
        <p:spPr>
          <a:xfrm>
            <a:off x="457200" y="6565392"/>
            <a:ext cx="5486400" cy="292608"/>
          </a:xfrm>
          <a:prstGeom prst="rect">
            <a:avLst/>
          </a:prstGeom>
          <a:noFill/>
          <a:ln/>
        </p:spPr>
        <p:txBody>
          <a:bodyPr wrap="square" lIns="0" tIns="0" rIns="0" bIns="0" rtlCol="0" anchor="ctr"/>
          <a:lstStyle/>
          <a:p>
            <a:pPr indent="0" marL="0">
              <a:buNone/>
            </a:pPr>
            <a:r>
              <a:rPr lang="en-US" sz="850" dirty="0">
                <a:solidFill>
                  <a:srgbClr val="9FB0C7"/>
                </a:solidFill>
                <a:latin typeface="Calibri" pitchFamily="34" charset="0"/>
                <a:ea typeface="Calibri" pitchFamily="34" charset="-122"/>
                <a:cs typeface="Calibri" pitchFamily="34" charset="-120"/>
              </a:rPr>
              <a:t>ACE · Autonomous Coding Engine</a:t>
            </a:r>
            <a:endParaRPr lang="en-US" sz="850" dirty="0"/>
          </a:p>
        </p:txBody>
      </p:sp>
      <p:sp>
        <p:nvSpPr>
          <p:cNvPr id="32" name="Text 30"/>
          <p:cNvSpPr/>
          <p:nvPr/>
        </p:nvSpPr>
        <p:spPr>
          <a:xfrm>
            <a:off x="6245352" y="6565392"/>
            <a:ext cx="5486400" cy="292608"/>
          </a:xfrm>
          <a:prstGeom prst="rect">
            <a:avLst/>
          </a:prstGeom>
          <a:noFill/>
          <a:ln/>
        </p:spPr>
        <p:txBody>
          <a:bodyPr wrap="square" lIns="0" tIns="0" rIns="0" bIns="0" rtlCol="0" anchor="ctr"/>
          <a:lstStyle/>
          <a:p>
            <a:pPr algn="r" indent="0" marL="0">
              <a:buNone/>
            </a:pPr>
            <a:r>
              <a:rPr lang="en-US" sz="850" dirty="0">
                <a:solidFill>
                  <a:srgbClr val="9FB0C7"/>
                </a:solidFill>
                <a:latin typeface="Calibri" pitchFamily="34" charset="0"/>
                <a:ea typeface="Calibri" pitchFamily="34" charset="-122"/>
                <a:cs typeface="Calibri" pitchFamily="34" charset="-120"/>
              </a:rPr>
              <a:t>Nous Infosystems  ·  for Vee Healthtek  ·  Confidential</a:t>
            </a:r>
            <a:endParaRPr lang="en-US" sz="850" dirty="0"/>
          </a:p>
        </p:txBody>
      </p:sp>
      <p:sp>
        <p:nvSpPr>
          <p:cNvPr id="33" name="Text 31"/>
          <p:cNvSpPr/>
          <p:nvPr/>
        </p:nvSpPr>
        <p:spPr>
          <a:xfrm>
            <a:off x="11686032" y="6565392"/>
            <a:ext cx="365760" cy="292608"/>
          </a:xfrm>
          <a:prstGeom prst="rect">
            <a:avLst/>
          </a:prstGeom>
          <a:noFill/>
          <a:ln/>
        </p:spPr>
        <p:txBody>
          <a:bodyPr wrap="square" lIns="0" tIns="0" rIns="0" bIns="0" rtlCol="0" anchor="ctr"/>
          <a:lstStyle/>
          <a:p>
            <a:pPr algn="r" indent="0" marL="0">
              <a:buNone/>
            </a:pPr>
            <a:r>
              <a:rPr lang="en-US" sz="850" b="1" dirty="0">
                <a:solidFill>
                  <a:srgbClr val="13B5A6"/>
                </a:solidFill>
                <a:latin typeface="Calibri" pitchFamily="34" charset="0"/>
                <a:ea typeface="Calibri" pitchFamily="34" charset="-122"/>
                <a:cs typeface="Calibri"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8FC"/>
        </a:solidFill>
      </p:bgPr>
    </p:bg>
    <p:spTree>
      <p:nvGrpSpPr>
        <p:cNvPr id="1" name=""/>
        <p:cNvGrpSpPr/>
        <p:nvPr/>
      </p:nvGrpSpPr>
      <p:grpSpPr>
        <a:xfrm>
          <a:off x="0" y="0"/>
          <a:ext cx="0" cy="0"/>
          <a:chOff x="0" y="0"/>
          <a:chExt cx="0" cy="0"/>
        </a:xfrm>
      </p:grpSpPr>
      <p:sp>
        <p:nvSpPr>
          <p:cNvPr id="2" name="Shape 0"/>
          <p:cNvSpPr/>
          <p:nvPr/>
        </p:nvSpPr>
        <p:spPr>
          <a:xfrm>
            <a:off x="0" y="0"/>
            <a:ext cx="12188952" cy="1078992"/>
          </a:xfrm>
          <a:prstGeom prst="rect">
            <a:avLst/>
          </a:prstGeom>
          <a:solidFill>
            <a:srgbClr val="FFFFFF"/>
          </a:solidFill>
          <a:ln/>
        </p:spPr>
      </p:sp>
      <p:sp>
        <p:nvSpPr>
          <p:cNvPr id="3" name="Shape 1"/>
          <p:cNvSpPr/>
          <p:nvPr/>
        </p:nvSpPr>
        <p:spPr>
          <a:xfrm>
            <a:off x="0" y="1078992"/>
            <a:ext cx="12188952" cy="27432"/>
          </a:xfrm>
          <a:prstGeom prst="rect">
            <a:avLst/>
          </a:prstGeom>
          <a:solidFill>
            <a:srgbClr val="D8E1EC"/>
          </a:solidFill>
          <a:ln/>
        </p:spPr>
      </p:sp>
      <p:sp>
        <p:nvSpPr>
          <p:cNvPr id="4" name="Shape 2"/>
          <p:cNvSpPr/>
          <p:nvPr/>
        </p:nvSpPr>
        <p:spPr>
          <a:xfrm>
            <a:off x="457200" y="310896"/>
            <a:ext cx="109728" cy="512064"/>
          </a:xfrm>
          <a:prstGeom prst="rect">
            <a:avLst/>
          </a:prstGeom>
          <a:solidFill>
            <a:srgbClr val="13B5A6"/>
          </a:solidFill>
          <a:ln/>
        </p:spPr>
      </p:sp>
      <p:sp>
        <p:nvSpPr>
          <p:cNvPr id="5" name="Text 3"/>
          <p:cNvSpPr/>
          <p:nvPr/>
        </p:nvSpPr>
        <p:spPr>
          <a:xfrm>
            <a:off x="713232" y="274320"/>
            <a:ext cx="10058400" cy="237744"/>
          </a:xfrm>
          <a:prstGeom prst="rect">
            <a:avLst/>
          </a:prstGeom>
          <a:noFill/>
          <a:ln/>
        </p:spPr>
        <p:txBody>
          <a:bodyPr wrap="square" lIns="0" tIns="0" rIns="0" bIns="0" rtlCol="0" anchor="ctr"/>
          <a:lstStyle/>
          <a:p>
            <a:pPr indent="0" marL="0">
              <a:buNone/>
            </a:pPr>
            <a:r>
              <a:rPr lang="en-US" sz="1100" b="1" spc="200" kern="0" dirty="0">
                <a:solidFill>
                  <a:srgbClr val="13B5A6"/>
                </a:solidFill>
                <a:latin typeface="Calibri" pitchFamily="34" charset="0"/>
                <a:ea typeface="Calibri" pitchFamily="34" charset="-122"/>
                <a:cs typeface="Calibri" pitchFamily="34" charset="-120"/>
              </a:rPr>
              <a:t>WHAT WE HEARD FROM VEE</a:t>
            </a:r>
            <a:endParaRPr lang="en-US" sz="1100" dirty="0"/>
          </a:p>
        </p:txBody>
      </p:sp>
      <p:sp>
        <p:nvSpPr>
          <p:cNvPr id="6" name="Text 4"/>
          <p:cNvSpPr/>
          <p:nvPr/>
        </p:nvSpPr>
        <p:spPr>
          <a:xfrm>
            <a:off x="713232" y="475488"/>
            <a:ext cx="11155680" cy="457200"/>
          </a:xfrm>
          <a:prstGeom prst="rect">
            <a:avLst/>
          </a:prstGeom>
          <a:noFill/>
          <a:ln/>
        </p:spPr>
        <p:txBody>
          <a:bodyPr wrap="square" lIns="0" tIns="0" rIns="0" bIns="0" rtlCol="0" anchor="ctr"/>
          <a:lstStyle/>
          <a:p>
            <a:pPr indent="0" marL="0">
              <a:buNone/>
            </a:pPr>
            <a:r>
              <a:rPr lang="en-US" sz="2300" b="1" dirty="0">
                <a:solidFill>
                  <a:srgbClr val="1B2A4A"/>
                </a:solidFill>
                <a:latin typeface="Georgia" pitchFamily="34" charset="0"/>
                <a:ea typeface="Georgia" pitchFamily="34" charset="-122"/>
                <a:cs typeface="Georgia" pitchFamily="34" charset="-120"/>
              </a:rPr>
              <a:t>What you asked for — and how ACE answers it</a:t>
            </a:r>
            <a:endParaRPr lang="en-US" sz="2300" dirty="0"/>
          </a:p>
        </p:txBody>
      </p:sp>
      <p:sp>
        <p:nvSpPr>
          <p:cNvPr id="7" name="Text 5"/>
          <p:cNvSpPr/>
          <p:nvPr/>
        </p:nvSpPr>
        <p:spPr>
          <a:xfrm>
            <a:off x="457200" y="1170432"/>
            <a:ext cx="11274552" cy="274320"/>
          </a:xfrm>
          <a:prstGeom prst="rect">
            <a:avLst/>
          </a:prstGeom>
          <a:noFill/>
          <a:ln/>
        </p:spPr>
        <p:txBody>
          <a:bodyPr wrap="square" lIns="0" tIns="0" rIns="0" bIns="0" rtlCol="0" anchor="ctr"/>
          <a:lstStyle/>
          <a:p>
            <a:pPr indent="0" marL="0">
              <a:buNone/>
            </a:pPr>
            <a:r>
              <a:rPr lang="en-US" sz="1050" i="1" dirty="0">
                <a:solidFill>
                  <a:srgbClr val="6B7A8D"/>
                </a:solidFill>
                <a:latin typeface="Calibri" pitchFamily="34" charset="0"/>
                <a:ea typeface="Calibri" pitchFamily="34" charset="-122"/>
                <a:cs typeface="Calibri" pitchFamily="34" charset="-120"/>
              </a:rPr>
              <a:t>From the working session with Amrish (CTAIO), Michelle (CPTO) and the team, plus the SOW and use-case documents.</a:t>
            </a:r>
            <a:endParaRPr lang="en-US" sz="1050" dirty="0"/>
          </a:p>
        </p:txBody>
      </p:sp>
      <p:sp>
        <p:nvSpPr>
          <p:cNvPr id="8" name="Shape 6"/>
          <p:cNvSpPr/>
          <p:nvPr/>
        </p:nvSpPr>
        <p:spPr>
          <a:xfrm>
            <a:off x="457200" y="1572768"/>
            <a:ext cx="11274552" cy="365760"/>
          </a:xfrm>
          <a:prstGeom prst="rect">
            <a:avLst/>
          </a:prstGeom>
          <a:solidFill>
            <a:srgbClr val="1B2A4A"/>
          </a:solidFill>
          <a:ln/>
        </p:spPr>
      </p:sp>
      <p:sp>
        <p:nvSpPr>
          <p:cNvPr id="9" name="Text 7"/>
          <p:cNvSpPr/>
          <p:nvPr/>
        </p:nvSpPr>
        <p:spPr>
          <a:xfrm>
            <a:off x="621792" y="1572768"/>
            <a:ext cx="4846320" cy="36576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You told us</a:t>
            </a:r>
            <a:endParaRPr lang="en-US" sz="1150" dirty="0"/>
          </a:p>
        </p:txBody>
      </p:sp>
      <p:sp>
        <p:nvSpPr>
          <p:cNvPr id="10" name="Text 8"/>
          <p:cNvSpPr/>
          <p:nvPr/>
        </p:nvSpPr>
        <p:spPr>
          <a:xfrm>
            <a:off x="5742432" y="1572768"/>
            <a:ext cx="5879592" cy="365760"/>
          </a:xfrm>
          <a:prstGeom prst="rect">
            <a:avLst/>
          </a:prstGeom>
          <a:noFill/>
          <a:ln/>
        </p:spPr>
        <p:txBody>
          <a:bodyPr wrap="square" lIns="0" tIns="0" rIns="0" bIns="0" rtlCol="0" anchor="ctr"/>
          <a:lstStyle/>
          <a:p>
            <a:pPr indent="0" marL="0">
              <a:buNone/>
            </a:pPr>
            <a:r>
              <a:rPr lang="en-US" sz="1150" b="1" dirty="0">
                <a:solidFill>
                  <a:srgbClr val="13B5A6"/>
                </a:solidFill>
                <a:latin typeface="Calibri" pitchFamily="34" charset="0"/>
                <a:ea typeface="Calibri" pitchFamily="34" charset="-122"/>
                <a:cs typeface="Calibri" pitchFamily="34" charset="-120"/>
              </a:rPr>
              <a:t>What ACE does today</a:t>
            </a:r>
            <a:endParaRPr lang="en-US" sz="1150" dirty="0"/>
          </a:p>
        </p:txBody>
      </p:sp>
      <p:sp>
        <p:nvSpPr>
          <p:cNvPr id="11" name="Shape 9"/>
          <p:cNvSpPr/>
          <p:nvPr/>
        </p:nvSpPr>
        <p:spPr>
          <a:xfrm>
            <a:off x="457200" y="1938528"/>
            <a:ext cx="11274552" cy="603504"/>
          </a:xfrm>
          <a:prstGeom prst="rect">
            <a:avLst/>
          </a:prstGeom>
          <a:solidFill>
            <a:srgbClr val="EFF4FA"/>
          </a:solidFill>
          <a:ln w="9525">
            <a:solidFill>
              <a:srgbClr val="D8E1EC"/>
            </a:solidFill>
            <a:prstDash val="solid"/>
          </a:ln>
        </p:spPr>
      </p:sp>
      <p:sp>
        <p:nvSpPr>
          <p:cNvPr id="12" name="Shape 10"/>
          <p:cNvSpPr/>
          <p:nvPr/>
        </p:nvSpPr>
        <p:spPr>
          <a:xfrm>
            <a:off x="5577840" y="2029968"/>
            <a:ext cx="18288" cy="420624"/>
          </a:xfrm>
          <a:prstGeom prst="rect">
            <a:avLst/>
          </a:prstGeom>
          <a:solidFill>
            <a:srgbClr val="D8E1EC"/>
          </a:solidFill>
          <a:ln/>
        </p:spPr>
      </p:sp>
      <p:sp>
        <p:nvSpPr>
          <p:cNvPr id="13" name="Text 11"/>
          <p:cNvSpPr/>
          <p:nvPr/>
        </p:nvSpPr>
        <p:spPr>
          <a:xfrm>
            <a:off x="621792" y="1938528"/>
            <a:ext cx="4791456" cy="603504"/>
          </a:xfrm>
          <a:prstGeom prst="rect">
            <a:avLst/>
          </a:prstGeom>
          <a:noFill/>
          <a:ln/>
        </p:spPr>
        <p:txBody>
          <a:bodyPr wrap="square" lIns="0" tIns="0" rIns="0" bIns="0" rtlCol="0" anchor="ctr"/>
          <a:lstStyle/>
          <a:p>
            <a:pPr indent="0" marL="0">
              <a:lnSpc>
                <a:spcPct val="95000"/>
              </a:lnSpc>
              <a:buNone/>
            </a:pPr>
            <a:r>
              <a:rPr lang="en-US" sz="1050" dirty="0">
                <a:solidFill>
                  <a:srgbClr val="27313F"/>
                </a:solidFill>
                <a:latin typeface="Calibri" pitchFamily="34" charset="0"/>
                <a:ea typeface="Calibri" pitchFamily="34" charset="-122"/>
                <a:cs typeface="Calibri" pitchFamily="34" charset="-120"/>
              </a:rPr>
              <a:t>Keep the model honest with a knowledge graph and agentic RAG over payer policy, medical necessity and clinical ontologies.</a:t>
            </a:r>
            <a:endParaRPr lang="en-US" sz="1050" dirty="0"/>
          </a:p>
        </p:txBody>
      </p:sp>
      <p:sp>
        <p:nvSpPr>
          <p:cNvPr id="14" name="Text 12"/>
          <p:cNvSpPr/>
          <p:nvPr/>
        </p:nvSpPr>
        <p:spPr>
          <a:xfrm>
            <a:off x="5742432" y="1938528"/>
            <a:ext cx="5824728" cy="603504"/>
          </a:xfrm>
          <a:prstGeom prst="rect">
            <a:avLst/>
          </a:prstGeom>
          <a:noFill/>
          <a:ln/>
        </p:spPr>
        <p:txBody>
          <a:bodyPr wrap="square" lIns="0" tIns="0" rIns="0" bIns="0" rtlCol="0" anchor="ctr"/>
          <a:lstStyle/>
          <a:p>
            <a:pPr indent="0" marL="0">
              <a:lnSpc>
                <a:spcPct val="95000"/>
              </a:lnSpc>
              <a:buNone/>
            </a:pPr>
            <a:r>
              <a:rPr lang="en-US" sz="1050" dirty="0">
                <a:solidFill>
                  <a:srgbClr val="0E8C81"/>
                </a:solidFill>
                <a:latin typeface="Calibri" pitchFamily="34" charset="0"/>
                <a:ea typeface="Calibri" pitchFamily="34" charset="-122"/>
                <a:cs typeface="Calibri" pitchFamily="34" charset="-120"/>
              </a:rPr>
              <a:t>Graph-RAG grounds every code; the ontology, payer policies and guidelines are built and curated right in the app.</a:t>
            </a:r>
            <a:endParaRPr lang="en-US" sz="1050" dirty="0"/>
          </a:p>
        </p:txBody>
      </p:sp>
      <p:sp>
        <p:nvSpPr>
          <p:cNvPr id="15" name="Shape 13"/>
          <p:cNvSpPr/>
          <p:nvPr/>
        </p:nvSpPr>
        <p:spPr>
          <a:xfrm>
            <a:off x="457200" y="2542032"/>
            <a:ext cx="11274552" cy="603504"/>
          </a:xfrm>
          <a:prstGeom prst="rect">
            <a:avLst/>
          </a:prstGeom>
          <a:solidFill>
            <a:srgbClr val="FFFFFF"/>
          </a:solidFill>
          <a:ln w="9525">
            <a:solidFill>
              <a:srgbClr val="D8E1EC"/>
            </a:solidFill>
            <a:prstDash val="solid"/>
          </a:ln>
        </p:spPr>
      </p:sp>
      <p:sp>
        <p:nvSpPr>
          <p:cNvPr id="16" name="Shape 14"/>
          <p:cNvSpPr/>
          <p:nvPr/>
        </p:nvSpPr>
        <p:spPr>
          <a:xfrm>
            <a:off x="5577840" y="2633472"/>
            <a:ext cx="18288" cy="420624"/>
          </a:xfrm>
          <a:prstGeom prst="rect">
            <a:avLst/>
          </a:prstGeom>
          <a:solidFill>
            <a:srgbClr val="D8E1EC"/>
          </a:solidFill>
          <a:ln/>
        </p:spPr>
      </p:sp>
      <p:sp>
        <p:nvSpPr>
          <p:cNvPr id="17" name="Text 15"/>
          <p:cNvSpPr/>
          <p:nvPr/>
        </p:nvSpPr>
        <p:spPr>
          <a:xfrm>
            <a:off x="621792" y="2542032"/>
            <a:ext cx="4791456" cy="603504"/>
          </a:xfrm>
          <a:prstGeom prst="rect">
            <a:avLst/>
          </a:prstGeom>
          <a:noFill/>
          <a:ln/>
        </p:spPr>
        <p:txBody>
          <a:bodyPr wrap="square" lIns="0" tIns="0" rIns="0" bIns="0" rtlCol="0" anchor="ctr"/>
          <a:lstStyle/>
          <a:p>
            <a:pPr indent="0" marL="0">
              <a:lnSpc>
                <a:spcPct val="95000"/>
              </a:lnSpc>
              <a:buNone/>
            </a:pPr>
            <a:r>
              <a:rPr lang="en-US" sz="1050" dirty="0">
                <a:solidFill>
                  <a:srgbClr val="27313F"/>
                </a:solidFill>
                <a:latin typeface="Calibri" pitchFamily="34" charset="0"/>
                <a:ea typeface="Calibri" pitchFamily="34" charset="-122"/>
                <a:cs typeface="Calibri" pitchFamily="34" charset="-120"/>
              </a:rPr>
              <a:t>Summarise the chart for the coder.</a:t>
            </a:r>
            <a:endParaRPr lang="en-US" sz="1050" dirty="0"/>
          </a:p>
        </p:txBody>
      </p:sp>
      <p:sp>
        <p:nvSpPr>
          <p:cNvPr id="18" name="Text 16"/>
          <p:cNvSpPr/>
          <p:nvPr/>
        </p:nvSpPr>
        <p:spPr>
          <a:xfrm>
            <a:off x="5742432" y="2542032"/>
            <a:ext cx="5824728" cy="603504"/>
          </a:xfrm>
          <a:prstGeom prst="rect">
            <a:avLst/>
          </a:prstGeom>
          <a:noFill/>
          <a:ln/>
        </p:spPr>
        <p:txBody>
          <a:bodyPr wrap="square" lIns="0" tIns="0" rIns="0" bIns="0" rtlCol="0" anchor="ctr"/>
          <a:lstStyle/>
          <a:p>
            <a:pPr indent="0" marL="0">
              <a:lnSpc>
                <a:spcPct val="95000"/>
              </a:lnSpc>
              <a:buNone/>
            </a:pPr>
            <a:r>
              <a:rPr lang="en-US" sz="1050" dirty="0">
                <a:solidFill>
                  <a:srgbClr val="0E8C81"/>
                </a:solidFill>
                <a:latin typeface="Calibri" pitchFamily="34" charset="0"/>
                <a:ea typeface="Calibri" pitchFamily="34" charset="-122"/>
                <a:cs typeface="Calibri" pitchFamily="34" charset="-120"/>
              </a:rPr>
              <a:t>Each chart opens with a plain-language summary and structured extraction.</a:t>
            </a:r>
            <a:endParaRPr lang="en-US" sz="1050" dirty="0"/>
          </a:p>
        </p:txBody>
      </p:sp>
      <p:sp>
        <p:nvSpPr>
          <p:cNvPr id="19" name="Shape 17"/>
          <p:cNvSpPr/>
          <p:nvPr/>
        </p:nvSpPr>
        <p:spPr>
          <a:xfrm>
            <a:off x="457200" y="3145536"/>
            <a:ext cx="11274552" cy="603504"/>
          </a:xfrm>
          <a:prstGeom prst="rect">
            <a:avLst/>
          </a:prstGeom>
          <a:solidFill>
            <a:srgbClr val="EFF4FA"/>
          </a:solidFill>
          <a:ln w="9525">
            <a:solidFill>
              <a:srgbClr val="D8E1EC"/>
            </a:solidFill>
            <a:prstDash val="solid"/>
          </a:ln>
        </p:spPr>
      </p:sp>
      <p:sp>
        <p:nvSpPr>
          <p:cNvPr id="20" name="Shape 18"/>
          <p:cNvSpPr/>
          <p:nvPr/>
        </p:nvSpPr>
        <p:spPr>
          <a:xfrm>
            <a:off x="5577840" y="3236976"/>
            <a:ext cx="18288" cy="420624"/>
          </a:xfrm>
          <a:prstGeom prst="rect">
            <a:avLst/>
          </a:prstGeom>
          <a:solidFill>
            <a:srgbClr val="D8E1EC"/>
          </a:solidFill>
          <a:ln/>
        </p:spPr>
      </p:sp>
      <p:sp>
        <p:nvSpPr>
          <p:cNvPr id="21" name="Text 19"/>
          <p:cNvSpPr/>
          <p:nvPr/>
        </p:nvSpPr>
        <p:spPr>
          <a:xfrm>
            <a:off x="621792" y="3145536"/>
            <a:ext cx="4791456" cy="603504"/>
          </a:xfrm>
          <a:prstGeom prst="rect">
            <a:avLst/>
          </a:prstGeom>
          <a:noFill/>
          <a:ln/>
        </p:spPr>
        <p:txBody>
          <a:bodyPr wrap="square" lIns="0" tIns="0" rIns="0" bIns="0" rtlCol="0" anchor="ctr"/>
          <a:lstStyle/>
          <a:p>
            <a:pPr indent="0" marL="0">
              <a:lnSpc>
                <a:spcPct val="95000"/>
              </a:lnSpc>
              <a:buNone/>
            </a:pPr>
            <a:r>
              <a:rPr lang="en-US" sz="1050" dirty="0">
                <a:solidFill>
                  <a:srgbClr val="27313F"/>
                </a:solidFill>
                <a:latin typeface="Calibri" pitchFamily="34" charset="0"/>
                <a:ea typeface="Calibri" pitchFamily="34" charset="-122"/>
                <a:cs typeface="Calibri" pitchFamily="34" charset="-120"/>
              </a:rPr>
              <a:t>Colour-code confidence, and make everything observable and traceable.</a:t>
            </a:r>
            <a:endParaRPr lang="en-US" sz="1050" dirty="0"/>
          </a:p>
        </p:txBody>
      </p:sp>
      <p:sp>
        <p:nvSpPr>
          <p:cNvPr id="22" name="Text 20"/>
          <p:cNvSpPr/>
          <p:nvPr/>
        </p:nvSpPr>
        <p:spPr>
          <a:xfrm>
            <a:off x="5742432" y="3145536"/>
            <a:ext cx="5824728" cy="603504"/>
          </a:xfrm>
          <a:prstGeom prst="rect">
            <a:avLst/>
          </a:prstGeom>
          <a:noFill/>
          <a:ln/>
        </p:spPr>
        <p:txBody>
          <a:bodyPr wrap="square" lIns="0" tIns="0" rIns="0" bIns="0" rtlCol="0" anchor="ctr"/>
          <a:lstStyle/>
          <a:p>
            <a:pPr indent="0" marL="0">
              <a:lnSpc>
                <a:spcPct val="95000"/>
              </a:lnSpc>
              <a:buNone/>
            </a:pPr>
            <a:r>
              <a:rPr lang="en-US" sz="1050" dirty="0">
                <a:solidFill>
                  <a:srgbClr val="0E8C81"/>
                </a:solidFill>
                <a:latin typeface="Calibri" pitchFamily="34" charset="0"/>
                <a:ea typeface="Calibri" pitchFamily="34" charset="-122"/>
                <a:cs typeface="Calibri" pitchFamily="34" charset="-120"/>
              </a:rPr>
              <a:t>Three colour-coded lanes, a live agent trace, and a 'knowledge used for this chart' panel.</a:t>
            </a:r>
            <a:endParaRPr lang="en-US" sz="1050" dirty="0"/>
          </a:p>
        </p:txBody>
      </p:sp>
      <p:sp>
        <p:nvSpPr>
          <p:cNvPr id="23" name="Shape 21"/>
          <p:cNvSpPr/>
          <p:nvPr/>
        </p:nvSpPr>
        <p:spPr>
          <a:xfrm>
            <a:off x="457200" y="3749040"/>
            <a:ext cx="11274552" cy="603504"/>
          </a:xfrm>
          <a:prstGeom prst="rect">
            <a:avLst/>
          </a:prstGeom>
          <a:solidFill>
            <a:srgbClr val="FFFFFF"/>
          </a:solidFill>
          <a:ln w="9525">
            <a:solidFill>
              <a:srgbClr val="D8E1EC"/>
            </a:solidFill>
            <a:prstDash val="solid"/>
          </a:ln>
        </p:spPr>
      </p:sp>
      <p:sp>
        <p:nvSpPr>
          <p:cNvPr id="24" name="Shape 22"/>
          <p:cNvSpPr/>
          <p:nvPr/>
        </p:nvSpPr>
        <p:spPr>
          <a:xfrm>
            <a:off x="5577840" y="3840480"/>
            <a:ext cx="18288" cy="420624"/>
          </a:xfrm>
          <a:prstGeom prst="rect">
            <a:avLst/>
          </a:prstGeom>
          <a:solidFill>
            <a:srgbClr val="D8E1EC"/>
          </a:solidFill>
          <a:ln/>
        </p:spPr>
      </p:sp>
      <p:sp>
        <p:nvSpPr>
          <p:cNvPr id="25" name="Text 23"/>
          <p:cNvSpPr/>
          <p:nvPr/>
        </p:nvSpPr>
        <p:spPr>
          <a:xfrm>
            <a:off x="621792" y="3749040"/>
            <a:ext cx="4791456" cy="603504"/>
          </a:xfrm>
          <a:prstGeom prst="rect">
            <a:avLst/>
          </a:prstGeom>
          <a:noFill/>
          <a:ln/>
        </p:spPr>
        <p:txBody>
          <a:bodyPr wrap="square" lIns="0" tIns="0" rIns="0" bIns="0" rtlCol="0" anchor="ctr"/>
          <a:lstStyle/>
          <a:p>
            <a:pPr indent="0" marL="0">
              <a:lnSpc>
                <a:spcPct val="95000"/>
              </a:lnSpc>
              <a:buNone/>
            </a:pPr>
            <a:r>
              <a:rPr lang="en-US" sz="1050" dirty="0">
                <a:solidFill>
                  <a:srgbClr val="27313F"/>
                </a:solidFill>
                <a:latin typeface="Calibri" pitchFamily="34" charset="0"/>
                <a:ea typeface="Calibri" pitchFamily="34" charset="-122"/>
                <a:cs typeface="Calibri" pitchFamily="34" charset="-120"/>
              </a:rPr>
              <a:t>Let coders override — and capture the reason.</a:t>
            </a:r>
            <a:endParaRPr lang="en-US" sz="1050" dirty="0"/>
          </a:p>
        </p:txBody>
      </p:sp>
      <p:sp>
        <p:nvSpPr>
          <p:cNvPr id="26" name="Text 24"/>
          <p:cNvSpPr/>
          <p:nvPr/>
        </p:nvSpPr>
        <p:spPr>
          <a:xfrm>
            <a:off x="5742432" y="3749040"/>
            <a:ext cx="5824728" cy="603504"/>
          </a:xfrm>
          <a:prstGeom prst="rect">
            <a:avLst/>
          </a:prstGeom>
          <a:noFill/>
          <a:ln/>
        </p:spPr>
        <p:txBody>
          <a:bodyPr wrap="square" lIns="0" tIns="0" rIns="0" bIns="0" rtlCol="0" anchor="ctr"/>
          <a:lstStyle/>
          <a:p>
            <a:pPr indent="0" marL="0">
              <a:lnSpc>
                <a:spcPct val="95000"/>
              </a:lnSpc>
              <a:buNone/>
            </a:pPr>
            <a:r>
              <a:rPr lang="en-US" sz="1050" dirty="0">
                <a:solidFill>
                  <a:srgbClr val="0E8C81"/>
                </a:solidFill>
                <a:latin typeface="Calibri" pitchFamily="34" charset="0"/>
                <a:ea typeface="Calibri" pitchFamily="34" charset="-122"/>
                <a:cs typeface="Calibri" pitchFamily="34" charset="-120"/>
              </a:rPr>
              <a:t>One-click accept or override with a reason, saved to the audit trail and the learning loop.</a:t>
            </a:r>
            <a:endParaRPr lang="en-US" sz="1050" dirty="0"/>
          </a:p>
        </p:txBody>
      </p:sp>
      <p:sp>
        <p:nvSpPr>
          <p:cNvPr id="27" name="Shape 25"/>
          <p:cNvSpPr/>
          <p:nvPr/>
        </p:nvSpPr>
        <p:spPr>
          <a:xfrm>
            <a:off x="457200" y="4352544"/>
            <a:ext cx="11274552" cy="603504"/>
          </a:xfrm>
          <a:prstGeom prst="rect">
            <a:avLst/>
          </a:prstGeom>
          <a:solidFill>
            <a:srgbClr val="EFF4FA"/>
          </a:solidFill>
          <a:ln w="9525">
            <a:solidFill>
              <a:srgbClr val="D8E1EC"/>
            </a:solidFill>
            <a:prstDash val="solid"/>
          </a:ln>
        </p:spPr>
      </p:sp>
      <p:sp>
        <p:nvSpPr>
          <p:cNvPr id="28" name="Shape 26"/>
          <p:cNvSpPr/>
          <p:nvPr/>
        </p:nvSpPr>
        <p:spPr>
          <a:xfrm>
            <a:off x="5577840" y="4443984"/>
            <a:ext cx="18288" cy="420624"/>
          </a:xfrm>
          <a:prstGeom prst="rect">
            <a:avLst/>
          </a:prstGeom>
          <a:solidFill>
            <a:srgbClr val="D8E1EC"/>
          </a:solidFill>
          <a:ln/>
        </p:spPr>
      </p:sp>
      <p:sp>
        <p:nvSpPr>
          <p:cNvPr id="29" name="Text 27"/>
          <p:cNvSpPr/>
          <p:nvPr/>
        </p:nvSpPr>
        <p:spPr>
          <a:xfrm>
            <a:off x="621792" y="4352544"/>
            <a:ext cx="4791456" cy="603504"/>
          </a:xfrm>
          <a:prstGeom prst="rect">
            <a:avLst/>
          </a:prstGeom>
          <a:noFill/>
          <a:ln/>
        </p:spPr>
        <p:txBody>
          <a:bodyPr wrap="square" lIns="0" tIns="0" rIns="0" bIns="0" rtlCol="0" anchor="ctr"/>
          <a:lstStyle/>
          <a:p>
            <a:pPr indent="0" marL="0">
              <a:lnSpc>
                <a:spcPct val="95000"/>
              </a:lnSpc>
              <a:buNone/>
            </a:pPr>
            <a:r>
              <a:rPr lang="en-US" sz="1050" dirty="0">
                <a:solidFill>
                  <a:srgbClr val="27313F"/>
                </a:solidFill>
                <a:latin typeface="Calibri" pitchFamily="34" charset="0"/>
                <a:ea typeface="Calibri" pitchFamily="34" charset="-122"/>
                <a:cs typeface="Calibri" pitchFamily="34" charset="-120"/>
              </a:rPr>
              <a:t>Close the loop in batch, and flag invalid or 'junk' codes.</a:t>
            </a:r>
            <a:endParaRPr lang="en-US" sz="1050" dirty="0"/>
          </a:p>
        </p:txBody>
      </p:sp>
      <p:sp>
        <p:nvSpPr>
          <p:cNvPr id="30" name="Text 28"/>
          <p:cNvSpPr/>
          <p:nvPr/>
        </p:nvSpPr>
        <p:spPr>
          <a:xfrm>
            <a:off x="5742432" y="4352544"/>
            <a:ext cx="5824728" cy="603504"/>
          </a:xfrm>
          <a:prstGeom prst="rect">
            <a:avLst/>
          </a:prstGeom>
          <a:noFill/>
          <a:ln/>
        </p:spPr>
        <p:txBody>
          <a:bodyPr wrap="square" lIns="0" tIns="0" rIns="0" bIns="0" rtlCol="0" anchor="ctr"/>
          <a:lstStyle/>
          <a:p>
            <a:pPr indent="0" marL="0">
              <a:lnSpc>
                <a:spcPct val="95000"/>
              </a:lnSpc>
              <a:buNone/>
            </a:pPr>
            <a:r>
              <a:rPr lang="en-US" sz="1050" dirty="0">
                <a:solidFill>
                  <a:srgbClr val="0E8C81"/>
                </a:solidFill>
                <a:latin typeface="Calibri" pitchFamily="34" charset="0"/>
                <a:ea typeface="Calibri" pitchFamily="34" charset="-122"/>
                <a:cs typeface="Calibri" pitchFamily="34" charset="-120"/>
              </a:rPr>
              <a:t>Corrections become exemplars that shift later charts; deterministic gates reject impossible codes before billing.</a:t>
            </a:r>
            <a:endParaRPr lang="en-US" sz="1050" dirty="0"/>
          </a:p>
        </p:txBody>
      </p:sp>
      <p:sp>
        <p:nvSpPr>
          <p:cNvPr id="31" name="Shape 29"/>
          <p:cNvSpPr/>
          <p:nvPr/>
        </p:nvSpPr>
        <p:spPr>
          <a:xfrm>
            <a:off x="457200" y="4956048"/>
            <a:ext cx="11274552" cy="603504"/>
          </a:xfrm>
          <a:prstGeom prst="rect">
            <a:avLst/>
          </a:prstGeom>
          <a:solidFill>
            <a:srgbClr val="FFFFFF"/>
          </a:solidFill>
          <a:ln w="9525">
            <a:solidFill>
              <a:srgbClr val="D8E1EC"/>
            </a:solidFill>
            <a:prstDash val="solid"/>
          </a:ln>
        </p:spPr>
      </p:sp>
      <p:sp>
        <p:nvSpPr>
          <p:cNvPr id="32" name="Shape 30"/>
          <p:cNvSpPr/>
          <p:nvPr/>
        </p:nvSpPr>
        <p:spPr>
          <a:xfrm>
            <a:off x="5577840" y="5047488"/>
            <a:ext cx="18288" cy="420624"/>
          </a:xfrm>
          <a:prstGeom prst="rect">
            <a:avLst/>
          </a:prstGeom>
          <a:solidFill>
            <a:srgbClr val="D8E1EC"/>
          </a:solidFill>
          <a:ln/>
        </p:spPr>
      </p:sp>
      <p:sp>
        <p:nvSpPr>
          <p:cNvPr id="33" name="Text 31"/>
          <p:cNvSpPr/>
          <p:nvPr/>
        </p:nvSpPr>
        <p:spPr>
          <a:xfrm>
            <a:off x="621792" y="4956048"/>
            <a:ext cx="4791456" cy="603504"/>
          </a:xfrm>
          <a:prstGeom prst="rect">
            <a:avLst/>
          </a:prstGeom>
          <a:noFill/>
          <a:ln/>
        </p:spPr>
        <p:txBody>
          <a:bodyPr wrap="square" lIns="0" tIns="0" rIns="0" bIns="0" rtlCol="0" anchor="ctr"/>
          <a:lstStyle/>
          <a:p>
            <a:pPr indent="0" marL="0">
              <a:lnSpc>
                <a:spcPct val="95000"/>
              </a:lnSpc>
              <a:buNone/>
            </a:pPr>
            <a:r>
              <a:rPr lang="en-US" sz="1050" dirty="0">
                <a:solidFill>
                  <a:srgbClr val="27313F"/>
                </a:solidFill>
                <a:latin typeface="Calibri" pitchFamily="34" charset="0"/>
                <a:ea typeface="Calibri" pitchFamily="34" charset="-122"/>
                <a:cs typeface="Calibri" pitchFamily="34" charset="-120"/>
              </a:rPr>
              <a:t>Fine-tune and distil to smaller models on Azure AI Foundry, US-region.</a:t>
            </a:r>
            <a:endParaRPr lang="en-US" sz="1050" dirty="0"/>
          </a:p>
        </p:txBody>
      </p:sp>
      <p:sp>
        <p:nvSpPr>
          <p:cNvPr id="34" name="Text 32"/>
          <p:cNvSpPr/>
          <p:nvPr/>
        </p:nvSpPr>
        <p:spPr>
          <a:xfrm>
            <a:off x="5742432" y="4956048"/>
            <a:ext cx="5824728" cy="603504"/>
          </a:xfrm>
          <a:prstGeom prst="rect">
            <a:avLst/>
          </a:prstGeom>
          <a:noFill/>
          <a:ln/>
        </p:spPr>
        <p:txBody>
          <a:bodyPr wrap="square" lIns="0" tIns="0" rIns="0" bIns="0" rtlCol="0" anchor="ctr"/>
          <a:lstStyle/>
          <a:p>
            <a:pPr indent="0" marL="0">
              <a:lnSpc>
                <a:spcPct val="95000"/>
              </a:lnSpc>
              <a:buNone/>
            </a:pPr>
            <a:r>
              <a:rPr lang="en-US" sz="1050" dirty="0">
                <a:solidFill>
                  <a:srgbClr val="0E8C81"/>
                </a:solidFill>
                <a:latin typeface="Calibri" pitchFamily="34" charset="0"/>
                <a:ea typeface="Calibri" pitchFamily="34" charset="-122"/>
                <a:cs typeface="Calibri" pitchFamily="34" charset="-120"/>
              </a:rPr>
              <a:t>Frontier model today, with a clear path to US-region SLMs — the architecture is ready for it.</a:t>
            </a:r>
            <a:endParaRPr lang="en-US" sz="1050" dirty="0"/>
          </a:p>
        </p:txBody>
      </p:sp>
      <p:sp>
        <p:nvSpPr>
          <p:cNvPr id="35" name="Shape 33"/>
          <p:cNvSpPr/>
          <p:nvPr/>
        </p:nvSpPr>
        <p:spPr>
          <a:xfrm>
            <a:off x="457200" y="5559552"/>
            <a:ext cx="11274552" cy="603504"/>
          </a:xfrm>
          <a:prstGeom prst="rect">
            <a:avLst/>
          </a:prstGeom>
          <a:solidFill>
            <a:srgbClr val="EFF4FA"/>
          </a:solidFill>
          <a:ln w="9525">
            <a:solidFill>
              <a:srgbClr val="D8E1EC"/>
            </a:solidFill>
            <a:prstDash val="solid"/>
          </a:ln>
        </p:spPr>
      </p:sp>
      <p:sp>
        <p:nvSpPr>
          <p:cNvPr id="36" name="Shape 34"/>
          <p:cNvSpPr/>
          <p:nvPr/>
        </p:nvSpPr>
        <p:spPr>
          <a:xfrm>
            <a:off x="5577840" y="5650992"/>
            <a:ext cx="18288" cy="420624"/>
          </a:xfrm>
          <a:prstGeom prst="rect">
            <a:avLst/>
          </a:prstGeom>
          <a:solidFill>
            <a:srgbClr val="D8E1EC"/>
          </a:solidFill>
          <a:ln/>
        </p:spPr>
      </p:sp>
      <p:sp>
        <p:nvSpPr>
          <p:cNvPr id="37" name="Text 35"/>
          <p:cNvSpPr/>
          <p:nvPr/>
        </p:nvSpPr>
        <p:spPr>
          <a:xfrm>
            <a:off x="621792" y="5559552"/>
            <a:ext cx="4791456" cy="603504"/>
          </a:xfrm>
          <a:prstGeom prst="rect">
            <a:avLst/>
          </a:prstGeom>
          <a:noFill/>
          <a:ln/>
        </p:spPr>
        <p:txBody>
          <a:bodyPr wrap="square" lIns="0" tIns="0" rIns="0" bIns="0" rtlCol="0" anchor="ctr"/>
          <a:lstStyle/>
          <a:p>
            <a:pPr indent="0" marL="0">
              <a:lnSpc>
                <a:spcPct val="95000"/>
              </a:lnSpc>
              <a:buNone/>
            </a:pPr>
            <a:r>
              <a:rPr lang="en-US" sz="1050" dirty="0">
                <a:solidFill>
                  <a:srgbClr val="27313F"/>
                </a:solidFill>
                <a:latin typeface="Calibri" pitchFamily="34" charset="0"/>
                <a:ea typeface="Calibri" pitchFamily="34" charset="-122"/>
                <a:cs typeface="Calibri" pitchFamily="34" charset="-120"/>
              </a:rPr>
              <a:t>Start with Radiology, expand to E&amp;M, ED and Pathology, and move quickly.</a:t>
            </a:r>
            <a:endParaRPr lang="en-US" sz="1050" dirty="0"/>
          </a:p>
        </p:txBody>
      </p:sp>
      <p:sp>
        <p:nvSpPr>
          <p:cNvPr id="38" name="Text 36"/>
          <p:cNvSpPr/>
          <p:nvPr/>
        </p:nvSpPr>
        <p:spPr>
          <a:xfrm>
            <a:off x="5742432" y="5559552"/>
            <a:ext cx="5824728" cy="603504"/>
          </a:xfrm>
          <a:prstGeom prst="rect">
            <a:avLst/>
          </a:prstGeom>
          <a:noFill/>
          <a:ln/>
        </p:spPr>
        <p:txBody>
          <a:bodyPr wrap="square" lIns="0" tIns="0" rIns="0" bIns="0" rtlCol="0" anchor="ctr"/>
          <a:lstStyle/>
          <a:p>
            <a:pPr indent="0" marL="0">
              <a:lnSpc>
                <a:spcPct val="95000"/>
              </a:lnSpc>
              <a:buNone/>
            </a:pPr>
            <a:r>
              <a:rPr lang="en-US" sz="1050" dirty="0">
                <a:solidFill>
                  <a:srgbClr val="0E8C81"/>
                </a:solidFill>
                <a:latin typeface="Calibri" pitchFamily="34" charset="0"/>
                <a:ea typeface="Calibri" pitchFamily="34" charset="-122"/>
                <a:cs typeface="Calibri" pitchFamily="34" charset="-120"/>
              </a:rPr>
              <a:t>Sixteen tracks today — fourteen outpatient specialties plus inpatient DRG and HCC risk adjustment; new specialties onboard via config, not a rebuild.</a:t>
            </a:r>
            <a:endParaRPr lang="en-US" sz="1050" dirty="0"/>
          </a:p>
        </p:txBody>
      </p:sp>
      <p:sp>
        <p:nvSpPr>
          <p:cNvPr id="39" name="Shape 37"/>
          <p:cNvSpPr/>
          <p:nvPr/>
        </p:nvSpPr>
        <p:spPr>
          <a:xfrm>
            <a:off x="0" y="6565392"/>
            <a:ext cx="12188952" cy="292608"/>
          </a:xfrm>
          <a:prstGeom prst="rect">
            <a:avLst/>
          </a:prstGeom>
          <a:solidFill>
            <a:srgbClr val="0E1B33"/>
          </a:solidFill>
          <a:ln/>
        </p:spPr>
      </p:sp>
      <p:sp>
        <p:nvSpPr>
          <p:cNvPr id="40" name="Text 38"/>
          <p:cNvSpPr/>
          <p:nvPr/>
        </p:nvSpPr>
        <p:spPr>
          <a:xfrm>
            <a:off x="457200" y="6565392"/>
            <a:ext cx="5486400" cy="292608"/>
          </a:xfrm>
          <a:prstGeom prst="rect">
            <a:avLst/>
          </a:prstGeom>
          <a:noFill/>
          <a:ln/>
        </p:spPr>
        <p:txBody>
          <a:bodyPr wrap="square" lIns="0" tIns="0" rIns="0" bIns="0" rtlCol="0" anchor="ctr"/>
          <a:lstStyle/>
          <a:p>
            <a:pPr indent="0" marL="0">
              <a:buNone/>
            </a:pPr>
            <a:r>
              <a:rPr lang="en-US" sz="850" dirty="0">
                <a:solidFill>
                  <a:srgbClr val="9FB0C7"/>
                </a:solidFill>
                <a:latin typeface="Calibri" pitchFamily="34" charset="0"/>
                <a:ea typeface="Calibri" pitchFamily="34" charset="-122"/>
                <a:cs typeface="Calibri" pitchFamily="34" charset="-120"/>
              </a:rPr>
              <a:t>ACE · Autonomous Coding Engine</a:t>
            </a:r>
            <a:endParaRPr lang="en-US" sz="850" dirty="0"/>
          </a:p>
        </p:txBody>
      </p:sp>
      <p:sp>
        <p:nvSpPr>
          <p:cNvPr id="41" name="Text 39"/>
          <p:cNvSpPr/>
          <p:nvPr/>
        </p:nvSpPr>
        <p:spPr>
          <a:xfrm>
            <a:off x="6245352" y="6565392"/>
            <a:ext cx="5486400" cy="292608"/>
          </a:xfrm>
          <a:prstGeom prst="rect">
            <a:avLst/>
          </a:prstGeom>
          <a:noFill/>
          <a:ln/>
        </p:spPr>
        <p:txBody>
          <a:bodyPr wrap="square" lIns="0" tIns="0" rIns="0" bIns="0" rtlCol="0" anchor="ctr"/>
          <a:lstStyle/>
          <a:p>
            <a:pPr algn="r" indent="0" marL="0">
              <a:buNone/>
            </a:pPr>
            <a:r>
              <a:rPr lang="en-US" sz="850" dirty="0">
                <a:solidFill>
                  <a:srgbClr val="9FB0C7"/>
                </a:solidFill>
                <a:latin typeface="Calibri" pitchFamily="34" charset="0"/>
                <a:ea typeface="Calibri" pitchFamily="34" charset="-122"/>
                <a:cs typeface="Calibri" pitchFamily="34" charset="-120"/>
              </a:rPr>
              <a:t>Nous Infosystems  ·  for Vee Healthtek  ·  Confidential</a:t>
            </a:r>
            <a:endParaRPr lang="en-US" sz="850" dirty="0"/>
          </a:p>
        </p:txBody>
      </p:sp>
      <p:sp>
        <p:nvSpPr>
          <p:cNvPr id="42" name="Text 40"/>
          <p:cNvSpPr/>
          <p:nvPr/>
        </p:nvSpPr>
        <p:spPr>
          <a:xfrm>
            <a:off x="11686032" y="6565392"/>
            <a:ext cx="365760" cy="292608"/>
          </a:xfrm>
          <a:prstGeom prst="rect">
            <a:avLst/>
          </a:prstGeom>
          <a:noFill/>
          <a:ln/>
        </p:spPr>
        <p:txBody>
          <a:bodyPr wrap="square" lIns="0" tIns="0" rIns="0" bIns="0" rtlCol="0" anchor="ctr"/>
          <a:lstStyle/>
          <a:p>
            <a:pPr algn="r" indent="0" marL="0">
              <a:buNone/>
            </a:pPr>
            <a:r>
              <a:rPr lang="en-US" sz="850" b="1" dirty="0">
                <a:solidFill>
                  <a:srgbClr val="13B5A6"/>
                </a:solidFill>
                <a:latin typeface="Calibri" pitchFamily="34" charset="0"/>
                <a:ea typeface="Calibri" pitchFamily="34" charset="-122"/>
                <a:cs typeface="Calibri"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8FC"/>
        </a:solidFill>
      </p:bgPr>
    </p:bg>
    <p:spTree>
      <p:nvGrpSpPr>
        <p:cNvPr id="1" name=""/>
        <p:cNvGrpSpPr/>
        <p:nvPr/>
      </p:nvGrpSpPr>
      <p:grpSpPr>
        <a:xfrm>
          <a:off x="0" y="0"/>
          <a:ext cx="0" cy="0"/>
          <a:chOff x="0" y="0"/>
          <a:chExt cx="0" cy="0"/>
        </a:xfrm>
      </p:grpSpPr>
      <p:sp>
        <p:nvSpPr>
          <p:cNvPr id="2" name="Shape 0"/>
          <p:cNvSpPr/>
          <p:nvPr/>
        </p:nvSpPr>
        <p:spPr>
          <a:xfrm>
            <a:off x="0" y="0"/>
            <a:ext cx="12188952" cy="1078992"/>
          </a:xfrm>
          <a:prstGeom prst="rect">
            <a:avLst/>
          </a:prstGeom>
          <a:solidFill>
            <a:srgbClr val="FFFFFF"/>
          </a:solidFill>
          <a:ln/>
        </p:spPr>
      </p:sp>
      <p:sp>
        <p:nvSpPr>
          <p:cNvPr id="3" name="Shape 1"/>
          <p:cNvSpPr/>
          <p:nvPr/>
        </p:nvSpPr>
        <p:spPr>
          <a:xfrm>
            <a:off x="0" y="1078992"/>
            <a:ext cx="12188952" cy="27432"/>
          </a:xfrm>
          <a:prstGeom prst="rect">
            <a:avLst/>
          </a:prstGeom>
          <a:solidFill>
            <a:srgbClr val="D8E1EC"/>
          </a:solidFill>
          <a:ln/>
        </p:spPr>
      </p:sp>
      <p:sp>
        <p:nvSpPr>
          <p:cNvPr id="4" name="Shape 2"/>
          <p:cNvSpPr/>
          <p:nvPr/>
        </p:nvSpPr>
        <p:spPr>
          <a:xfrm>
            <a:off x="457200" y="310896"/>
            <a:ext cx="109728" cy="512064"/>
          </a:xfrm>
          <a:prstGeom prst="rect">
            <a:avLst/>
          </a:prstGeom>
          <a:solidFill>
            <a:srgbClr val="13B5A6"/>
          </a:solidFill>
          <a:ln/>
        </p:spPr>
      </p:sp>
      <p:sp>
        <p:nvSpPr>
          <p:cNvPr id="5" name="Text 3"/>
          <p:cNvSpPr/>
          <p:nvPr/>
        </p:nvSpPr>
        <p:spPr>
          <a:xfrm>
            <a:off x="713232" y="274320"/>
            <a:ext cx="10058400" cy="237744"/>
          </a:xfrm>
          <a:prstGeom prst="rect">
            <a:avLst/>
          </a:prstGeom>
          <a:noFill/>
          <a:ln/>
        </p:spPr>
        <p:txBody>
          <a:bodyPr wrap="square" lIns="0" tIns="0" rIns="0" bIns="0" rtlCol="0" anchor="ctr"/>
          <a:lstStyle/>
          <a:p>
            <a:pPr indent="0" marL="0">
              <a:buNone/>
            </a:pPr>
            <a:r>
              <a:rPr lang="en-US" sz="1100" b="1" spc="200" kern="0" dirty="0">
                <a:solidFill>
                  <a:srgbClr val="13B5A6"/>
                </a:solidFill>
                <a:latin typeface="Calibri" pitchFamily="34" charset="0"/>
                <a:ea typeface="Calibri" pitchFamily="34" charset="-122"/>
                <a:cs typeface="Calibri" pitchFamily="34" charset="-120"/>
              </a:rPr>
              <a:t>THE IDEA</a:t>
            </a:r>
            <a:endParaRPr lang="en-US" sz="1100" dirty="0"/>
          </a:p>
        </p:txBody>
      </p:sp>
      <p:sp>
        <p:nvSpPr>
          <p:cNvPr id="6" name="Text 4"/>
          <p:cNvSpPr/>
          <p:nvPr/>
        </p:nvSpPr>
        <p:spPr>
          <a:xfrm>
            <a:off x="713232" y="475488"/>
            <a:ext cx="11155680" cy="457200"/>
          </a:xfrm>
          <a:prstGeom prst="rect">
            <a:avLst/>
          </a:prstGeom>
          <a:noFill/>
          <a:ln/>
        </p:spPr>
        <p:txBody>
          <a:bodyPr wrap="square" lIns="0" tIns="0" rIns="0" bIns="0" rtlCol="0" anchor="ctr"/>
          <a:lstStyle/>
          <a:p>
            <a:pPr indent="0" marL="0">
              <a:buNone/>
            </a:pPr>
            <a:r>
              <a:rPr lang="en-US" sz="2300" b="1" dirty="0">
                <a:solidFill>
                  <a:srgbClr val="1B2A4A"/>
                </a:solidFill>
                <a:latin typeface="Georgia" pitchFamily="34" charset="0"/>
                <a:ea typeface="Georgia" pitchFamily="34" charset="-122"/>
                <a:cs typeface="Georgia" pitchFamily="34" charset="-120"/>
              </a:rPr>
              <a:t>ACE in four parts</a:t>
            </a:r>
            <a:endParaRPr lang="en-US" sz="2300" dirty="0"/>
          </a:p>
        </p:txBody>
      </p:sp>
      <p:sp>
        <p:nvSpPr>
          <p:cNvPr id="7" name="Shape 5"/>
          <p:cNvSpPr/>
          <p:nvPr/>
        </p:nvSpPr>
        <p:spPr>
          <a:xfrm>
            <a:off x="457200" y="1554480"/>
            <a:ext cx="2679192" cy="4480560"/>
          </a:xfrm>
          <a:prstGeom prst="roundRect">
            <a:avLst>
              <a:gd name="adj" fmla="val 2389"/>
            </a:avLst>
          </a:prstGeom>
          <a:solidFill>
            <a:srgbClr val="FFFFFF"/>
          </a:solidFill>
          <a:ln w="12700">
            <a:solidFill>
              <a:srgbClr val="D8E1EC"/>
            </a:solidFill>
            <a:prstDash val="solid"/>
          </a:ln>
          <a:effectLst>
            <a:outerShdw sx="100000" sy="100000" kx="0" ky="0" algn="bl" rotWithShape="0" blurRad="88900" dist="38100" dir="8100000">
              <a:srgbClr val="1B2A4A">
                <a:alpha val="12000"/>
              </a:srgbClr>
            </a:outerShdw>
          </a:effectLst>
        </p:spPr>
      </p:sp>
      <p:sp>
        <p:nvSpPr>
          <p:cNvPr id="8" name="Shape 6"/>
          <p:cNvSpPr/>
          <p:nvPr/>
        </p:nvSpPr>
        <p:spPr>
          <a:xfrm>
            <a:off x="457200" y="1554480"/>
            <a:ext cx="2679192" cy="109728"/>
          </a:xfrm>
          <a:prstGeom prst="rect">
            <a:avLst/>
          </a:prstGeom>
          <a:solidFill>
            <a:srgbClr val="13B5A6"/>
          </a:solidFill>
          <a:ln/>
        </p:spPr>
      </p:sp>
      <p:sp>
        <p:nvSpPr>
          <p:cNvPr id="9" name="Shape 7"/>
          <p:cNvSpPr/>
          <p:nvPr/>
        </p:nvSpPr>
        <p:spPr>
          <a:xfrm>
            <a:off x="731520" y="1965960"/>
            <a:ext cx="868680" cy="868680"/>
          </a:xfrm>
          <a:prstGeom prst="ellipse">
            <a:avLst/>
          </a:prstGeom>
          <a:solidFill>
            <a:srgbClr val="EAF1F8"/>
          </a:solidFill>
          <a:ln/>
        </p:spPr>
      </p:sp>
      <p:sp>
        <p:nvSpPr>
          <p:cNvPr id="10" name="Text 8"/>
          <p:cNvSpPr/>
          <p:nvPr/>
        </p:nvSpPr>
        <p:spPr>
          <a:xfrm>
            <a:off x="731520" y="1965960"/>
            <a:ext cx="868680" cy="868680"/>
          </a:xfrm>
          <a:prstGeom prst="rect">
            <a:avLst/>
          </a:prstGeom>
          <a:noFill/>
          <a:ln/>
        </p:spPr>
        <p:txBody>
          <a:bodyPr wrap="square" lIns="0" tIns="0" rIns="0" bIns="0" rtlCol="0" anchor="ctr"/>
          <a:lstStyle/>
          <a:p>
            <a:pPr algn="ctr" indent="0" marL="0">
              <a:buNone/>
            </a:pPr>
            <a:r>
              <a:rPr lang="en-US" sz="2200" b="1" dirty="0">
                <a:solidFill>
                  <a:srgbClr val="0E8C81"/>
                </a:solidFill>
                <a:latin typeface="Georgia" pitchFamily="34" charset="0"/>
                <a:ea typeface="Georgia" pitchFamily="34" charset="-122"/>
                <a:cs typeface="Georgia" pitchFamily="34" charset="-120"/>
              </a:rPr>
              <a:t>01</a:t>
            </a:r>
            <a:endParaRPr lang="en-US" sz="2200" dirty="0"/>
          </a:p>
        </p:txBody>
      </p:sp>
      <p:sp>
        <p:nvSpPr>
          <p:cNvPr id="11" name="Text 9"/>
          <p:cNvSpPr/>
          <p:nvPr/>
        </p:nvSpPr>
        <p:spPr>
          <a:xfrm>
            <a:off x="713232" y="3017520"/>
            <a:ext cx="2167128" cy="640080"/>
          </a:xfrm>
          <a:prstGeom prst="rect">
            <a:avLst/>
          </a:prstGeom>
          <a:noFill/>
          <a:ln/>
        </p:spPr>
        <p:txBody>
          <a:bodyPr wrap="square" lIns="0" tIns="0" rIns="0" bIns="0" rtlCol="0" anchor="ctr"/>
          <a:lstStyle/>
          <a:p>
            <a:pPr indent="0" marL="0">
              <a:buNone/>
            </a:pPr>
            <a:r>
              <a:rPr lang="en-US" sz="1500" b="1" dirty="0">
                <a:solidFill>
                  <a:srgbClr val="1B2A4A"/>
                </a:solidFill>
                <a:latin typeface="Calibri" pitchFamily="34" charset="0"/>
                <a:ea typeface="Calibri" pitchFamily="34" charset="-122"/>
                <a:cs typeface="Calibri" pitchFamily="34" charset="-120"/>
              </a:rPr>
              <a:t>Codes like a careful coder</a:t>
            </a:r>
            <a:endParaRPr lang="en-US" sz="1500" dirty="0"/>
          </a:p>
        </p:txBody>
      </p:sp>
      <p:sp>
        <p:nvSpPr>
          <p:cNvPr id="12" name="Text 10"/>
          <p:cNvSpPr/>
          <p:nvPr/>
        </p:nvSpPr>
        <p:spPr>
          <a:xfrm>
            <a:off x="713232" y="3657600"/>
            <a:ext cx="2167128" cy="2194560"/>
          </a:xfrm>
          <a:prstGeom prst="rect">
            <a:avLst/>
          </a:prstGeom>
          <a:noFill/>
          <a:ln/>
        </p:spPr>
        <p:txBody>
          <a:bodyPr wrap="square" lIns="0" tIns="0" rIns="0" bIns="0" rtlCol="0" anchor="t"/>
          <a:lstStyle/>
          <a:p>
            <a:pPr indent="0" marL="0">
              <a:lnSpc>
                <a:spcPct val="102000"/>
              </a:lnSpc>
              <a:buNone/>
            </a:pPr>
            <a:r>
              <a:rPr lang="en-US" sz="1150" dirty="0">
                <a:solidFill>
                  <a:srgbClr val="6B7A8D"/>
                </a:solidFill>
                <a:latin typeface="Calibri" pitchFamily="34" charset="0"/>
                <a:ea typeface="Calibri" pitchFamily="34" charset="-122"/>
                <a:cs typeface="Calibri" pitchFamily="34" charset="-120"/>
              </a:rPr>
              <a:t>It reads the chart, pulls out what matters, picks the codes, checks the rules, and only then decides if it's safe to bill — and you can watch it work.</a:t>
            </a:r>
            <a:endParaRPr lang="en-US" sz="1150" dirty="0"/>
          </a:p>
        </p:txBody>
      </p:sp>
      <p:sp>
        <p:nvSpPr>
          <p:cNvPr id="13" name="Shape 11"/>
          <p:cNvSpPr/>
          <p:nvPr/>
        </p:nvSpPr>
        <p:spPr>
          <a:xfrm>
            <a:off x="3319272" y="1554480"/>
            <a:ext cx="2679192" cy="4480560"/>
          </a:xfrm>
          <a:prstGeom prst="roundRect">
            <a:avLst>
              <a:gd name="adj" fmla="val 2389"/>
            </a:avLst>
          </a:prstGeom>
          <a:solidFill>
            <a:srgbClr val="FFFFFF"/>
          </a:solidFill>
          <a:ln w="12700">
            <a:solidFill>
              <a:srgbClr val="D8E1EC"/>
            </a:solidFill>
            <a:prstDash val="solid"/>
          </a:ln>
          <a:effectLst>
            <a:outerShdw sx="100000" sy="100000" kx="0" ky="0" algn="bl" rotWithShape="0" blurRad="88900" dist="38100" dir="8100000">
              <a:srgbClr val="1B2A4A">
                <a:alpha val="12000"/>
              </a:srgbClr>
            </a:outerShdw>
          </a:effectLst>
        </p:spPr>
      </p:sp>
      <p:sp>
        <p:nvSpPr>
          <p:cNvPr id="14" name="Shape 12"/>
          <p:cNvSpPr/>
          <p:nvPr/>
        </p:nvSpPr>
        <p:spPr>
          <a:xfrm>
            <a:off x="3319272" y="1554480"/>
            <a:ext cx="2679192" cy="109728"/>
          </a:xfrm>
          <a:prstGeom prst="rect">
            <a:avLst/>
          </a:prstGeom>
          <a:solidFill>
            <a:srgbClr val="13B5A6"/>
          </a:solidFill>
          <a:ln/>
        </p:spPr>
      </p:sp>
      <p:sp>
        <p:nvSpPr>
          <p:cNvPr id="15" name="Shape 13"/>
          <p:cNvSpPr/>
          <p:nvPr/>
        </p:nvSpPr>
        <p:spPr>
          <a:xfrm>
            <a:off x="3593592" y="1965960"/>
            <a:ext cx="868680" cy="868680"/>
          </a:xfrm>
          <a:prstGeom prst="ellipse">
            <a:avLst/>
          </a:prstGeom>
          <a:solidFill>
            <a:srgbClr val="EAF1F8"/>
          </a:solidFill>
          <a:ln/>
        </p:spPr>
      </p:sp>
      <p:sp>
        <p:nvSpPr>
          <p:cNvPr id="16" name="Text 14"/>
          <p:cNvSpPr/>
          <p:nvPr/>
        </p:nvSpPr>
        <p:spPr>
          <a:xfrm>
            <a:off x="3593592" y="1965960"/>
            <a:ext cx="868680" cy="868680"/>
          </a:xfrm>
          <a:prstGeom prst="rect">
            <a:avLst/>
          </a:prstGeom>
          <a:noFill/>
          <a:ln/>
        </p:spPr>
        <p:txBody>
          <a:bodyPr wrap="square" lIns="0" tIns="0" rIns="0" bIns="0" rtlCol="0" anchor="ctr"/>
          <a:lstStyle/>
          <a:p>
            <a:pPr algn="ctr" indent="0" marL="0">
              <a:buNone/>
            </a:pPr>
            <a:r>
              <a:rPr lang="en-US" sz="2200" b="1" dirty="0">
                <a:solidFill>
                  <a:srgbClr val="0E8C81"/>
                </a:solidFill>
                <a:latin typeface="Georgia" pitchFamily="34" charset="0"/>
                <a:ea typeface="Georgia" pitchFamily="34" charset="-122"/>
                <a:cs typeface="Georgia" pitchFamily="34" charset="-120"/>
              </a:rPr>
              <a:t>02</a:t>
            </a:r>
            <a:endParaRPr lang="en-US" sz="2200" dirty="0"/>
          </a:p>
        </p:txBody>
      </p:sp>
      <p:sp>
        <p:nvSpPr>
          <p:cNvPr id="17" name="Text 15"/>
          <p:cNvSpPr/>
          <p:nvPr/>
        </p:nvSpPr>
        <p:spPr>
          <a:xfrm>
            <a:off x="3575304" y="3017520"/>
            <a:ext cx="2167128" cy="640080"/>
          </a:xfrm>
          <a:prstGeom prst="rect">
            <a:avLst/>
          </a:prstGeom>
          <a:noFill/>
          <a:ln/>
        </p:spPr>
        <p:txBody>
          <a:bodyPr wrap="square" lIns="0" tIns="0" rIns="0" bIns="0" rtlCol="0" anchor="ctr"/>
          <a:lstStyle/>
          <a:p>
            <a:pPr indent="0" marL="0">
              <a:buNone/>
            </a:pPr>
            <a:r>
              <a:rPr lang="en-US" sz="1500" b="1" dirty="0">
                <a:solidFill>
                  <a:srgbClr val="1B2A4A"/>
                </a:solidFill>
                <a:latin typeface="Calibri" pitchFamily="34" charset="0"/>
                <a:ea typeface="Calibri" pitchFamily="34" charset="-122"/>
                <a:cs typeface="Calibri" pitchFamily="34" charset="-120"/>
              </a:rPr>
              <a:t>Shows its work</a:t>
            </a:r>
            <a:endParaRPr lang="en-US" sz="1500" dirty="0"/>
          </a:p>
        </p:txBody>
      </p:sp>
      <p:sp>
        <p:nvSpPr>
          <p:cNvPr id="18" name="Text 16"/>
          <p:cNvSpPr/>
          <p:nvPr/>
        </p:nvSpPr>
        <p:spPr>
          <a:xfrm>
            <a:off x="3575304" y="3657600"/>
            <a:ext cx="2167128" cy="2194560"/>
          </a:xfrm>
          <a:prstGeom prst="rect">
            <a:avLst/>
          </a:prstGeom>
          <a:noFill/>
          <a:ln/>
        </p:spPr>
        <p:txBody>
          <a:bodyPr wrap="square" lIns="0" tIns="0" rIns="0" bIns="0" rtlCol="0" anchor="t"/>
          <a:lstStyle/>
          <a:p>
            <a:pPr indent="0" marL="0">
              <a:lnSpc>
                <a:spcPct val="102000"/>
              </a:lnSpc>
              <a:buNone/>
            </a:pPr>
            <a:r>
              <a:rPr lang="en-US" sz="1150" dirty="0">
                <a:solidFill>
                  <a:srgbClr val="6B7A8D"/>
                </a:solidFill>
                <a:latin typeface="Calibri" pitchFamily="34" charset="0"/>
                <a:ea typeface="Calibri" pitchFamily="34" charset="-122"/>
                <a:cs typeface="Calibri" pitchFamily="34" charset="-120"/>
              </a:rPr>
              <a:t>Every code points back to a line in the chart and the rule behind it, with an audit trail you could hand to an auditor.</a:t>
            </a:r>
            <a:endParaRPr lang="en-US" sz="1150" dirty="0"/>
          </a:p>
        </p:txBody>
      </p:sp>
      <p:sp>
        <p:nvSpPr>
          <p:cNvPr id="19" name="Shape 17"/>
          <p:cNvSpPr/>
          <p:nvPr/>
        </p:nvSpPr>
        <p:spPr>
          <a:xfrm>
            <a:off x="6181344" y="1554480"/>
            <a:ext cx="2679192" cy="4480560"/>
          </a:xfrm>
          <a:prstGeom prst="roundRect">
            <a:avLst>
              <a:gd name="adj" fmla="val 2389"/>
            </a:avLst>
          </a:prstGeom>
          <a:solidFill>
            <a:srgbClr val="FFFFFF"/>
          </a:solidFill>
          <a:ln w="12700">
            <a:solidFill>
              <a:srgbClr val="D8E1EC"/>
            </a:solidFill>
            <a:prstDash val="solid"/>
          </a:ln>
          <a:effectLst>
            <a:outerShdw sx="100000" sy="100000" kx="0" ky="0" algn="bl" rotWithShape="0" blurRad="88900" dist="38100" dir="8100000">
              <a:srgbClr val="1B2A4A">
                <a:alpha val="12000"/>
              </a:srgbClr>
            </a:outerShdw>
          </a:effectLst>
        </p:spPr>
      </p:sp>
      <p:sp>
        <p:nvSpPr>
          <p:cNvPr id="20" name="Shape 18"/>
          <p:cNvSpPr/>
          <p:nvPr/>
        </p:nvSpPr>
        <p:spPr>
          <a:xfrm>
            <a:off x="6181344" y="1554480"/>
            <a:ext cx="2679192" cy="109728"/>
          </a:xfrm>
          <a:prstGeom prst="rect">
            <a:avLst/>
          </a:prstGeom>
          <a:solidFill>
            <a:srgbClr val="13B5A6"/>
          </a:solidFill>
          <a:ln/>
        </p:spPr>
      </p:sp>
      <p:sp>
        <p:nvSpPr>
          <p:cNvPr id="21" name="Shape 19"/>
          <p:cNvSpPr/>
          <p:nvPr/>
        </p:nvSpPr>
        <p:spPr>
          <a:xfrm>
            <a:off x="6455664" y="1965960"/>
            <a:ext cx="868680" cy="868680"/>
          </a:xfrm>
          <a:prstGeom prst="ellipse">
            <a:avLst/>
          </a:prstGeom>
          <a:solidFill>
            <a:srgbClr val="EAF1F8"/>
          </a:solidFill>
          <a:ln/>
        </p:spPr>
      </p:sp>
      <p:sp>
        <p:nvSpPr>
          <p:cNvPr id="22" name="Text 20"/>
          <p:cNvSpPr/>
          <p:nvPr/>
        </p:nvSpPr>
        <p:spPr>
          <a:xfrm>
            <a:off x="6455664" y="1965960"/>
            <a:ext cx="868680" cy="868680"/>
          </a:xfrm>
          <a:prstGeom prst="rect">
            <a:avLst/>
          </a:prstGeom>
          <a:noFill/>
          <a:ln/>
        </p:spPr>
        <p:txBody>
          <a:bodyPr wrap="square" lIns="0" tIns="0" rIns="0" bIns="0" rtlCol="0" anchor="ctr"/>
          <a:lstStyle/>
          <a:p>
            <a:pPr algn="ctr" indent="0" marL="0">
              <a:buNone/>
            </a:pPr>
            <a:r>
              <a:rPr lang="en-US" sz="2200" b="1" dirty="0">
                <a:solidFill>
                  <a:srgbClr val="0E8C81"/>
                </a:solidFill>
                <a:latin typeface="Georgia" pitchFamily="34" charset="0"/>
                <a:ea typeface="Georgia" pitchFamily="34" charset="-122"/>
                <a:cs typeface="Georgia" pitchFamily="34" charset="-120"/>
              </a:rPr>
              <a:t>03</a:t>
            </a:r>
            <a:endParaRPr lang="en-US" sz="2200" dirty="0"/>
          </a:p>
        </p:txBody>
      </p:sp>
      <p:sp>
        <p:nvSpPr>
          <p:cNvPr id="23" name="Text 21"/>
          <p:cNvSpPr/>
          <p:nvPr/>
        </p:nvSpPr>
        <p:spPr>
          <a:xfrm>
            <a:off x="6437376" y="3017520"/>
            <a:ext cx="2167128" cy="640080"/>
          </a:xfrm>
          <a:prstGeom prst="rect">
            <a:avLst/>
          </a:prstGeom>
          <a:noFill/>
          <a:ln/>
        </p:spPr>
        <p:txBody>
          <a:bodyPr wrap="square" lIns="0" tIns="0" rIns="0" bIns="0" rtlCol="0" anchor="ctr"/>
          <a:lstStyle/>
          <a:p>
            <a:pPr indent="0" marL="0">
              <a:buNone/>
            </a:pPr>
            <a:r>
              <a:rPr lang="en-US" sz="1500" b="1" dirty="0">
                <a:solidFill>
                  <a:srgbClr val="1B2A4A"/>
                </a:solidFill>
                <a:latin typeface="Calibri" pitchFamily="34" charset="0"/>
                <a:ea typeface="Calibri" pitchFamily="34" charset="-122"/>
                <a:cs typeface="Calibri" pitchFamily="34" charset="-120"/>
              </a:rPr>
              <a:t>Knows when to ask</a:t>
            </a:r>
            <a:endParaRPr lang="en-US" sz="1500" dirty="0"/>
          </a:p>
        </p:txBody>
      </p:sp>
      <p:sp>
        <p:nvSpPr>
          <p:cNvPr id="24" name="Text 22"/>
          <p:cNvSpPr/>
          <p:nvPr/>
        </p:nvSpPr>
        <p:spPr>
          <a:xfrm>
            <a:off x="6437376" y="3657600"/>
            <a:ext cx="2167128" cy="2194560"/>
          </a:xfrm>
          <a:prstGeom prst="rect">
            <a:avLst/>
          </a:prstGeom>
          <a:noFill/>
          <a:ln/>
        </p:spPr>
        <p:txBody>
          <a:bodyPr wrap="square" lIns="0" tIns="0" rIns="0" bIns="0" rtlCol="0" anchor="t"/>
          <a:lstStyle/>
          <a:p>
            <a:pPr indent="0" marL="0">
              <a:lnSpc>
                <a:spcPct val="102000"/>
              </a:lnSpc>
              <a:buNone/>
            </a:pPr>
            <a:r>
              <a:rPr lang="en-US" sz="1150" dirty="0">
                <a:solidFill>
                  <a:srgbClr val="6B7A8D"/>
                </a:solidFill>
                <a:latin typeface="Calibri" pitchFamily="34" charset="0"/>
                <a:ea typeface="Calibri" pitchFamily="34" charset="-122"/>
                <a:cs typeface="Calibri" pitchFamily="34" charset="-120"/>
              </a:rPr>
              <a:t>A confidence score it actually trusts sends each chart to auto-bill, a quick QA check, or a coder. Some calls always go to a person.</a:t>
            </a:r>
            <a:endParaRPr lang="en-US" sz="1150" dirty="0"/>
          </a:p>
        </p:txBody>
      </p:sp>
      <p:sp>
        <p:nvSpPr>
          <p:cNvPr id="25" name="Shape 23"/>
          <p:cNvSpPr/>
          <p:nvPr/>
        </p:nvSpPr>
        <p:spPr>
          <a:xfrm>
            <a:off x="9043416" y="1554480"/>
            <a:ext cx="2679192" cy="4480560"/>
          </a:xfrm>
          <a:prstGeom prst="roundRect">
            <a:avLst>
              <a:gd name="adj" fmla="val 2389"/>
            </a:avLst>
          </a:prstGeom>
          <a:solidFill>
            <a:srgbClr val="FFFFFF"/>
          </a:solidFill>
          <a:ln w="12700">
            <a:solidFill>
              <a:srgbClr val="D8E1EC"/>
            </a:solidFill>
            <a:prstDash val="solid"/>
          </a:ln>
          <a:effectLst>
            <a:outerShdw sx="100000" sy="100000" kx="0" ky="0" algn="bl" rotWithShape="0" blurRad="88900" dist="38100" dir="8100000">
              <a:srgbClr val="1B2A4A">
                <a:alpha val="12000"/>
              </a:srgbClr>
            </a:outerShdw>
          </a:effectLst>
        </p:spPr>
      </p:sp>
      <p:sp>
        <p:nvSpPr>
          <p:cNvPr id="26" name="Shape 24"/>
          <p:cNvSpPr/>
          <p:nvPr/>
        </p:nvSpPr>
        <p:spPr>
          <a:xfrm>
            <a:off x="9043416" y="1554480"/>
            <a:ext cx="2679192" cy="109728"/>
          </a:xfrm>
          <a:prstGeom prst="rect">
            <a:avLst/>
          </a:prstGeom>
          <a:solidFill>
            <a:srgbClr val="13B5A6"/>
          </a:solidFill>
          <a:ln/>
        </p:spPr>
      </p:sp>
      <p:sp>
        <p:nvSpPr>
          <p:cNvPr id="27" name="Shape 25"/>
          <p:cNvSpPr/>
          <p:nvPr/>
        </p:nvSpPr>
        <p:spPr>
          <a:xfrm>
            <a:off x="9317736" y="1965960"/>
            <a:ext cx="868680" cy="868680"/>
          </a:xfrm>
          <a:prstGeom prst="ellipse">
            <a:avLst/>
          </a:prstGeom>
          <a:solidFill>
            <a:srgbClr val="EAF1F8"/>
          </a:solidFill>
          <a:ln/>
        </p:spPr>
      </p:sp>
      <p:sp>
        <p:nvSpPr>
          <p:cNvPr id="28" name="Text 26"/>
          <p:cNvSpPr/>
          <p:nvPr/>
        </p:nvSpPr>
        <p:spPr>
          <a:xfrm>
            <a:off x="9317736" y="1965960"/>
            <a:ext cx="868680" cy="868680"/>
          </a:xfrm>
          <a:prstGeom prst="rect">
            <a:avLst/>
          </a:prstGeom>
          <a:noFill/>
          <a:ln/>
        </p:spPr>
        <p:txBody>
          <a:bodyPr wrap="square" lIns="0" tIns="0" rIns="0" bIns="0" rtlCol="0" anchor="ctr"/>
          <a:lstStyle/>
          <a:p>
            <a:pPr algn="ctr" indent="0" marL="0">
              <a:buNone/>
            </a:pPr>
            <a:r>
              <a:rPr lang="en-US" sz="2200" b="1" dirty="0">
                <a:solidFill>
                  <a:srgbClr val="0E8C81"/>
                </a:solidFill>
                <a:latin typeface="Georgia" pitchFamily="34" charset="0"/>
                <a:ea typeface="Georgia" pitchFamily="34" charset="-122"/>
                <a:cs typeface="Georgia" pitchFamily="34" charset="-120"/>
              </a:rPr>
              <a:t>04</a:t>
            </a:r>
            <a:endParaRPr lang="en-US" sz="2200" dirty="0"/>
          </a:p>
        </p:txBody>
      </p:sp>
      <p:sp>
        <p:nvSpPr>
          <p:cNvPr id="29" name="Text 27"/>
          <p:cNvSpPr/>
          <p:nvPr/>
        </p:nvSpPr>
        <p:spPr>
          <a:xfrm>
            <a:off x="9299448" y="3017520"/>
            <a:ext cx="2167128" cy="640080"/>
          </a:xfrm>
          <a:prstGeom prst="rect">
            <a:avLst/>
          </a:prstGeom>
          <a:noFill/>
          <a:ln/>
        </p:spPr>
        <p:txBody>
          <a:bodyPr wrap="square" lIns="0" tIns="0" rIns="0" bIns="0" rtlCol="0" anchor="ctr"/>
          <a:lstStyle/>
          <a:p>
            <a:pPr indent="0" marL="0">
              <a:buNone/>
            </a:pPr>
            <a:r>
              <a:rPr lang="en-US" sz="1500" b="1" dirty="0">
                <a:solidFill>
                  <a:srgbClr val="1B2A4A"/>
                </a:solidFill>
                <a:latin typeface="Calibri" pitchFamily="34" charset="0"/>
                <a:ea typeface="Calibri" pitchFamily="34" charset="-122"/>
                <a:cs typeface="Calibri" pitchFamily="34" charset="-120"/>
              </a:rPr>
              <a:t>Yours to run</a:t>
            </a:r>
            <a:endParaRPr lang="en-US" sz="1500" dirty="0"/>
          </a:p>
        </p:txBody>
      </p:sp>
      <p:sp>
        <p:nvSpPr>
          <p:cNvPr id="30" name="Text 28"/>
          <p:cNvSpPr/>
          <p:nvPr/>
        </p:nvSpPr>
        <p:spPr>
          <a:xfrm>
            <a:off x="9299448" y="3657600"/>
            <a:ext cx="2167128" cy="2194560"/>
          </a:xfrm>
          <a:prstGeom prst="rect">
            <a:avLst/>
          </a:prstGeom>
          <a:noFill/>
          <a:ln/>
        </p:spPr>
        <p:txBody>
          <a:bodyPr wrap="square" lIns="0" tIns="0" rIns="0" bIns="0" rtlCol="0" anchor="t"/>
          <a:lstStyle/>
          <a:p>
            <a:pPr indent="0" marL="0">
              <a:lnSpc>
                <a:spcPct val="102000"/>
              </a:lnSpc>
              <a:buNone/>
            </a:pPr>
            <a:r>
              <a:rPr lang="en-US" sz="1150" dirty="0">
                <a:solidFill>
                  <a:srgbClr val="6B7A8D"/>
                </a:solidFill>
                <a:latin typeface="Calibri" pitchFamily="34" charset="0"/>
                <a:ea typeface="Calibri" pitchFamily="34" charset="-122"/>
                <a:cs typeface="Calibri" pitchFamily="34" charset="-120"/>
              </a:rPr>
              <a:t>Your team tunes the thresholds, the rules, the knowledge graph, the specialties and who can do what — no code, no redeploy.</a:t>
            </a:r>
            <a:endParaRPr lang="en-US" sz="1150" dirty="0"/>
          </a:p>
        </p:txBody>
      </p:sp>
      <p:sp>
        <p:nvSpPr>
          <p:cNvPr id="31" name="Shape 29"/>
          <p:cNvSpPr/>
          <p:nvPr/>
        </p:nvSpPr>
        <p:spPr>
          <a:xfrm>
            <a:off x="0" y="6565392"/>
            <a:ext cx="12188952" cy="292608"/>
          </a:xfrm>
          <a:prstGeom prst="rect">
            <a:avLst/>
          </a:prstGeom>
          <a:solidFill>
            <a:srgbClr val="0E1B33"/>
          </a:solidFill>
          <a:ln/>
        </p:spPr>
      </p:sp>
      <p:sp>
        <p:nvSpPr>
          <p:cNvPr id="32" name="Text 30"/>
          <p:cNvSpPr/>
          <p:nvPr/>
        </p:nvSpPr>
        <p:spPr>
          <a:xfrm>
            <a:off x="457200" y="6565392"/>
            <a:ext cx="5486400" cy="292608"/>
          </a:xfrm>
          <a:prstGeom prst="rect">
            <a:avLst/>
          </a:prstGeom>
          <a:noFill/>
          <a:ln/>
        </p:spPr>
        <p:txBody>
          <a:bodyPr wrap="square" lIns="0" tIns="0" rIns="0" bIns="0" rtlCol="0" anchor="ctr"/>
          <a:lstStyle/>
          <a:p>
            <a:pPr indent="0" marL="0">
              <a:buNone/>
            </a:pPr>
            <a:r>
              <a:rPr lang="en-US" sz="850" dirty="0">
                <a:solidFill>
                  <a:srgbClr val="9FB0C7"/>
                </a:solidFill>
                <a:latin typeface="Calibri" pitchFamily="34" charset="0"/>
                <a:ea typeface="Calibri" pitchFamily="34" charset="-122"/>
                <a:cs typeface="Calibri" pitchFamily="34" charset="-120"/>
              </a:rPr>
              <a:t>ACE · Autonomous Coding Engine</a:t>
            </a:r>
            <a:endParaRPr lang="en-US" sz="850" dirty="0"/>
          </a:p>
        </p:txBody>
      </p:sp>
      <p:sp>
        <p:nvSpPr>
          <p:cNvPr id="33" name="Text 31"/>
          <p:cNvSpPr/>
          <p:nvPr/>
        </p:nvSpPr>
        <p:spPr>
          <a:xfrm>
            <a:off x="6245352" y="6565392"/>
            <a:ext cx="5486400" cy="292608"/>
          </a:xfrm>
          <a:prstGeom prst="rect">
            <a:avLst/>
          </a:prstGeom>
          <a:noFill/>
          <a:ln/>
        </p:spPr>
        <p:txBody>
          <a:bodyPr wrap="square" lIns="0" tIns="0" rIns="0" bIns="0" rtlCol="0" anchor="ctr"/>
          <a:lstStyle/>
          <a:p>
            <a:pPr algn="r" indent="0" marL="0">
              <a:buNone/>
            </a:pPr>
            <a:r>
              <a:rPr lang="en-US" sz="850" dirty="0">
                <a:solidFill>
                  <a:srgbClr val="9FB0C7"/>
                </a:solidFill>
                <a:latin typeface="Calibri" pitchFamily="34" charset="0"/>
                <a:ea typeface="Calibri" pitchFamily="34" charset="-122"/>
                <a:cs typeface="Calibri" pitchFamily="34" charset="-120"/>
              </a:rPr>
              <a:t>Nous Infosystems  ·  for Vee Healthtek  ·  Confidential</a:t>
            </a:r>
            <a:endParaRPr lang="en-US" sz="850" dirty="0"/>
          </a:p>
        </p:txBody>
      </p:sp>
      <p:sp>
        <p:nvSpPr>
          <p:cNvPr id="34" name="Text 32"/>
          <p:cNvSpPr/>
          <p:nvPr/>
        </p:nvSpPr>
        <p:spPr>
          <a:xfrm>
            <a:off x="11686032" y="6565392"/>
            <a:ext cx="365760" cy="292608"/>
          </a:xfrm>
          <a:prstGeom prst="rect">
            <a:avLst/>
          </a:prstGeom>
          <a:noFill/>
          <a:ln/>
        </p:spPr>
        <p:txBody>
          <a:bodyPr wrap="square" lIns="0" tIns="0" rIns="0" bIns="0" rtlCol="0" anchor="ctr"/>
          <a:lstStyle/>
          <a:p>
            <a:pPr algn="r" indent="0" marL="0">
              <a:buNone/>
            </a:pPr>
            <a:r>
              <a:rPr lang="en-US" sz="850" b="1" dirty="0">
                <a:solidFill>
                  <a:srgbClr val="13B5A6"/>
                </a:solidFill>
                <a:latin typeface="Calibri" pitchFamily="34" charset="0"/>
                <a:ea typeface="Calibri" pitchFamily="34" charset="-122"/>
                <a:cs typeface="Calibri"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8FC"/>
        </a:solidFill>
      </p:bgPr>
    </p:bg>
    <p:spTree>
      <p:nvGrpSpPr>
        <p:cNvPr id="1" name=""/>
        <p:cNvGrpSpPr/>
        <p:nvPr/>
      </p:nvGrpSpPr>
      <p:grpSpPr>
        <a:xfrm>
          <a:off x="0" y="0"/>
          <a:ext cx="0" cy="0"/>
          <a:chOff x="0" y="0"/>
          <a:chExt cx="0" cy="0"/>
        </a:xfrm>
      </p:grpSpPr>
      <p:sp>
        <p:nvSpPr>
          <p:cNvPr id="2" name="Shape 0"/>
          <p:cNvSpPr/>
          <p:nvPr/>
        </p:nvSpPr>
        <p:spPr>
          <a:xfrm>
            <a:off x="0" y="0"/>
            <a:ext cx="12188952" cy="1078992"/>
          </a:xfrm>
          <a:prstGeom prst="rect">
            <a:avLst/>
          </a:prstGeom>
          <a:solidFill>
            <a:srgbClr val="FFFFFF"/>
          </a:solidFill>
          <a:ln/>
        </p:spPr>
      </p:sp>
      <p:sp>
        <p:nvSpPr>
          <p:cNvPr id="3" name="Shape 1"/>
          <p:cNvSpPr/>
          <p:nvPr/>
        </p:nvSpPr>
        <p:spPr>
          <a:xfrm>
            <a:off x="0" y="1078992"/>
            <a:ext cx="12188952" cy="27432"/>
          </a:xfrm>
          <a:prstGeom prst="rect">
            <a:avLst/>
          </a:prstGeom>
          <a:solidFill>
            <a:srgbClr val="D8E1EC"/>
          </a:solidFill>
          <a:ln/>
        </p:spPr>
      </p:sp>
      <p:sp>
        <p:nvSpPr>
          <p:cNvPr id="4" name="Shape 2"/>
          <p:cNvSpPr/>
          <p:nvPr/>
        </p:nvSpPr>
        <p:spPr>
          <a:xfrm>
            <a:off x="457200" y="310896"/>
            <a:ext cx="109728" cy="512064"/>
          </a:xfrm>
          <a:prstGeom prst="rect">
            <a:avLst/>
          </a:prstGeom>
          <a:solidFill>
            <a:srgbClr val="13B5A6"/>
          </a:solidFill>
          <a:ln/>
        </p:spPr>
      </p:sp>
      <p:sp>
        <p:nvSpPr>
          <p:cNvPr id="5" name="Text 3"/>
          <p:cNvSpPr/>
          <p:nvPr/>
        </p:nvSpPr>
        <p:spPr>
          <a:xfrm>
            <a:off x="713232" y="274320"/>
            <a:ext cx="10058400" cy="237744"/>
          </a:xfrm>
          <a:prstGeom prst="rect">
            <a:avLst/>
          </a:prstGeom>
          <a:noFill/>
          <a:ln/>
        </p:spPr>
        <p:txBody>
          <a:bodyPr wrap="square" lIns="0" tIns="0" rIns="0" bIns="0" rtlCol="0" anchor="ctr"/>
          <a:lstStyle/>
          <a:p>
            <a:pPr indent="0" marL="0">
              <a:buNone/>
            </a:pPr>
            <a:r>
              <a:rPr lang="en-US" sz="1100" b="1" spc="200" kern="0" dirty="0">
                <a:solidFill>
                  <a:srgbClr val="13B5A6"/>
                </a:solidFill>
                <a:latin typeface="Calibri" pitchFamily="34" charset="0"/>
                <a:ea typeface="Calibri" pitchFamily="34" charset="-122"/>
                <a:cs typeface="Calibri" pitchFamily="34" charset="-120"/>
              </a:rPr>
              <a:t>FUNCTIONAL FLOW</a:t>
            </a:r>
            <a:endParaRPr lang="en-US" sz="1100" dirty="0"/>
          </a:p>
        </p:txBody>
      </p:sp>
      <p:sp>
        <p:nvSpPr>
          <p:cNvPr id="6" name="Text 4"/>
          <p:cNvSpPr/>
          <p:nvPr/>
        </p:nvSpPr>
        <p:spPr>
          <a:xfrm>
            <a:off x="713232" y="475488"/>
            <a:ext cx="11155680" cy="457200"/>
          </a:xfrm>
          <a:prstGeom prst="rect">
            <a:avLst/>
          </a:prstGeom>
          <a:noFill/>
          <a:ln/>
        </p:spPr>
        <p:txBody>
          <a:bodyPr wrap="square" lIns="0" tIns="0" rIns="0" bIns="0" rtlCol="0" anchor="ctr"/>
          <a:lstStyle/>
          <a:p>
            <a:pPr indent="0" marL="0">
              <a:buNone/>
            </a:pPr>
            <a:r>
              <a:rPr lang="en-US" sz="2300" b="1" dirty="0">
                <a:solidFill>
                  <a:srgbClr val="1B2A4A"/>
                </a:solidFill>
                <a:latin typeface="Georgia" pitchFamily="34" charset="0"/>
                <a:ea typeface="Georgia" pitchFamily="34" charset="-122"/>
                <a:cs typeface="Georgia" pitchFamily="34" charset="-120"/>
              </a:rPr>
              <a:t>How a chart moves — from intake to billing, with a feedback loop</a:t>
            </a:r>
            <a:endParaRPr lang="en-US" sz="2300" dirty="0"/>
          </a:p>
        </p:txBody>
      </p:sp>
      <p:sp>
        <p:nvSpPr>
          <p:cNvPr id="7" name="Shape 5"/>
          <p:cNvSpPr/>
          <p:nvPr/>
        </p:nvSpPr>
        <p:spPr>
          <a:xfrm>
            <a:off x="457200" y="1371600"/>
            <a:ext cx="1783080" cy="841248"/>
          </a:xfrm>
          <a:prstGeom prst="roundRect">
            <a:avLst>
              <a:gd name="adj" fmla="val 6522"/>
            </a:avLst>
          </a:prstGeom>
          <a:solidFill>
            <a:srgbClr val="1B2A4A"/>
          </a:solidFill>
          <a:ln/>
          <a:effectLst>
            <a:outerShdw sx="100000" sy="100000" kx="0" ky="0" algn="bl" rotWithShape="0" blurRad="88900" dist="38100" dir="8100000">
              <a:srgbClr val="1B2A4A">
                <a:alpha val="12000"/>
              </a:srgbClr>
            </a:outerShdw>
          </a:effectLst>
        </p:spPr>
      </p:sp>
      <p:sp>
        <p:nvSpPr>
          <p:cNvPr id="8" name="Text 6"/>
          <p:cNvSpPr/>
          <p:nvPr/>
        </p:nvSpPr>
        <p:spPr>
          <a:xfrm>
            <a:off x="530352" y="1371600"/>
            <a:ext cx="1636776" cy="841248"/>
          </a:xfrm>
          <a:prstGeom prst="rect">
            <a:avLst/>
          </a:prstGeom>
          <a:noFill/>
          <a:ln/>
        </p:spPr>
        <p:txBody>
          <a:bodyPr wrap="square" lIns="25400" tIns="25400" rIns="25400" bIns="25400" rtlCol="0" anchor="ctr"/>
          <a:lstStyle/>
          <a:p>
            <a:pPr algn="ctr" indent="0" marL="0">
              <a:lnSpc>
                <a:spcPct val="95000"/>
              </a:lnSpc>
              <a:buNone/>
            </a:pPr>
            <a:r>
              <a:rPr lang="en-US" sz="1150" b="1" dirty="0">
                <a:solidFill>
                  <a:srgbClr val="FFFFFF"/>
                </a:solidFill>
                <a:latin typeface="Calibri" pitchFamily="34" charset="0"/>
                <a:ea typeface="Calibri" pitchFamily="34" charset="-122"/>
                <a:cs typeface="Calibri" pitchFamily="34" charset="-120"/>
              </a:rPr>
              <a:t>Intake</a:t>
            </a:r>
            <a:endParaRPr lang="en-US" sz="1150" dirty="0"/>
          </a:p>
          <a:p>
            <a:pPr algn="ctr" indent="0" marL="0">
              <a:lnSpc>
                <a:spcPct val="95000"/>
              </a:lnSpc>
              <a:buNone/>
            </a:pPr>
            <a:r>
              <a:rPr lang="en-US" sz="850" dirty="0">
                <a:solidFill>
                  <a:srgbClr val="D7E3F5"/>
                </a:solidFill>
                <a:latin typeface="Calibri" pitchFamily="34" charset="0"/>
                <a:ea typeface="Calibri" pitchFamily="34" charset="-122"/>
                <a:cs typeface="Calibri" pitchFamily="34" charset="-120"/>
              </a:rPr>
              <a:t>PMS / EHR feeds — or a scanned PDF, read by the model</a:t>
            </a:r>
            <a:endParaRPr lang="en-US" sz="1150" dirty="0"/>
          </a:p>
        </p:txBody>
      </p:sp>
      <p:sp>
        <p:nvSpPr>
          <p:cNvPr id="9" name="Shape 7"/>
          <p:cNvSpPr/>
          <p:nvPr/>
        </p:nvSpPr>
        <p:spPr>
          <a:xfrm>
            <a:off x="2395728" y="1371600"/>
            <a:ext cx="1783080" cy="841248"/>
          </a:xfrm>
          <a:prstGeom prst="roundRect">
            <a:avLst>
              <a:gd name="adj" fmla="val 6522"/>
            </a:avLst>
          </a:prstGeom>
          <a:solidFill>
            <a:srgbClr val="1B2A4A"/>
          </a:solidFill>
          <a:ln/>
          <a:effectLst>
            <a:outerShdw sx="100000" sy="100000" kx="0" ky="0" algn="bl" rotWithShape="0" blurRad="88900" dist="38100" dir="8100000">
              <a:srgbClr val="1B2A4A">
                <a:alpha val="12000"/>
              </a:srgbClr>
            </a:outerShdw>
          </a:effectLst>
        </p:spPr>
      </p:sp>
      <p:sp>
        <p:nvSpPr>
          <p:cNvPr id="10" name="Text 8"/>
          <p:cNvSpPr/>
          <p:nvPr/>
        </p:nvSpPr>
        <p:spPr>
          <a:xfrm>
            <a:off x="2468880" y="1371600"/>
            <a:ext cx="1636776" cy="841248"/>
          </a:xfrm>
          <a:prstGeom prst="rect">
            <a:avLst/>
          </a:prstGeom>
          <a:noFill/>
          <a:ln/>
        </p:spPr>
        <p:txBody>
          <a:bodyPr wrap="square" lIns="25400" tIns="25400" rIns="25400" bIns="25400" rtlCol="0" anchor="ctr"/>
          <a:lstStyle/>
          <a:p>
            <a:pPr algn="ctr" indent="0" marL="0">
              <a:lnSpc>
                <a:spcPct val="95000"/>
              </a:lnSpc>
              <a:buNone/>
            </a:pPr>
            <a:r>
              <a:rPr lang="en-US" sz="1150" b="1" dirty="0">
                <a:solidFill>
                  <a:srgbClr val="FFFFFF"/>
                </a:solidFill>
                <a:latin typeface="Calibri" pitchFamily="34" charset="0"/>
                <a:ea typeface="Calibri" pitchFamily="34" charset="-122"/>
                <a:cs typeface="Calibri" pitchFamily="34" charset="-120"/>
              </a:rPr>
              <a:t>Is it codable?</a:t>
            </a:r>
            <a:endParaRPr lang="en-US" sz="1150" dirty="0"/>
          </a:p>
          <a:p>
            <a:pPr algn="ctr" indent="0" marL="0">
              <a:lnSpc>
                <a:spcPct val="95000"/>
              </a:lnSpc>
              <a:buNone/>
            </a:pPr>
            <a:r>
              <a:rPr lang="en-US" sz="850" dirty="0">
                <a:solidFill>
                  <a:srgbClr val="D7E3F5"/>
                </a:solidFill>
                <a:latin typeface="Calibri" pitchFamily="34" charset="0"/>
                <a:ea typeface="Calibri" pitchFamily="34" charset="-122"/>
                <a:cs typeface="Calibri" pitchFamily="34" charset="-120"/>
              </a:rPr>
              <a:t>right docs, right specialty, no exclusions</a:t>
            </a:r>
            <a:endParaRPr lang="en-US" sz="1150" dirty="0"/>
          </a:p>
        </p:txBody>
      </p:sp>
      <p:sp>
        <p:nvSpPr>
          <p:cNvPr id="11" name="Shape 9"/>
          <p:cNvSpPr/>
          <p:nvPr/>
        </p:nvSpPr>
        <p:spPr>
          <a:xfrm>
            <a:off x="4334256" y="1371600"/>
            <a:ext cx="1783080" cy="841248"/>
          </a:xfrm>
          <a:prstGeom prst="roundRect">
            <a:avLst>
              <a:gd name="adj" fmla="val 6522"/>
            </a:avLst>
          </a:prstGeom>
          <a:solidFill>
            <a:srgbClr val="0E8C81"/>
          </a:solidFill>
          <a:ln/>
          <a:effectLst>
            <a:outerShdw sx="100000" sy="100000" kx="0" ky="0" algn="bl" rotWithShape="0" blurRad="88900" dist="38100" dir="8100000">
              <a:srgbClr val="1B2A4A">
                <a:alpha val="12000"/>
              </a:srgbClr>
            </a:outerShdw>
          </a:effectLst>
        </p:spPr>
      </p:sp>
      <p:sp>
        <p:nvSpPr>
          <p:cNvPr id="12" name="Text 10"/>
          <p:cNvSpPr/>
          <p:nvPr/>
        </p:nvSpPr>
        <p:spPr>
          <a:xfrm>
            <a:off x="4407408" y="1371600"/>
            <a:ext cx="1636776" cy="841248"/>
          </a:xfrm>
          <a:prstGeom prst="rect">
            <a:avLst/>
          </a:prstGeom>
          <a:noFill/>
          <a:ln/>
        </p:spPr>
        <p:txBody>
          <a:bodyPr wrap="square" lIns="25400" tIns="25400" rIns="25400" bIns="25400" rtlCol="0" anchor="ctr"/>
          <a:lstStyle/>
          <a:p>
            <a:pPr algn="ctr" indent="0" marL="0">
              <a:lnSpc>
                <a:spcPct val="95000"/>
              </a:lnSpc>
              <a:buNone/>
            </a:pPr>
            <a:r>
              <a:rPr lang="en-US" sz="1150" b="1" dirty="0">
                <a:solidFill>
                  <a:srgbClr val="FFFFFF"/>
                </a:solidFill>
                <a:latin typeface="Calibri" pitchFamily="34" charset="0"/>
                <a:ea typeface="Calibri" pitchFamily="34" charset="-122"/>
                <a:cs typeface="Calibri" pitchFamily="34" charset="-120"/>
              </a:rPr>
              <a:t>ACE codes it</a:t>
            </a:r>
            <a:endParaRPr lang="en-US" sz="1150" dirty="0"/>
          </a:p>
          <a:p>
            <a:pPr algn="ctr" indent="0" marL="0">
              <a:lnSpc>
                <a:spcPct val="95000"/>
              </a:lnSpc>
              <a:buNone/>
            </a:pPr>
            <a:r>
              <a:rPr lang="en-US" sz="850" dirty="0">
                <a:solidFill>
                  <a:srgbClr val="D7E3F5"/>
                </a:solidFill>
                <a:latin typeface="Calibri" pitchFamily="34" charset="0"/>
                <a:ea typeface="Calibri" pitchFamily="34" charset="-122"/>
                <a:cs typeface="Calibri" pitchFamily="34" charset="-120"/>
              </a:rPr>
              <a:t>read → extract → code → check</a:t>
            </a:r>
            <a:endParaRPr lang="en-US" sz="1150" dirty="0"/>
          </a:p>
        </p:txBody>
      </p:sp>
      <p:sp>
        <p:nvSpPr>
          <p:cNvPr id="13" name="Shape 11"/>
          <p:cNvSpPr/>
          <p:nvPr/>
        </p:nvSpPr>
        <p:spPr>
          <a:xfrm>
            <a:off x="6272784" y="1371600"/>
            <a:ext cx="1783080" cy="841248"/>
          </a:xfrm>
          <a:prstGeom prst="roundRect">
            <a:avLst>
              <a:gd name="adj" fmla="val 6522"/>
            </a:avLst>
          </a:prstGeom>
          <a:solidFill>
            <a:srgbClr val="1B2A4A"/>
          </a:solidFill>
          <a:ln/>
          <a:effectLst>
            <a:outerShdw sx="100000" sy="100000" kx="0" ky="0" algn="bl" rotWithShape="0" blurRad="88900" dist="38100" dir="8100000">
              <a:srgbClr val="1B2A4A">
                <a:alpha val="12000"/>
              </a:srgbClr>
            </a:outerShdw>
          </a:effectLst>
        </p:spPr>
      </p:sp>
      <p:sp>
        <p:nvSpPr>
          <p:cNvPr id="14" name="Text 12"/>
          <p:cNvSpPr/>
          <p:nvPr/>
        </p:nvSpPr>
        <p:spPr>
          <a:xfrm>
            <a:off x="6345936" y="1371600"/>
            <a:ext cx="1636776" cy="841248"/>
          </a:xfrm>
          <a:prstGeom prst="rect">
            <a:avLst/>
          </a:prstGeom>
          <a:noFill/>
          <a:ln/>
        </p:spPr>
        <p:txBody>
          <a:bodyPr wrap="square" lIns="25400" tIns="25400" rIns="25400" bIns="25400" rtlCol="0" anchor="ctr"/>
          <a:lstStyle/>
          <a:p>
            <a:pPr algn="ctr" indent="0" marL="0">
              <a:lnSpc>
                <a:spcPct val="95000"/>
              </a:lnSpc>
              <a:buNone/>
            </a:pPr>
            <a:r>
              <a:rPr lang="en-US" sz="1150" b="1" dirty="0">
                <a:solidFill>
                  <a:srgbClr val="FFFFFF"/>
                </a:solidFill>
                <a:latin typeface="Calibri" pitchFamily="34" charset="0"/>
                <a:ea typeface="Calibri" pitchFamily="34" charset="-122"/>
                <a:cs typeface="Calibri" pitchFamily="34" charset="-120"/>
              </a:rPr>
              <a:t>How sure is it?</a:t>
            </a:r>
            <a:endParaRPr lang="en-US" sz="1150" dirty="0"/>
          </a:p>
          <a:p>
            <a:pPr algn="ctr" indent="0" marL="0">
              <a:lnSpc>
                <a:spcPct val="95000"/>
              </a:lnSpc>
              <a:buNone/>
            </a:pPr>
            <a:r>
              <a:rPr lang="en-US" sz="850" dirty="0">
                <a:solidFill>
                  <a:srgbClr val="D7E3F5"/>
                </a:solidFill>
                <a:latin typeface="Calibri" pitchFamily="34" charset="0"/>
                <a:ea typeface="Calibri" pitchFamily="34" charset="-122"/>
                <a:cs typeface="Calibri" pitchFamily="34" charset="-120"/>
              </a:rPr>
              <a:t>a confidence score it trusts</a:t>
            </a:r>
            <a:endParaRPr lang="en-US" sz="1150" dirty="0"/>
          </a:p>
        </p:txBody>
      </p:sp>
      <p:sp>
        <p:nvSpPr>
          <p:cNvPr id="15" name="Shape 13"/>
          <p:cNvSpPr/>
          <p:nvPr/>
        </p:nvSpPr>
        <p:spPr>
          <a:xfrm>
            <a:off x="8211312" y="1371600"/>
            <a:ext cx="3520440" cy="841248"/>
          </a:xfrm>
          <a:prstGeom prst="roundRect">
            <a:avLst>
              <a:gd name="adj" fmla="val 6522"/>
            </a:avLst>
          </a:prstGeom>
          <a:solidFill>
            <a:srgbClr val="1B2A4A"/>
          </a:solidFill>
          <a:ln/>
          <a:effectLst>
            <a:outerShdw sx="100000" sy="100000" kx="0" ky="0" algn="bl" rotWithShape="0" blurRad="88900" dist="38100" dir="8100000">
              <a:srgbClr val="1B2A4A">
                <a:alpha val="12000"/>
              </a:srgbClr>
            </a:outerShdw>
          </a:effectLst>
        </p:spPr>
      </p:sp>
      <p:sp>
        <p:nvSpPr>
          <p:cNvPr id="16" name="Text 14"/>
          <p:cNvSpPr/>
          <p:nvPr/>
        </p:nvSpPr>
        <p:spPr>
          <a:xfrm>
            <a:off x="8284464" y="1371600"/>
            <a:ext cx="3374136" cy="841248"/>
          </a:xfrm>
          <a:prstGeom prst="rect">
            <a:avLst/>
          </a:prstGeom>
          <a:noFill/>
          <a:ln/>
        </p:spPr>
        <p:txBody>
          <a:bodyPr wrap="square" lIns="25400" tIns="25400" rIns="25400" bIns="25400" rtlCol="0" anchor="ctr"/>
          <a:lstStyle/>
          <a:p>
            <a:pPr algn="ctr" indent="0" marL="0">
              <a:lnSpc>
                <a:spcPct val="95000"/>
              </a:lnSpc>
              <a:buNone/>
            </a:pPr>
            <a:r>
              <a:rPr lang="en-US" sz="1150" b="1" dirty="0">
                <a:solidFill>
                  <a:srgbClr val="FFFFFF"/>
                </a:solidFill>
                <a:latin typeface="Calibri" pitchFamily="34" charset="0"/>
                <a:ea typeface="Calibri" pitchFamily="34" charset="-122"/>
                <a:cs typeface="Calibri" pitchFamily="34" charset="-120"/>
              </a:rPr>
              <a:t>Billing / clearinghouse</a:t>
            </a:r>
            <a:endParaRPr lang="en-US" sz="1150" dirty="0"/>
          </a:p>
          <a:p>
            <a:pPr algn="ctr" indent="0" marL="0">
              <a:lnSpc>
                <a:spcPct val="95000"/>
              </a:lnSpc>
              <a:buNone/>
            </a:pPr>
            <a:r>
              <a:rPr lang="en-US" sz="850" dirty="0">
                <a:solidFill>
                  <a:srgbClr val="D7E3F5"/>
                </a:solidFill>
                <a:latin typeface="Calibri" pitchFamily="34" charset="0"/>
                <a:ea typeface="Calibri" pitchFamily="34" charset="-122"/>
                <a:cs typeface="Calibri" pitchFamily="34" charset="-120"/>
              </a:rPr>
              <a:t>claim goes out (837)</a:t>
            </a:r>
            <a:endParaRPr lang="en-US" sz="1150" dirty="0"/>
          </a:p>
        </p:txBody>
      </p:sp>
      <p:sp>
        <p:nvSpPr>
          <p:cNvPr id="17" name="Shape 15"/>
          <p:cNvSpPr/>
          <p:nvPr/>
        </p:nvSpPr>
        <p:spPr>
          <a:xfrm>
            <a:off x="2240280" y="1792224"/>
            <a:ext cx="155448" cy="0"/>
          </a:xfrm>
          <a:prstGeom prst="line">
            <a:avLst/>
          </a:prstGeom>
          <a:noFill/>
          <a:ln w="27940">
            <a:solidFill>
              <a:srgbClr val="13B5A6"/>
            </a:solidFill>
            <a:prstDash val="solid"/>
            <a:tailEnd type="triangle"/>
          </a:ln>
        </p:spPr>
      </p:sp>
      <p:sp>
        <p:nvSpPr>
          <p:cNvPr id="18" name="Shape 16"/>
          <p:cNvSpPr/>
          <p:nvPr/>
        </p:nvSpPr>
        <p:spPr>
          <a:xfrm>
            <a:off x="4178808" y="1792224"/>
            <a:ext cx="155448" cy="0"/>
          </a:xfrm>
          <a:prstGeom prst="line">
            <a:avLst/>
          </a:prstGeom>
          <a:noFill/>
          <a:ln w="27940">
            <a:solidFill>
              <a:srgbClr val="13B5A6"/>
            </a:solidFill>
            <a:prstDash val="solid"/>
            <a:tailEnd type="triangle"/>
          </a:ln>
        </p:spPr>
      </p:sp>
      <p:sp>
        <p:nvSpPr>
          <p:cNvPr id="19" name="Shape 17"/>
          <p:cNvSpPr/>
          <p:nvPr/>
        </p:nvSpPr>
        <p:spPr>
          <a:xfrm>
            <a:off x="6117336" y="1792224"/>
            <a:ext cx="155448" cy="0"/>
          </a:xfrm>
          <a:prstGeom prst="line">
            <a:avLst/>
          </a:prstGeom>
          <a:noFill/>
          <a:ln w="27940">
            <a:solidFill>
              <a:srgbClr val="13B5A6"/>
            </a:solidFill>
            <a:prstDash val="solid"/>
            <a:tailEnd type="triangle"/>
          </a:ln>
        </p:spPr>
      </p:sp>
      <p:sp>
        <p:nvSpPr>
          <p:cNvPr id="20" name="Shape 18"/>
          <p:cNvSpPr/>
          <p:nvPr/>
        </p:nvSpPr>
        <p:spPr>
          <a:xfrm>
            <a:off x="8055864" y="1792224"/>
            <a:ext cx="155448" cy="0"/>
          </a:xfrm>
          <a:prstGeom prst="line">
            <a:avLst/>
          </a:prstGeom>
          <a:noFill/>
          <a:ln w="27940">
            <a:solidFill>
              <a:srgbClr val="13B5A6"/>
            </a:solidFill>
            <a:prstDash val="solid"/>
            <a:tailEnd type="triangle"/>
          </a:ln>
        </p:spPr>
      </p:sp>
      <p:sp>
        <p:nvSpPr>
          <p:cNvPr id="21" name="Text 19"/>
          <p:cNvSpPr/>
          <p:nvPr/>
        </p:nvSpPr>
        <p:spPr>
          <a:xfrm>
            <a:off x="457200" y="2395728"/>
            <a:ext cx="11274552" cy="274320"/>
          </a:xfrm>
          <a:prstGeom prst="rect">
            <a:avLst/>
          </a:prstGeom>
          <a:noFill/>
          <a:ln/>
        </p:spPr>
        <p:txBody>
          <a:bodyPr wrap="square" lIns="0" tIns="0" rIns="0" bIns="0" rtlCol="0" anchor="ctr"/>
          <a:lstStyle/>
          <a:p>
            <a:pPr indent="0" marL="0">
              <a:buNone/>
            </a:pPr>
            <a:r>
              <a:rPr lang="en-US" sz="1200" dirty="0">
                <a:solidFill>
                  <a:srgbClr val="6B7A8D"/>
                </a:solidFill>
                <a:latin typeface="Calibri" pitchFamily="34" charset="0"/>
                <a:ea typeface="Calibri" pitchFamily="34" charset="-122"/>
                <a:cs typeface="Calibri" pitchFamily="34" charset="-120"/>
              </a:rPr>
              <a:t>Based on how sure it is, </a:t>
            </a:r>
            <a:pPr indent="0" marL="0">
              <a:buNone/>
            </a:pPr>
            <a:r>
              <a:rPr lang="en-US" sz="1200" b="1" dirty="0">
                <a:solidFill>
                  <a:srgbClr val="1B2A4A"/>
                </a:solidFill>
                <a:latin typeface="Calibri" pitchFamily="34" charset="0"/>
                <a:ea typeface="Calibri" pitchFamily="34" charset="-122"/>
                <a:cs typeface="Calibri" pitchFamily="34" charset="-120"/>
              </a:rPr>
              <a:t>each chart goes to exactly one of three lanes:</a:t>
            </a:r>
            <a:endParaRPr lang="en-US" sz="1200" dirty="0"/>
          </a:p>
        </p:txBody>
      </p:sp>
      <p:sp>
        <p:nvSpPr>
          <p:cNvPr id="22" name="Shape 20"/>
          <p:cNvSpPr/>
          <p:nvPr/>
        </p:nvSpPr>
        <p:spPr>
          <a:xfrm>
            <a:off x="457200" y="2761488"/>
            <a:ext cx="3611880" cy="868680"/>
          </a:xfrm>
          <a:prstGeom prst="roundRect">
            <a:avLst>
              <a:gd name="adj" fmla="val 6316"/>
            </a:avLst>
          </a:prstGeom>
          <a:solidFill>
            <a:srgbClr val="FFFFFF"/>
          </a:solidFill>
          <a:ln w="12700">
            <a:solidFill>
              <a:srgbClr val="D8E1EC"/>
            </a:solidFill>
            <a:prstDash val="solid"/>
          </a:ln>
          <a:effectLst>
            <a:outerShdw sx="100000" sy="100000" kx="0" ky="0" algn="bl" rotWithShape="0" blurRad="88900" dist="38100" dir="8100000">
              <a:srgbClr val="1B2A4A">
                <a:alpha val="12000"/>
              </a:srgbClr>
            </a:outerShdw>
          </a:effectLst>
        </p:spPr>
      </p:sp>
      <p:sp>
        <p:nvSpPr>
          <p:cNvPr id="23" name="Shape 21"/>
          <p:cNvSpPr/>
          <p:nvPr/>
        </p:nvSpPr>
        <p:spPr>
          <a:xfrm>
            <a:off x="457200" y="2761488"/>
            <a:ext cx="118872" cy="868680"/>
          </a:xfrm>
          <a:prstGeom prst="rect">
            <a:avLst/>
          </a:prstGeom>
          <a:solidFill>
            <a:srgbClr val="2E9E6B"/>
          </a:solidFill>
          <a:ln/>
        </p:spPr>
      </p:sp>
      <p:sp>
        <p:nvSpPr>
          <p:cNvPr id="24" name="Text 22"/>
          <p:cNvSpPr/>
          <p:nvPr/>
        </p:nvSpPr>
        <p:spPr>
          <a:xfrm>
            <a:off x="731520" y="2761488"/>
            <a:ext cx="3200400" cy="868680"/>
          </a:xfrm>
          <a:prstGeom prst="rect">
            <a:avLst/>
          </a:prstGeom>
          <a:noFill/>
          <a:ln/>
        </p:spPr>
        <p:txBody>
          <a:bodyPr wrap="square" lIns="25400" tIns="25400" rIns="25400" bIns="25400" rtlCol="0" anchor="ctr"/>
          <a:lstStyle/>
          <a:p>
            <a:pPr indent="0" marL="0">
              <a:lnSpc>
                <a:spcPct val="100000"/>
              </a:lnSpc>
              <a:buNone/>
            </a:pPr>
            <a:r>
              <a:rPr lang="en-US" sz="1250" b="1" dirty="0">
                <a:solidFill>
                  <a:srgbClr val="27313F"/>
                </a:solidFill>
                <a:latin typeface="Calibri" pitchFamily="34" charset="0"/>
                <a:ea typeface="Calibri" pitchFamily="34" charset="-122"/>
                <a:cs typeface="Calibri" pitchFamily="34" charset="-120"/>
              </a:rPr>
              <a:t>Straight-through billing</a:t>
            </a:r>
            <a:endParaRPr lang="en-US" sz="1250" dirty="0"/>
          </a:p>
          <a:p>
            <a:pPr indent="0" marL="0">
              <a:lnSpc>
                <a:spcPct val="100000"/>
              </a:lnSpc>
              <a:buNone/>
            </a:pPr>
            <a:r>
              <a:rPr lang="en-US" sz="1050" dirty="0">
                <a:solidFill>
                  <a:srgbClr val="6B7A8D"/>
                </a:solidFill>
                <a:latin typeface="Calibri" pitchFamily="34" charset="0"/>
                <a:ea typeface="Calibri" pitchFamily="34" charset="-122"/>
                <a:cs typeface="Calibri" pitchFamily="34" charset="-120"/>
              </a:rPr>
              <a:t>high confidence — bills automatically, audit-sampled</a:t>
            </a:r>
            <a:endParaRPr lang="en-US" sz="1250" dirty="0"/>
          </a:p>
        </p:txBody>
      </p:sp>
      <p:sp>
        <p:nvSpPr>
          <p:cNvPr id="25" name="Shape 23"/>
          <p:cNvSpPr/>
          <p:nvPr/>
        </p:nvSpPr>
        <p:spPr>
          <a:xfrm>
            <a:off x="4288536" y="2761488"/>
            <a:ext cx="3611880" cy="868680"/>
          </a:xfrm>
          <a:prstGeom prst="roundRect">
            <a:avLst>
              <a:gd name="adj" fmla="val 6316"/>
            </a:avLst>
          </a:prstGeom>
          <a:solidFill>
            <a:srgbClr val="FFFFFF"/>
          </a:solidFill>
          <a:ln w="12700">
            <a:solidFill>
              <a:srgbClr val="D8E1EC"/>
            </a:solidFill>
            <a:prstDash val="solid"/>
          </a:ln>
          <a:effectLst>
            <a:outerShdw sx="100000" sy="100000" kx="0" ky="0" algn="bl" rotWithShape="0" blurRad="88900" dist="38100" dir="8100000">
              <a:srgbClr val="1B2A4A">
                <a:alpha val="12000"/>
              </a:srgbClr>
            </a:outerShdw>
          </a:effectLst>
        </p:spPr>
      </p:sp>
      <p:sp>
        <p:nvSpPr>
          <p:cNvPr id="26" name="Shape 24"/>
          <p:cNvSpPr/>
          <p:nvPr/>
        </p:nvSpPr>
        <p:spPr>
          <a:xfrm>
            <a:off x="4288536" y="2761488"/>
            <a:ext cx="118872" cy="868680"/>
          </a:xfrm>
          <a:prstGeom prst="rect">
            <a:avLst/>
          </a:prstGeom>
          <a:solidFill>
            <a:srgbClr val="E8A13A"/>
          </a:solidFill>
          <a:ln/>
        </p:spPr>
      </p:sp>
      <p:sp>
        <p:nvSpPr>
          <p:cNvPr id="27" name="Text 25"/>
          <p:cNvSpPr/>
          <p:nvPr/>
        </p:nvSpPr>
        <p:spPr>
          <a:xfrm>
            <a:off x="4562856" y="2761488"/>
            <a:ext cx="3200400" cy="868680"/>
          </a:xfrm>
          <a:prstGeom prst="rect">
            <a:avLst/>
          </a:prstGeom>
          <a:noFill/>
          <a:ln/>
        </p:spPr>
        <p:txBody>
          <a:bodyPr wrap="square" lIns="25400" tIns="25400" rIns="25400" bIns="25400" rtlCol="0" anchor="ctr"/>
          <a:lstStyle/>
          <a:p>
            <a:pPr indent="0" marL="0">
              <a:lnSpc>
                <a:spcPct val="100000"/>
              </a:lnSpc>
              <a:buNone/>
            </a:pPr>
            <a:r>
              <a:rPr lang="en-US" sz="1250" b="1" dirty="0">
                <a:solidFill>
                  <a:srgbClr val="27313F"/>
                </a:solidFill>
                <a:latin typeface="Calibri" pitchFamily="34" charset="0"/>
                <a:ea typeface="Calibri" pitchFamily="34" charset="-122"/>
                <a:cs typeface="Calibri" pitchFamily="34" charset="-120"/>
              </a:rPr>
              <a:t>Quick QA check</a:t>
            </a:r>
            <a:endParaRPr lang="en-US" sz="1250" dirty="0"/>
          </a:p>
          <a:p>
            <a:pPr indent="0" marL="0">
              <a:lnSpc>
                <a:spcPct val="100000"/>
              </a:lnSpc>
              <a:buNone/>
            </a:pPr>
            <a:r>
              <a:rPr lang="en-US" sz="1050" dirty="0">
                <a:solidFill>
                  <a:srgbClr val="6B7A8D"/>
                </a:solidFill>
                <a:latin typeface="Calibri" pitchFamily="34" charset="0"/>
                <a:ea typeface="Calibri" pitchFamily="34" charset="-122"/>
                <a:cs typeface="Calibri" pitchFamily="34" charset="-120"/>
              </a:rPr>
              <a:t>an auditor confirms the AI's draft</a:t>
            </a:r>
            <a:endParaRPr lang="en-US" sz="1250" dirty="0"/>
          </a:p>
        </p:txBody>
      </p:sp>
      <p:sp>
        <p:nvSpPr>
          <p:cNvPr id="28" name="Shape 26"/>
          <p:cNvSpPr/>
          <p:nvPr/>
        </p:nvSpPr>
        <p:spPr>
          <a:xfrm>
            <a:off x="8119872" y="2761488"/>
            <a:ext cx="3611880" cy="868680"/>
          </a:xfrm>
          <a:prstGeom prst="roundRect">
            <a:avLst>
              <a:gd name="adj" fmla="val 6316"/>
            </a:avLst>
          </a:prstGeom>
          <a:solidFill>
            <a:srgbClr val="FFFFFF"/>
          </a:solidFill>
          <a:ln w="12700">
            <a:solidFill>
              <a:srgbClr val="D8E1EC"/>
            </a:solidFill>
            <a:prstDash val="solid"/>
          </a:ln>
          <a:effectLst>
            <a:outerShdw sx="100000" sy="100000" kx="0" ky="0" algn="bl" rotWithShape="0" blurRad="88900" dist="38100" dir="8100000">
              <a:srgbClr val="1B2A4A">
                <a:alpha val="12000"/>
              </a:srgbClr>
            </a:outerShdw>
          </a:effectLst>
        </p:spPr>
      </p:sp>
      <p:sp>
        <p:nvSpPr>
          <p:cNvPr id="29" name="Shape 27"/>
          <p:cNvSpPr/>
          <p:nvPr/>
        </p:nvSpPr>
        <p:spPr>
          <a:xfrm>
            <a:off x="8119872" y="2761488"/>
            <a:ext cx="118872" cy="868680"/>
          </a:xfrm>
          <a:prstGeom prst="rect">
            <a:avLst/>
          </a:prstGeom>
          <a:solidFill>
            <a:srgbClr val="64748B"/>
          </a:solidFill>
          <a:ln/>
        </p:spPr>
      </p:sp>
      <p:sp>
        <p:nvSpPr>
          <p:cNvPr id="30" name="Text 28"/>
          <p:cNvSpPr/>
          <p:nvPr/>
        </p:nvSpPr>
        <p:spPr>
          <a:xfrm>
            <a:off x="8394192" y="2761488"/>
            <a:ext cx="3200400" cy="868680"/>
          </a:xfrm>
          <a:prstGeom prst="rect">
            <a:avLst/>
          </a:prstGeom>
          <a:noFill/>
          <a:ln/>
        </p:spPr>
        <p:txBody>
          <a:bodyPr wrap="square" lIns="25400" tIns="25400" rIns="25400" bIns="25400" rtlCol="0" anchor="ctr"/>
          <a:lstStyle/>
          <a:p>
            <a:pPr indent="0" marL="0">
              <a:lnSpc>
                <a:spcPct val="100000"/>
              </a:lnSpc>
              <a:buNone/>
            </a:pPr>
            <a:r>
              <a:rPr lang="en-US" sz="1250" b="1" dirty="0">
                <a:solidFill>
                  <a:srgbClr val="27313F"/>
                </a:solidFill>
                <a:latin typeface="Calibri" pitchFamily="34" charset="0"/>
                <a:ea typeface="Calibri" pitchFamily="34" charset="-122"/>
                <a:cs typeface="Calibri" pitchFamily="34" charset="-120"/>
              </a:rPr>
              <a:t>Coder does it</a:t>
            </a:r>
            <a:endParaRPr lang="en-US" sz="1250" dirty="0"/>
          </a:p>
          <a:p>
            <a:pPr indent="0" marL="0">
              <a:lnSpc>
                <a:spcPct val="100000"/>
              </a:lnSpc>
              <a:buNone/>
            </a:pPr>
            <a:r>
              <a:rPr lang="en-US" sz="1050" dirty="0">
                <a:solidFill>
                  <a:srgbClr val="6B7A8D"/>
                </a:solidFill>
                <a:latin typeface="Calibri" pitchFamily="34" charset="0"/>
                <a:ea typeface="Calibri" pitchFamily="34" charset="-122"/>
                <a:cs typeface="Calibri" pitchFamily="34" charset="-120"/>
              </a:rPr>
              <a:t>AI hands over a head start, a person finishes</a:t>
            </a:r>
            <a:endParaRPr lang="en-US" sz="1250" dirty="0"/>
          </a:p>
        </p:txBody>
      </p:sp>
      <p:sp>
        <p:nvSpPr>
          <p:cNvPr id="31" name="Shape 29"/>
          <p:cNvSpPr/>
          <p:nvPr/>
        </p:nvSpPr>
        <p:spPr>
          <a:xfrm>
            <a:off x="457200" y="3913632"/>
            <a:ext cx="5541264" cy="1115568"/>
          </a:xfrm>
          <a:prstGeom prst="roundRect">
            <a:avLst>
              <a:gd name="adj" fmla="val 5738"/>
            </a:avLst>
          </a:prstGeom>
          <a:solidFill>
            <a:srgbClr val="EAF1F8"/>
          </a:solidFill>
          <a:ln w="12700">
            <a:solidFill>
              <a:srgbClr val="D8E1EC"/>
            </a:solidFill>
            <a:prstDash val="solid"/>
          </a:ln>
          <a:effectLst>
            <a:outerShdw sx="100000" sy="100000" kx="0" ky="0" algn="bl" rotWithShape="0" blurRad="88900" dist="38100" dir="8100000">
              <a:srgbClr val="1B2A4A">
                <a:alpha val="12000"/>
              </a:srgbClr>
            </a:outerShdw>
          </a:effectLst>
        </p:spPr>
      </p:sp>
      <p:sp>
        <p:nvSpPr>
          <p:cNvPr id="32" name="Text 30"/>
          <p:cNvSpPr/>
          <p:nvPr/>
        </p:nvSpPr>
        <p:spPr>
          <a:xfrm>
            <a:off x="658368" y="4032504"/>
            <a:ext cx="5175504" cy="274320"/>
          </a:xfrm>
          <a:prstGeom prst="rect">
            <a:avLst/>
          </a:prstGeom>
          <a:noFill/>
          <a:ln/>
        </p:spPr>
        <p:txBody>
          <a:bodyPr wrap="square" lIns="0" tIns="0" rIns="0" bIns="0" rtlCol="0" anchor="ctr"/>
          <a:lstStyle/>
          <a:p>
            <a:pPr indent="0" marL="0">
              <a:buNone/>
            </a:pPr>
            <a:r>
              <a:rPr lang="en-US" sz="1250" b="1" dirty="0">
                <a:solidFill>
                  <a:srgbClr val="1B2A4A"/>
                </a:solidFill>
                <a:latin typeface="Calibri" pitchFamily="34" charset="0"/>
                <a:ea typeface="Calibri" pitchFamily="34" charset="-122"/>
                <a:cs typeface="Calibri" pitchFamily="34" charset="-120"/>
              </a:rPr>
              <a:t>If the notes fall short — a physician query</a:t>
            </a:r>
            <a:endParaRPr lang="en-US" sz="1250" dirty="0"/>
          </a:p>
        </p:txBody>
      </p:sp>
      <p:sp>
        <p:nvSpPr>
          <p:cNvPr id="33" name="Text 31"/>
          <p:cNvSpPr/>
          <p:nvPr/>
        </p:nvSpPr>
        <p:spPr>
          <a:xfrm>
            <a:off x="658368" y="4343400"/>
            <a:ext cx="5129784" cy="658368"/>
          </a:xfrm>
          <a:prstGeom prst="rect">
            <a:avLst/>
          </a:prstGeom>
          <a:noFill/>
          <a:ln/>
        </p:spPr>
        <p:txBody>
          <a:bodyPr wrap="square" lIns="0" tIns="0" rIns="0" bIns="0" rtlCol="0" anchor="t"/>
          <a:lstStyle/>
          <a:p>
            <a:pPr indent="0" marL="0">
              <a:lnSpc>
                <a:spcPct val="100000"/>
              </a:lnSpc>
              <a:buNone/>
            </a:pPr>
            <a:r>
              <a:rPr lang="en-US" sz="1100" dirty="0">
                <a:solidFill>
                  <a:srgbClr val="6B7A8D"/>
                </a:solidFill>
                <a:latin typeface="Calibri" pitchFamily="34" charset="0"/>
                <a:ea typeface="Calibri" pitchFamily="34" charset="-122"/>
                <a:cs typeface="Calibri" pitchFamily="34" charset="-120"/>
              </a:rPr>
              <a:t>When the documentation can't support a more specific code, ACE writes a compliant, non-leading question for the physician. Their answer re-codes the chart.</a:t>
            </a:r>
            <a:endParaRPr lang="en-US" sz="1100" dirty="0"/>
          </a:p>
        </p:txBody>
      </p:sp>
      <p:sp>
        <p:nvSpPr>
          <p:cNvPr id="34" name="Shape 32"/>
          <p:cNvSpPr/>
          <p:nvPr/>
        </p:nvSpPr>
        <p:spPr>
          <a:xfrm>
            <a:off x="6190488" y="3913632"/>
            <a:ext cx="5541264" cy="1115568"/>
          </a:xfrm>
          <a:prstGeom prst="roundRect">
            <a:avLst>
              <a:gd name="adj" fmla="val 5738"/>
            </a:avLst>
          </a:prstGeom>
          <a:solidFill>
            <a:srgbClr val="EAF1F8"/>
          </a:solidFill>
          <a:ln w="12700">
            <a:solidFill>
              <a:srgbClr val="D8E1EC"/>
            </a:solidFill>
            <a:prstDash val="solid"/>
          </a:ln>
          <a:effectLst>
            <a:outerShdw sx="100000" sy="100000" kx="0" ky="0" algn="bl" rotWithShape="0" blurRad="88900" dist="38100" dir="8100000">
              <a:srgbClr val="1B2A4A">
                <a:alpha val="12000"/>
              </a:srgbClr>
            </a:outerShdw>
          </a:effectLst>
        </p:spPr>
      </p:sp>
      <p:sp>
        <p:nvSpPr>
          <p:cNvPr id="35" name="Text 33"/>
          <p:cNvSpPr/>
          <p:nvPr/>
        </p:nvSpPr>
        <p:spPr>
          <a:xfrm>
            <a:off x="6391656" y="4032504"/>
            <a:ext cx="5175504" cy="274320"/>
          </a:xfrm>
          <a:prstGeom prst="rect">
            <a:avLst/>
          </a:prstGeom>
          <a:noFill/>
          <a:ln/>
        </p:spPr>
        <p:txBody>
          <a:bodyPr wrap="square" lIns="0" tIns="0" rIns="0" bIns="0" rtlCol="0" anchor="ctr"/>
          <a:lstStyle/>
          <a:p>
            <a:pPr indent="0" marL="0">
              <a:buNone/>
            </a:pPr>
            <a:r>
              <a:rPr lang="en-US" sz="1250" b="1" dirty="0">
                <a:solidFill>
                  <a:srgbClr val="1B2A4A"/>
                </a:solidFill>
                <a:latin typeface="Calibri" pitchFamily="34" charset="0"/>
                <a:ea typeface="Calibri" pitchFamily="34" charset="-122"/>
                <a:cs typeface="Calibri" pitchFamily="34" charset="-120"/>
              </a:rPr>
              <a:t>It gets better over time — the feedback loop</a:t>
            </a:r>
            <a:endParaRPr lang="en-US" sz="1250" dirty="0"/>
          </a:p>
        </p:txBody>
      </p:sp>
      <p:sp>
        <p:nvSpPr>
          <p:cNvPr id="36" name="Text 34"/>
          <p:cNvSpPr/>
          <p:nvPr/>
        </p:nvSpPr>
        <p:spPr>
          <a:xfrm>
            <a:off x="6391656" y="4343400"/>
            <a:ext cx="5129784" cy="658368"/>
          </a:xfrm>
          <a:prstGeom prst="rect">
            <a:avLst/>
          </a:prstGeom>
          <a:noFill/>
          <a:ln/>
        </p:spPr>
        <p:txBody>
          <a:bodyPr wrap="square" lIns="0" tIns="0" rIns="0" bIns="0" rtlCol="0" anchor="t"/>
          <a:lstStyle/>
          <a:p>
            <a:pPr indent="0" marL="0">
              <a:lnSpc>
                <a:spcPct val="100000"/>
              </a:lnSpc>
              <a:buNone/>
            </a:pPr>
            <a:r>
              <a:rPr lang="en-US" sz="1100" dirty="0">
                <a:solidFill>
                  <a:srgbClr val="6B7A8D"/>
                </a:solidFill>
                <a:latin typeface="Calibri" pitchFamily="34" charset="0"/>
                <a:ea typeface="Calibri" pitchFamily="34" charset="-122"/>
                <a:cs typeface="Calibri" pitchFamily="34" charset="-120"/>
              </a:rPr>
              <a:t>When a coder corrects ACE, that correction quietly improves the next similar chart (batched every 24–48 hours in production).</a:t>
            </a:r>
            <a:endParaRPr lang="en-US" sz="1100" dirty="0"/>
          </a:p>
        </p:txBody>
      </p:sp>
      <p:sp>
        <p:nvSpPr>
          <p:cNvPr id="37" name="Shape 35"/>
          <p:cNvSpPr/>
          <p:nvPr/>
        </p:nvSpPr>
        <p:spPr>
          <a:xfrm>
            <a:off x="457200" y="5285232"/>
            <a:ext cx="11274552" cy="960120"/>
          </a:xfrm>
          <a:prstGeom prst="roundRect">
            <a:avLst>
              <a:gd name="adj" fmla="val 5714"/>
            </a:avLst>
          </a:prstGeom>
          <a:solidFill>
            <a:srgbClr val="1B2A4A"/>
          </a:solidFill>
          <a:ln/>
        </p:spPr>
      </p:sp>
      <p:sp>
        <p:nvSpPr>
          <p:cNvPr id="38" name="Text 36"/>
          <p:cNvSpPr/>
          <p:nvPr/>
        </p:nvSpPr>
        <p:spPr>
          <a:xfrm>
            <a:off x="713232" y="5285232"/>
            <a:ext cx="10789920" cy="960120"/>
          </a:xfrm>
          <a:prstGeom prst="rect">
            <a:avLst/>
          </a:prstGeom>
          <a:noFill/>
          <a:ln/>
        </p:spPr>
        <p:txBody>
          <a:bodyPr wrap="square" lIns="0" tIns="0" rIns="0" bIns="0" rtlCol="0" anchor="ctr"/>
          <a:lstStyle/>
          <a:p>
            <a:pPr indent="0" marL="0">
              <a:lnSpc>
                <a:spcPct val="102000"/>
              </a:lnSpc>
              <a:buNone/>
            </a:pPr>
            <a:r>
              <a:rPr lang="en-US" sz="1150" b="1" dirty="0">
                <a:solidFill>
                  <a:srgbClr val="FFFFFF"/>
                </a:solidFill>
                <a:latin typeface="Calibri" pitchFamily="34" charset="0"/>
                <a:ea typeface="Calibri" pitchFamily="34" charset="-122"/>
                <a:cs typeface="Calibri" pitchFamily="34" charset="-120"/>
              </a:rPr>
              <a:t>Everything travels with the chart.  </a:t>
            </a:r>
            <a:pPr indent="0" marL="0">
              <a:lnSpc>
                <a:spcPct val="102000"/>
              </a:lnSpc>
              <a:buNone/>
            </a:pPr>
            <a:r>
              <a:rPr lang="en-US" sz="1150" dirty="0">
                <a:solidFill>
                  <a:srgbClr val="CADCFC"/>
                </a:solidFill>
                <a:latin typeface="Calibri" pitchFamily="34" charset="0"/>
                <a:ea typeface="Calibri" pitchFamily="34" charset="-122"/>
                <a:cs typeface="Calibri" pitchFamily="34" charset="-120"/>
              </a:rPr>
              <a:t>The summary, the agent's trace, the confidence score, the citations, the checks and the reason it landed where it did — all attached to the encounter, so any lane can be explained in seconds.</a:t>
            </a:r>
            <a:endParaRPr lang="en-US" sz="1150" dirty="0"/>
          </a:p>
        </p:txBody>
      </p:sp>
      <p:sp>
        <p:nvSpPr>
          <p:cNvPr id="39" name="Shape 37"/>
          <p:cNvSpPr/>
          <p:nvPr/>
        </p:nvSpPr>
        <p:spPr>
          <a:xfrm>
            <a:off x="0" y="6565392"/>
            <a:ext cx="12188952" cy="292608"/>
          </a:xfrm>
          <a:prstGeom prst="rect">
            <a:avLst/>
          </a:prstGeom>
          <a:solidFill>
            <a:srgbClr val="0E1B33"/>
          </a:solidFill>
          <a:ln/>
        </p:spPr>
      </p:sp>
      <p:sp>
        <p:nvSpPr>
          <p:cNvPr id="40" name="Text 38"/>
          <p:cNvSpPr/>
          <p:nvPr/>
        </p:nvSpPr>
        <p:spPr>
          <a:xfrm>
            <a:off x="457200" y="6565392"/>
            <a:ext cx="5486400" cy="292608"/>
          </a:xfrm>
          <a:prstGeom prst="rect">
            <a:avLst/>
          </a:prstGeom>
          <a:noFill/>
          <a:ln/>
        </p:spPr>
        <p:txBody>
          <a:bodyPr wrap="square" lIns="0" tIns="0" rIns="0" bIns="0" rtlCol="0" anchor="ctr"/>
          <a:lstStyle/>
          <a:p>
            <a:pPr indent="0" marL="0">
              <a:buNone/>
            </a:pPr>
            <a:r>
              <a:rPr lang="en-US" sz="850" dirty="0">
                <a:solidFill>
                  <a:srgbClr val="9FB0C7"/>
                </a:solidFill>
                <a:latin typeface="Calibri" pitchFamily="34" charset="0"/>
                <a:ea typeface="Calibri" pitchFamily="34" charset="-122"/>
                <a:cs typeface="Calibri" pitchFamily="34" charset="-120"/>
              </a:rPr>
              <a:t>ACE · Autonomous Coding Engine</a:t>
            </a:r>
            <a:endParaRPr lang="en-US" sz="850" dirty="0"/>
          </a:p>
        </p:txBody>
      </p:sp>
      <p:sp>
        <p:nvSpPr>
          <p:cNvPr id="41" name="Text 39"/>
          <p:cNvSpPr/>
          <p:nvPr/>
        </p:nvSpPr>
        <p:spPr>
          <a:xfrm>
            <a:off x="6245352" y="6565392"/>
            <a:ext cx="5486400" cy="292608"/>
          </a:xfrm>
          <a:prstGeom prst="rect">
            <a:avLst/>
          </a:prstGeom>
          <a:noFill/>
          <a:ln/>
        </p:spPr>
        <p:txBody>
          <a:bodyPr wrap="square" lIns="0" tIns="0" rIns="0" bIns="0" rtlCol="0" anchor="ctr"/>
          <a:lstStyle/>
          <a:p>
            <a:pPr algn="r" indent="0" marL="0">
              <a:buNone/>
            </a:pPr>
            <a:r>
              <a:rPr lang="en-US" sz="850" dirty="0">
                <a:solidFill>
                  <a:srgbClr val="9FB0C7"/>
                </a:solidFill>
                <a:latin typeface="Calibri" pitchFamily="34" charset="0"/>
                <a:ea typeface="Calibri" pitchFamily="34" charset="-122"/>
                <a:cs typeface="Calibri" pitchFamily="34" charset="-120"/>
              </a:rPr>
              <a:t>Nous Infosystems  ·  for Vee Healthtek  ·  Confidential</a:t>
            </a:r>
            <a:endParaRPr lang="en-US" sz="850" dirty="0"/>
          </a:p>
        </p:txBody>
      </p:sp>
      <p:sp>
        <p:nvSpPr>
          <p:cNvPr id="42" name="Text 40"/>
          <p:cNvSpPr/>
          <p:nvPr/>
        </p:nvSpPr>
        <p:spPr>
          <a:xfrm>
            <a:off x="11686032" y="6565392"/>
            <a:ext cx="365760" cy="292608"/>
          </a:xfrm>
          <a:prstGeom prst="rect">
            <a:avLst/>
          </a:prstGeom>
          <a:noFill/>
          <a:ln/>
        </p:spPr>
        <p:txBody>
          <a:bodyPr wrap="square" lIns="0" tIns="0" rIns="0" bIns="0" rtlCol="0" anchor="ctr"/>
          <a:lstStyle/>
          <a:p>
            <a:pPr algn="r" indent="0" marL="0">
              <a:buNone/>
            </a:pPr>
            <a:r>
              <a:rPr lang="en-US" sz="850" b="1" dirty="0">
                <a:solidFill>
                  <a:srgbClr val="13B5A6"/>
                </a:solidFill>
                <a:latin typeface="Calibri" pitchFamily="34" charset="0"/>
                <a:ea typeface="Calibri" pitchFamily="34" charset="-122"/>
                <a:cs typeface="Calibri"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8FC"/>
        </a:solidFill>
      </p:bgPr>
    </p:bg>
    <p:spTree>
      <p:nvGrpSpPr>
        <p:cNvPr id="1" name=""/>
        <p:cNvGrpSpPr/>
        <p:nvPr/>
      </p:nvGrpSpPr>
      <p:grpSpPr>
        <a:xfrm>
          <a:off x="0" y="0"/>
          <a:ext cx="0" cy="0"/>
          <a:chOff x="0" y="0"/>
          <a:chExt cx="0" cy="0"/>
        </a:xfrm>
      </p:grpSpPr>
      <p:sp>
        <p:nvSpPr>
          <p:cNvPr id="2" name="Shape 0"/>
          <p:cNvSpPr/>
          <p:nvPr/>
        </p:nvSpPr>
        <p:spPr>
          <a:xfrm>
            <a:off x="0" y="0"/>
            <a:ext cx="12188952" cy="1078992"/>
          </a:xfrm>
          <a:prstGeom prst="rect">
            <a:avLst/>
          </a:prstGeom>
          <a:solidFill>
            <a:srgbClr val="FFFFFF"/>
          </a:solidFill>
          <a:ln/>
        </p:spPr>
      </p:sp>
      <p:sp>
        <p:nvSpPr>
          <p:cNvPr id="3" name="Shape 1"/>
          <p:cNvSpPr/>
          <p:nvPr/>
        </p:nvSpPr>
        <p:spPr>
          <a:xfrm>
            <a:off x="0" y="1078992"/>
            <a:ext cx="12188952" cy="27432"/>
          </a:xfrm>
          <a:prstGeom prst="rect">
            <a:avLst/>
          </a:prstGeom>
          <a:solidFill>
            <a:srgbClr val="D8E1EC"/>
          </a:solidFill>
          <a:ln/>
        </p:spPr>
      </p:sp>
      <p:sp>
        <p:nvSpPr>
          <p:cNvPr id="4" name="Shape 2"/>
          <p:cNvSpPr/>
          <p:nvPr/>
        </p:nvSpPr>
        <p:spPr>
          <a:xfrm>
            <a:off x="457200" y="310896"/>
            <a:ext cx="109728" cy="512064"/>
          </a:xfrm>
          <a:prstGeom prst="rect">
            <a:avLst/>
          </a:prstGeom>
          <a:solidFill>
            <a:srgbClr val="13B5A6"/>
          </a:solidFill>
          <a:ln/>
        </p:spPr>
      </p:sp>
      <p:sp>
        <p:nvSpPr>
          <p:cNvPr id="5" name="Text 3"/>
          <p:cNvSpPr/>
          <p:nvPr/>
        </p:nvSpPr>
        <p:spPr>
          <a:xfrm>
            <a:off x="713232" y="274320"/>
            <a:ext cx="10058400" cy="237744"/>
          </a:xfrm>
          <a:prstGeom prst="rect">
            <a:avLst/>
          </a:prstGeom>
          <a:noFill/>
          <a:ln/>
        </p:spPr>
        <p:txBody>
          <a:bodyPr wrap="square" lIns="0" tIns="0" rIns="0" bIns="0" rtlCol="0" anchor="ctr"/>
          <a:lstStyle/>
          <a:p>
            <a:pPr indent="0" marL="0">
              <a:buNone/>
            </a:pPr>
            <a:r>
              <a:rPr lang="en-US" sz="1100" b="1" spc="200" kern="0" dirty="0">
                <a:solidFill>
                  <a:srgbClr val="13B5A6"/>
                </a:solidFill>
                <a:latin typeface="Calibri" pitchFamily="34" charset="0"/>
                <a:ea typeface="Calibri" pitchFamily="34" charset="-122"/>
                <a:cs typeface="Calibri" pitchFamily="34" charset="-120"/>
              </a:rPr>
              <a:t>WHAT THE AI ACTUALLY DOES</a:t>
            </a:r>
            <a:endParaRPr lang="en-US" sz="1100" dirty="0"/>
          </a:p>
        </p:txBody>
      </p:sp>
      <p:sp>
        <p:nvSpPr>
          <p:cNvPr id="6" name="Text 4"/>
          <p:cNvSpPr/>
          <p:nvPr/>
        </p:nvSpPr>
        <p:spPr>
          <a:xfrm>
            <a:off x="713232" y="475488"/>
            <a:ext cx="11155680" cy="457200"/>
          </a:xfrm>
          <a:prstGeom prst="rect">
            <a:avLst/>
          </a:prstGeom>
          <a:noFill/>
          <a:ln/>
        </p:spPr>
        <p:txBody>
          <a:bodyPr wrap="square" lIns="0" tIns="0" rIns="0" bIns="0" rtlCol="0" anchor="ctr"/>
          <a:lstStyle/>
          <a:p>
            <a:pPr indent="0" marL="0">
              <a:buNone/>
            </a:pPr>
            <a:r>
              <a:rPr lang="en-US" sz="2300" b="1" dirty="0">
                <a:solidFill>
                  <a:srgbClr val="1B2A4A"/>
                </a:solidFill>
                <a:latin typeface="Georgia" pitchFamily="34" charset="0"/>
                <a:ea typeface="Georgia" pitchFamily="34" charset="-122"/>
                <a:cs typeface="Georgia" pitchFamily="34" charset="-120"/>
              </a:rPr>
              <a:t>Six places the model does the heavy lifting</a:t>
            </a:r>
            <a:endParaRPr lang="en-US" sz="2300" dirty="0"/>
          </a:p>
        </p:txBody>
      </p:sp>
      <p:sp>
        <p:nvSpPr>
          <p:cNvPr id="7" name="Shape 5"/>
          <p:cNvSpPr/>
          <p:nvPr/>
        </p:nvSpPr>
        <p:spPr>
          <a:xfrm>
            <a:off x="457200" y="1417320"/>
            <a:ext cx="5541264" cy="1371600"/>
          </a:xfrm>
          <a:prstGeom prst="roundRect">
            <a:avLst>
              <a:gd name="adj" fmla="val 4667"/>
            </a:avLst>
          </a:prstGeom>
          <a:solidFill>
            <a:srgbClr val="FFFFFF"/>
          </a:solidFill>
          <a:ln w="12700">
            <a:solidFill>
              <a:srgbClr val="D8E1EC"/>
            </a:solidFill>
            <a:prstDash val="solid"/>
          </a:ln>
          <a:effectLst>
            <a:outerShdw sx="100000" sy="100000" kx="0" ky="0" algn="bl" rotWithShape="0" blurRad="88900" dist="38100" dir="8100000">
              <a:srgbClr val="1B2A4A">
                <a:alpha val="12000"/>
              </a:srgbClr>
            </a:outerShdw>
          </a:effectLst>
        </p:spPr>
      </p:sp>
      <p:sp>
        <p:nvSpPr>
          <p:cNvPr id="8" name="Shape 6"/>
          <p:cNvSpPr/>
          <p:nvPr/>
        </p:nvSpPr>
        <p:spPr>
          <a:xfrm>
            <a:off x="685800" y="1709928"/>
            <a:ext cx="786384" cy="786384"/>
          </a:xfrm>
          <a:prstGeom prst="ellipse">
            <a:avLst/>
          </a:prstGeom>
          <a:solidFill>
            <a:srgbClr val="EAF1F8"/>
          </a:solidFill>
          <a:ln/>
        </p:spPr>
      </p:sp>
      <p:sp>
        <p:nvSpPr>
          <p:cNvPr id="9" name="Text 7"/>
          <p:cNvSpPr/>
          <p:nvPr/>
        </p:nvSpPr>
        <p:spPr>
          <a:xfrm>
            <a:off x="685800" y="1709928"/>
            <a:ext cx="786384" cy="786384"/>
          </a:xfrm>
          <a:prstGeom prst="rect">
            <a:avLst/>
          </a:prstGeom>
          <a:noFill/>
          <a:ln/>
        </p:spPr>
        <p:txBody>
          <a:bodyPr wrap="square" lIns="0" tIns="0" rIns="0" bIns="0" rtlCol="0" anchor="ctr"/>
          <a:lstStyle/>
          <a:p>
            <a:pPr algn="ctr" indent="0" marL="0">
              <a:buNone/>
            </a:pPr>
            <a:r>
              <a:rPr lang="en-US" sz="2200" b="1" dirty="0">
                <a:solidFill>
                  <a:srgbClr val="0E8C81"/>
                </a:solidFill>
                <a:latin typeface="Georgia" pitchFamily="34" charset="0"/>
                <a:ea typeface="Georgia" pitchFamily="34" charset="-122"/>
                <a:cs typeface="Georgia" pitchFamily="34" charset="-120"/>
              </a:rPr>
              <a:t>1</a:t>
            </a:r>
            <a:endParaRPr lang="en-US" sz="2200" dirty="0"/>
          </a:p>
        </p:txBody>
      </p:sp>
      <p:sp>
        <p:nvSpPr>
          <p:cNvPr id="10" name="Text 8"/>
          <p:cNvSpPr/>
          <p:nvPr/>
        </p:nvSpPr>
        <p:spPr>
          <a:xfrm>
            <a:off x="1645920" y="1600200"/>
            <a:ext cx="4123944" cy="365760"/>
          </a:xfrm>
          <a:prstGeom prst="rect">
            <a:avLst/>
          </a:prstGeom>
          <a:noFill/>
          <a:ln/>
        </p:spPr>
        <p:txBody>
          <a:bodyPr wrap="square" lIns="0" tIns="0" rIns="0" bIns="0" rtlCol="0" anchor="ctr"/>
          <a:lstStyle/>
          <a:p>
            <a:pPr indent="0" marL="0">
              <a:buNone/>
            </a:pPr>
            <a:r>
              <a:rPr lang="en-US" sz="1350" b="1" dirty="0">
                <a:solidFill>
                  <a:srgbClr val="1B2A4A"/>
                </a:solidFill>
                <a:latin typeface="Calibri" pitchFamily="34" charset="0"/>
                <a:ea typeface="Calibri" pitchFamily="34" charset="-122"/>
                <a:cs typeface="Calibri" pitchFamily="34" charset="-120"/>
              </a:rPr>
              <a:t>Reads and summarises the chart</a:t>
            </a:r>
            <a:endParaRPr lang="en-US" sz="1350" dirty="0"/>
          </a:p>
        </p:txBody>
      </p:sp>
      <p:sp>
        <p:nvSpPr>
          <p:cNvPr id="11" name="Text 9"/>
          <p:cNvSpPr/>
          <p:nvPr/>
        </p:nvSpPr>
        <p:spPr>
          <a:xfrm>
            <a:off x="1645920" y="1947672"/>
            <a:ext cx="4123944" cy="777240"/>
          </a:xfrm>
          <a:prstGeom prst="rect">
            <a:avLst/>
          </a:prstGeom>
          <a:noFill/>
          <a:ln/>
        </p:spPr>
        <p:txBody>
          <a:bodyPr wrap="square" lIns="0" tIns="0" rIns="0" bIns="0" rtlCol="0" anchor="t"/>
          <a:lstStyle/>
          <a:p>
            <a:pPr indent="0" marL="0">
              <a:lnSpc>
                <a:spcPct val="100000"/>
              </a:lnSpc>
              <a:buNone/>
            </a:pPr>
            <a:r>
              <a:rPr lang="en-US" sz="1100" dirty="0">
                <a:solidFill>
                  <a:srgbClr val="6B7A8D"/>
                </a:solidFill>
                <a:latin typeface="Calibri" pitchFamily="34" charset="0"/>
                <a:ea typeface="Calibri" pitchFamily="34" charset="-122"/>
                <a:cs typeface="Calibri" pitchFamily="34" charset="-120"/>
              </a:rPr>
              <a:t>Turns a free-text report — or a scanned PDF / fax it transcribes itself — into structured findings, procedures, laterality and contrast.</a:t>
            </a:r>
            <a:endParaRPr lang="en-US" sz="1100" dirty="0"/>
          </a:p>
        </p:txBody>
      </p:sp>
      <p:sp>
        <p:nvSpPr>
          <p:cNvPr id="12" name="Shape 10"/>
          <p:cNvSpPr/>
          <p:nvPr/>
        </p:nvSpPr>
        <p:spPr>
          <a:xfrm>
            <a:off x="6190488" y="1417320"/>
            <a:ext cx="5541264" cy="1371600"/>
          </a:xfrm>
          <a:prstGeom prst="roundRect">
            <a:avLst>
              <a:gd name="adj" fmla="val 4667"/>
            </a:avLst>
          </a:prstGeom>
          <a:solidFill>
            <a:srgbClr val="FFFFFF"/>
          </a:solidFill>
          <a:ln w="12700">
            <a:solidFill>
              <a:srgbClr val="D8E1EC"/>
            </a:solidFill>
            <a:prstDash val="solid"/>
          </a:ln>
          <a:effectLst>
            <a:outerShdw sx="100000" sy="100000" kx="0" ky="0" algn="bl" rotWithShape="0" blurRad="88900" dist="38100" dir="8100000">
              <a:srgbClr val="1B2A4A">
                <a:alpha val="12000"/>
              </a:srgbClr>
            </a:outerShdw>
          </a:effectLst>
        </p:spPr>
      </p:sp>
      <p:sp>
        <p:nvSpPr>
          <p:cNvPr id="13" name="Shape 11"/>
          <p:cNvSpPr/>
          <p:nvPr/>
        </p:nvSpPr>
        <p:spPr>
          <a:xfrm>
            <a:off x="6419088" y="1709928"/>
            <a:ext cx="786384" cy="786384"/>
          </a:xfrm>
          <a:prstGeom prst="ellipse">
            <a:avLst/>
          </a:prstGeom>
          <a:solidFill>
            <a:srgbClr val="EAF1F8"/>
          </a:solidFill>
          <a:ln/>
        </p:spPr>
      </p:sp>
      <p:sp>
        <p:nvSpPr>
          <p:cNvPr id="14" name="Text 12"/>
          <p:cNvSpPr/>
          <p:nvPr/>
        </p:nvSpPr>
        <p:spPr>
          <a:xfrm>
            <a:off x="6419088" y="1709928"/>
            <a:ext cx="786384" cy="786384"/>
          </a:xfrm>
          <a:prstGeom prst="rect">
            <a:avLst/>
          </a:prstGeom>
          <a:noFill/>
          <a:ln/>
        </p:spPr>
        <p:txBody>
          <a:bodyPr wrap="square" lIns="0" tIns="0" rIns="0" bIns="0" rtlCol="0" anchor="ctr"/>
          <a:lstStyle/>
          <a:p>
            <a:pPr algn="ctr" indent="0" marL="0">
              <a:buNone/>
            </a:pPr>
            <a:r>
              <a:rPr lang="en-US" sz="2200" b="1" dirty="0">
                <a:solidFill>
                  <a:srgbClr val="0E8C81"/>
                </a:solidFill>
                <a:latin typeface="Georgia" pitchFamily="34" charset="0"/>
                <a:ea typeface="Georgia" pitchFamily="34" charset="-122"/>
                <a:cs typeface="Georgia" pitchFamily="34" charset="-120"/>
              </a:rPr>
              <a:t>2</a:t>
            </a:r>
            <a:endParaRPr lang="en-US" sz="2200" dirty="0"/>
          </a:p>
        </p:txBody>
      </p:sp>
      <p:sp>
        <p:nvSpPr>
          <p:cNvPr id="15" name="Text 13"/>
          <p:cNvSpPr/>
          <p:nvPr/>
        </p:nvSpPr>
        <p:spPr>
          <a:xfrm>
            <a:off x="7379208" y="1600200"/>
            <a:ext cx="4123944" cy="365760"/>
          </a:xfrm>
          <a:prstGeom prst="rect">
            <a:avLst/>
          </a:prstGeom>
          <a:noFill/>
          <a:ln/>
        </p:spPr>
        <p:txBody>
          <a:bodyPr wrap="square" lIns="0" tIns="0" rIns="0" bIns="0" rtlCol="0" anchor="ctr"/>
          <a:lstStyle/>
          <a:p>
            <a:pPr indent="0" marL="0">
              <a:buNone/>
            </a:pPr>
            <a:r>
              <a:rPr lang="en-US" sz="1350" b="1" dirty="0">
                <a:solidFill>
                  <a:srgbClr val="1B2A4A"/>
                </a:solidFill>
                <a:latin typeface="Calibri" pitchFamily="34" charset="0"/>
                <a:ea typeface="Calibri" pitchFamily="34" charset="-122"/>
                <a:cs typeface="Calibri" pitchFamily="34" charset="-120"/>
              </a:rPr>
              <a:t>Picks codes it can back up</a:t>
            </a:r>
            <a:endParaRPr lang="en-US" sz="1350" dirty="0"/>
          </a:p>
        </p:txBody>
      </p:sp>
      <p:sp>
        <p:nvSpPr>
          <p:cNvPr id="16" name="Text 14"/>
          <p:cNvSpPr/>
          <p:nvPr/>
        </p:nvSpPr>
        <p:spPr>
          <a:xfrm>
            <a:off x="7379208" y="1947672"/>
            <a:ext cx="4123944" cy="777240"/>
          </a:xfrm>
          <a:prstGeom prst="rect">
            <a:avLst/>
          </a:prstGeom>
          <a:noFill/>
          <a:ln/>
        </p:spPr>
        <p:txBody>
          <a:bodyPr wrap="square" lIns="0" tIns="0" rIns="0" bIns="0" rtlCol="0" anchor="t"/>
          <a:lstStyle/>
          <a:p>
            <a:pPr indent="0" marL="0">
              <a:lnSpc>
                <a:spcPct val="100000"/>
              </a:lnSpc>
              <a:buNone/>
            </a:pPr>
            <a:r>
              <a:rPr lang="en-US" sz="1100" dirty="0">
                <a:solidFill>
                  <a:srgbClr val="6B7A8D"/>
                </a:solidFill>
                <a:latin typeface="Calibri" pitchFamily="34" charset="0"/>
                <a:ea typeface="Calibri" pitchFamily="34" charset="-122"/>
                <a:cs typeface="Calibri" pitchFamily="34" charset="-120"/>
              </a:rPr>
              <a:t>It can only choose from codes the knowledge graph surfaced, so it can't invent one.</a:t>
            </a:r>
            <a:endParaRPr lang="en-US" sz="1100" dirty="0"/>
          </a:p>
        </p:txBody>
      </p:sp>
      <p:sp>
        <p:nvSpPr>
          <p:cNvPr id="17" name="Shape 15"/>
          <p:cNvSpPr/>
          <p:nvPr/>
        </p:nvSpPr>
        <p:spPr>
          <a:xfrm>
            <a:off x="457200" y="2953512"/>
            <a:ext cx="5541264" cy="1371600"/>
          </a:xfrm>
          <a:prstGeom prst="roundRect">
            <a:avLst>
              <a:gd name="adj" fmla="val 4667"/>
            </a:avLst>
          </a:prstGeom>
          <a:solidFill>
            <a:srgbClr val="FFFFFF"/>
          </a:solidFill>
          <a:ln w="12700">
            <a:solidFill>
              <a:srgbClr val="D8E1EC"/>
            </a:solidFill>
            <a:prstDash val="solid"/>
          </a:ln>
          <a:effectLst>
            <a:outerShdw sx="100000" sy="100000" kx="0" ky="0" algn="bl" rotWithShape="0" blurRad="88900" dist="38100" dir="8100000">
              <a:srgbClr val="1B2A4A">
                <a:alpha val="12000"/>
              </a:srgbClr>
            </a:outerShdw>
          </a:effectLst>
        </p:spPr>
      </p:sp>
      <p:sp>
        <p:nvSpPr>
          <p:cNvPr id="18" name="Shape 16"/>
          <p:cNvSpPr/>
          <p:nvPr/>
        </p:nvSpPr>
        <p:spPr>
          <a:xfrm>
            <a:off x="685800" y="3246120"/>
            <a:ext cx="786384" cy="786384"/>
          </a:xfrm>
          <a:prstGeom prst="ellipse">
            <a:avLst/>
          </a:prstGeom>
          <a:solidFill>
            <a:srgbClr val="EAF1F8"/>
          </a:solidFill>
          <a:ln/>
        </p:spPr>
      </p:sp>
      <p:sp>
        <p:nvSpPr>
          <p:cNvPr id="19" name="Text 17"/>
          <p:cNvSpPr/>
          <p:nvPr/>
        </p:nvSpPr>
        <p:spPr>
          <a:xfrm>
            <a:off x="685800" y="3246120"/>
            <a:ext cx="786384" cy="786384"/>
          </a:xfrm>
          <a:prstGeom prst="rect">
            <a:avLst/>
          </a:prstGeom>
          <a:noFill/>
          <a:ln/>
        </p:spPr>
        <p:txBody>
          <a:bodyPr wrap="square" lIns="0" tIns="0" rIns="0" bIns="0" rtlCol="0" anchor="ctr"/>
          <a:lstStyle/>
          <a:p>
            <a:pPr algn="ctr" indent="0" marL="0">
              <a:buNone/>
            </a:pPr>
            <a:r>
              <a:rPr lang="en-US" sz="2200" b="1" dirty="0">
                <a:solidFill>
                  <a:srgbClr val="0E8C81"/>
                </a:solidFill>
                <a:latin typeface="Georgia" pitchFamily="34" charset="0"/>
                <a:ea typeface="Georgia" pitchFamily="34" charset="-122"/>
                <a:cs typeface="Georgia" pitchFamily="34" charset="-120"/>
              </a:rPr>
              <a:t>3</a:t>
            </a:r>
            <a:endParaRPr lang="en-US" sz="2200" dirty="0"/>
          </a:p>
        </p:txBody>
      </p:sp>
      <p:sp>
        <p:nvSpPr>
          <p:cNvPr id="20" name="Text 18"/>
          <p:cNvSpPr/>
          <p:nvPr/>
        </p:nvSpPr>
        <p:spPr>
          <a:xfrm>
            <a:off x="1645920" y="3136392"/>
            <a:ext cx="4123944" cy="365760"/>
          </a:xfrm>
          <a:prstGeom prst="rect">
            <a:avLst/>
          </a:prstGeom>
          <a:noFill/>
          <a:ln/>
        </p:spPr>
        <p:txBody>
          <a:bodyPr wrap="square" lIns="0" tIns="0" rIns="0" bIns="0" rtlCol="0" anchor="ctr"/>
          <a:lstStyle/>
          <a:p>
            <a:pPr indent="0" marL="0">
              <a:buNone/>
            </a:pPr>
            <a:r>
              <a:rPr lang="en-US" sz="1350" b="1" dirty="0">
                <a:solidFill>
                  <a:srgbClr val="1B2A4A"/>
                </a:solidFill>
                <a:latin typeface="Calibri" pitchFamily="34" charset="0"/>
                <a:ea typeface="Calibri" pitchFamily="34" charset="-122"/>
                <a:cs typeface="Calibri" pitchFamily="34" charset="-120"/>
              </a:rPr>
              <a:t>Cites every code</a:t>
            </a:r>
            <a:endParaRPr lang="en-US" sz="1350" dirty="0"/>
          </a:p>
        </p:txBody>
      </p:sp>
      <p:sp>
        <p:nvSpPr>
          <p:cNvPr id="21" name="Text 19"/>
          <p:cNvSpPr/>
          <p:nvPr/>
        </p:nvSpPr>
        <p:spPr>
          <a:xfrm>
            <a:off x="1645920" y="3483864"/>
            <a:ext cx="4123944" cy="777240"/>
          </a:xfrm>
          <a:prstGeom prst="rect">
            <a:avLst/>
          </a:prstGeom>
          <a:noFill/>
          <a:ln/>
        </p:spPr>
        <p:txBody>
          <a:bodyPr wrap="square" lIns="0" tIns="0" rIns="0" bIns="0" rtlCol="0" anchor="t"/>
          <a:lstStyle/>
          <a:p>
            <a:pPr indent="0" marL="0">
              <a:lnSpc>
                <a:spcPct val="100000"/>
              </a:lnSpc>
              <a:buNone/>
            </a:pPr>
            <a:r>
              <a:rPr lang="en-US" sz="1100" dirty="0">
                <a:solidFill>
                  <a:srgbClr val="6B7A8D"/>
                </a:solidFill>
                <a:latin typeface="Calibri" pitchFamily="34" charset="0"/>
                <a:ea typeface="Calibri" pitchFamily="34" charset="-122"/>
                <a:cs typeface="Calibri" pitchFamily="34" charset="-120"/>
              </a:rPr>
              <a:t>Each code is tied to the line in the chart and the guideline behind it — and those citations are checked before anything is accepted.</a:t>
            </a:r>
            <a:endParaRPr lang="en-US" sz="1100" dirty="0"/>
          </a:p>
        </p:txBody>
      </p:sp>
      <p:sp>
        <p:nvSpPr>
          <p:cNvPr id="22" name="Shape 20"/>
          <p:cNvSpPr/>
          <p:nvPr/>
        </p:nvSpPr>
        <p:spPr>
          <a:xfrm>
            <a:off x="6190488" y="2953512"/>
            <a:ext cx="5541264" cy="1371600"/>
          </a:xfrm>
          <a:prstGeom prst="roundRect">
            <a:avLst>
              <a:gd name="adj" fmla="val 4667"/>
            </a:avLst>
          </a:prstGeom>
          <a:solidFill>
            <a:srgbClr val="FFFFFF"/>
          </a:solidFill>
          <a:ln w="12700">
            <a:solidFill>
              <a:srgbClr val="D8E1EC"/>
            </a:solidFill>
            <a:prstDash val="solid"/>
          </a:ln>
          <a:effectLst>
            <a:outerShdw sx="100000" sy="100000" kx="0" ky="0" algn="bl" rotWithShape="0" blurRad="88900" dist="38100" dir="8100000">
              <a:srgbClr val="1B2A4A">
                <a:alpha val="12000"/>
              </a:srgbClr>
            </a:outerShdw>
          </a:effectLst>
        </p:spPr>
      </p:sp>
      <p:sp>
        <p:nvSpPr>
          <p:cNvPr id="23" name="Shape 21"/>
          <p:cNvSpPr/>
          <p:nvPr/>
        </p:nvSpPr>
        <p:spPr>
          <a:xfrm>
            <a:off x="6419088" y="3246120"/>
            <a:ext cx="786384" cy="786384"/>
          </a:xfrm>
          <a:prstGeom prst="ellipse">
            <a:avLst/>
          </a:prstGeom>
          <a:solidFill>
            <a:srgbClr val="EAF1F8"/>
          </a:solidFill>
          <a:ln/>
        </p:spPr>
      </p:sp>
      <p:sp>
        <p:nvSpPr>
          <p:cNvPr id="24" name="Text 22"/>
          <p:cNvSpPr/>
          <p:nvPr/>
        </p:nvSpPr>
        <p:spPr>
          <a:xfrm>
            <a:off x="6419088" y="3246120"/>
            <a:ext cx="786384" cy="786384"/>
          </a:xfrm>
          <a:prstGeom prst="rect">
            <a:avLst/>
          </a:prstGeom>
          <a:noFill/>
          <a:ln/>
        </p:spPr>
        <p:txBody>
          <a:bodyPr wrap="square" lIns="0" tIns="0" rIns="0" bIns="0" rtlCol="0" anchor="ctr"/>
          <a:lstStyle/>
          <a:p>
            <a:pPr algn="ctr" indent="0" marL="0">
              <a:buNone/>
            </a:pPr>
            <a:r>
              <a:rPr lang="en-US" sz="2200" b="1" dirty="0">
                <a:solidFill>
                  <a:srgbClr val="0E8C81"/>
                </a:solidFill>
                <a:latin typeface="Georgia" pitchFamily="34" charset="0"/>
                <a:ea typeface="Georgia" pitchFamily="34" charset="-122"/>
                <a:cs typeface="Georgia" pitchFamily="34" charset="-120"/>
              </a:rPr>
              <a:t>4</a:t>
            </a:r>
            <a:endParaRPr lang="en-US" sz="2200" dirty="0"/>
          </a:p>
        </p:txBody>
      </p:sp>
      <p:sp>
        <p:nvSpPr>
          <p:cNvPr id="25" name="Text 23"/>
          <p:cNvSpPr/>
          <p:nvPr/>
        </p:nvSpPr>
        <p:spPr>
          <a:xfrm>
            <a:off x="7379208" y="3136392"/>
            <a:ext cx="4123944" cy="365760"/>
          </a:xfrm>
          <a:prstGeom prst="rect">
            <a:avLst/>
          </a:prstGeom>
          <a:noFill/>
          <a:ln/>
        </p:spPr>
        <p:txBody>
          <a:bodyPr wrap="square" lIns="0" tIns="0" rIns="0" bIns="0" rtlCol="0" anchor="ctr"/>
          <a:lstStyle/>
          <a:p>
            <a:pPr indent="0" marL="0">
              <a:buNone/>
            </a:pPr>
            <a:r>
              <a:rPr lang="en-US" sz="1350" b="1" dirty="0">
                <a:solidFill>
                  <a:srgbClr val="1B2A4A"/>
                </a:solidFill>
                <a:latin typeface="Calibri" pitchFamily="34" charset="0"/>
                <a:ea typeface="Calibri" pitchFamily="34" charset="-122"/>
                <a:cs typeface="Calibri" pitchFamily="34" charset="-120"/>
              </a:rPr>
              <a:t>Double-checks the hard ones</a:t>
            </a:r>
            <a:endParaRPr lang="en-US" sz="1350" dirty="0"/>
          </a:p>
        </p:txBody>
      </p:sp>
      <p:sp>
        <p:nvSpPr>
          <p:cNvPr id="26" name="Text 24"/>
          <p:cNvSpPr/>
          <p:nvPr/>
        </p:nvSpPr>
        <p:spPr>
          <a:xfrm>
            <a:off x="7379208" y="3483864"/>
            <a:ext cx="4123944" cy="777240"/>
          </a:xfrm>
          <a:prstGeom prst="rect">
            <a:avLst/>
          </a:prstGeom>
          <a:noFill/>
          <a:ln/>
        </p:spPr>
        <p:txBody>
          <a:bodyPr wrap="square" lIns="0" tIns="0" rIns="0" bIns="0" rtlCol="0" anchor="t"/>
          <a:lstStyle/>
          <a:p>
            <a:pPr indent="0" marL="0">
              <a:lnSpc>
                <a:spcPct val="100000"/>
              </a:lnSpc>
              <a:buNone/>
            </a:pPr>
            <a:r>
              <a:rPr lang="en-US" sz="1100" dirty="0">
                <a:solidFill>
                  <a:srgbClr val="6B7A8D"/>
                </a:solidFill>
                <a:latin typeface="Calibri" pitchFamily="34" charset="0"/>
                <a:ea typeface="Calibri" pitchFamily="34" charset="-122"/>
                <a:cs typeface="Calibri" pitchFamily="34" charset="-120"/>
              </a:rPr>
              <a:t>On ambiguous or multi-procedure charts it codes more than once and compares, catching the confident-but-wrong cases.</a:t>
            </a:r>
            <a:endParaRPr lang="en-US" sz="1100" dirty="0"/>
          </a:p>
        </p:txBody>
      </p:sp>
      <p:sp>
        <p:nvSpPr>
          <p:cNvPr id="27" name="Shape 25"/>
          <p:cNvSpPr/>
          <p:nvPr/>
        </p:nvSpPr>
        <p:spPr>
          <a:xfrm>
            <a:off x="457200" y="4489704"/>
            <a:ext cx="5541264" cy="1371600"/>
          </a:xfrm>
          <a:prstGeom prst="roundRect">
            <a:avLst>
              <a:gd name="adj" fmla="val 4667"/>
            </a:avLst>
          </a:prstGeom>
          <a:solidFill>
            <a:srgbClr val="FFFFFF"/>
          </a:solidFill>
          <a:ln w="12700">
            <a:solidFill>
              <a:srgbClr val="D8E1EC"/>
            </a:solidFill>
            <a:prstDash val="solid"/>
          </a:ln>
          <a:effectLst>
            <a:outerShdw sx="100000" sy="100000" kx="0" ky="0" algn="bl" rotWithShape="0" blurRad="88900" dist="38100" dir="8100000">
              <a:srgbClr val="1B2A4A">
                <a:alpha val="12000"/>
              </a:srgbClr>
            </a:outerShdw>
          </a:effectLst>
        </p:spPr>
      </p:sp>
      <p:sp>
        <p:nvSpPr>
          <p:cNvPr id="28" name="Shape 26"/>
          <p:cNvSpPr/>
          <p:nvPr/>
        </p:nvSpPr>
        <p:spPr>
          <a:xfrm>
            <a:off x="685800" y="4782312"/>
            <a:ext cx="786384" cy="786384"/>
          </a:xfrm>
          <a:prstGeom prst="ellipse">
            <a:avLst/>
          </a:prstGeom>
          <a:solidFill>
            <a:srgbClr val="EAF1F8"/>
          </a:solidFill>
          <a:ln/>
        </p:spPr>
      </p:sp>
      <p:sp>
        <p:nvSpPr>
          <p:cNvPr id="29" name="Text 27"/>
          <p:cNvSpPr/>
          <p:nvPr/>
        </p:nvSpPr>
        <p:spPr>
          <a:xfrm>
            <a:off x="685800" y="4782312"/>
            <a:ext cx="786384" cy="786384"/>
          </a:xfrm>
          <a:prstGeom prst="rect">
            <a:avLst/>
          </a:prstGeom>
          <a:noFill/>
          <a:ln/>
        </p:spPr>
        <p:txBody>
          <a:bodyPr wrap="square" lIns="0" tIns="0" rIns="0" bIns="0" rtlCol="0" anchor="ctr"/>
          <a:lstStyle/>
          <a:p>
            <a:pPr algn="ctr" indent="0" marL="0">
              <a:buNone/>
            </a:pPr>
            <a:r>
              <a:rPr lang="en-US" sz="2200" b="1" dirty="0">
                <a:solidFill>
                  <a:srgbClr val="0E8C81"/>
                </a:solidFill>
                <a:latin typeface="Georgia" pitchFamily="34" charset="0"/>
                <a:ea typeface="Georgia" pitchFamily="34" charset="-122"/>
                <a:cs typeface="Georgia" pitchFamily="34" charset="-120"/>
              </a:rPr>
              <a:t>5</a:t>
            </a:r>
            <a:endParaRPr lang="en-US" sz="2200" dirty="0"/>
          </a:p>
        </p:txBody>
      </p:sp>
      <p:sp>
        <p:nvSpPr>
          <p:cNvPr id="30" name="Text 28"/>
          <p:cNvSpPr/>
          <p:nvPr/>
        </p:nvSpPr>
        <p:spPr>
          <a:xfrm>
            <a:off x="1645920" y="4672584"/>
            <a:ext cx="4123944" cy="365760"/>
          </a:xfrm>
          <a:prstGeom prst="rect">
            <a:avLst/>
          </a:prstGeom>
          <a:noFill/>
          <a:ln/>
        </p:spPr>
        <p:txBody>
          <a:bodyPr wrap="square" lIns="0" tIns="0" rIns="0" bIns="0" rtlCol="0" anchor="ctr"/>
          <a:lstStyle/>
          <a:p>
            <a:pPr indent="0" marL="0">
              <a:buNone/>
            </a:pPr>
            <a:r>
              <a:rPr lang="en-US" sz="1350" b="1" dirty="0">
                <a:solidFill>
                  <a:srgbClr val="1B2A4A"/>
                </a:solidFill>
                <a:latin typeface="Calibri" pitchFamily="34" charset="0"/>
                <a:ea typeface="Calibri" pitchFamily="34" charset="-122"/>
                <a:cs typeface="Calibri" pitchFamily="34" charset="-120"/>
              </a:rPr>
              <a:t>Knows when it's unsure</a:t>
            </a:r>
            <a:endParaRPr lang="en-US" sz="1350" dirty="0"/>
          </a:p>
        </p:txBody>
      </p:sp>
      <p:sp>
        <p:nvSpPr>
          <p:cNvPr id="31" name="Text 29"/>
          <p:cNvSpPr/>
          <p:nvPr/>
        </p:nvSpPr>
        <p:spPr>
          <a:xfrm>
            <a:off x="1645920" y="5020056"/>
            <a:ext cx="4123944" cy="777240"/>
          </a:xfrm>
          <a:prstGeom prst="rect">
            <a:avLst/>
          </a:prstGeom>
          <a:noFill/>
          <a:ln/>
        </p:spPr>
        <p:txBody>
          <a:bodyPr wrap="square" lIns="0" tIns="0" rIns="0" bIns="0" rtlCol="0" anchor="t"/>
          <a:lstStyle/>
          <a:p>
            <a:pPr indent="0" marL="0">
              <a:lnSpc>
                <a:spcPct val="100000"/>
              </a:lnSpc>
              <a:buNone/>
            </a:pPr>
            <a:r>
              <a:rPr lang="en-US" sz="1100" dirty="0">
                <a:solidFill>
                  <a:srgbClr val="6B7A8D"/>
                </a:solidFill>
                <a:latin typeface="Calibri" pitchFamily="34" charset="0"/>
                <a:ea typeface="Calibri" pitchFamily="34" charset="-122"/>
                <a:cs typeface="Calibri" pitchFamily="34" charset="-120"/>
              </a:rPr>
              <a:t>A confidence score decides whether to auto-bill or hand it to a person. The model knows what it doesn't know.</a:t>
            </a:r>
            <a:endParaRPr lang="en-US" sz="1100" dirty="0"/>
          </a:p>
        </p:txBody>
      </p:sp>
      <p:sp>
        <p:nvSpPr>
          <p:cNvPr id="32" name="Shape 30"/>
          <p:cNvSpPr/>
          <p:nvPr/>
        </p:nvSpPr>
        <p:spPr>
          <a:xfrm>
            <a:off x="6190488" y="4489704"/>
            <a:ext cx="5541264" cy="1371600"/>
          </a:xfrm>
          <a:prstGeom prst="roundRect">
            <a:avLst>
              <a:gd name="adj" fmla="val 4667"/>
            </a:avLst>
          </a:prstGeom>
          <a:solidFill>
            <a:srgbClr val="FFFFFF"/>
          </a:solidFill>
          <a:ln w="12700">
            <a:solidFill>
              <a:srgbClr val="D8E1EC"/>
            </a:solidFill>
            <a:prstDash val="solid"/>
          </a:ln>
          <a:effectLst>
            <a:outerShdw sx="100000" sy="100000" kx="0" ky="0" algn="bl" rotWithShape="0" blurRad="88900" dist="38100" dir="8100000">
              <a:srgbClr val="1B2A4A">
                <a:alpha val="12000"/>
              </a:srgbClr>
            </a:outerShdw>
          </a:effectLst>
        </p:spPr>
      </p:sp>
      <p:sp>
        <p:nvSpPr>
          <p:cNvPr id="33" name="Shape 31"/>
          <p:cNvSpPr/>
          <p:nvPr/>
        </p:nvSpPr>
        <p:spPr>
          <a:xfrm>
            <a:off x="6419088" y="4782312"/>
            <a:ext cx="786384" cy="786384"/>
          </a:xfrm>
          <a:prstGeom prst="ellipse">
            <a:avLst/>
          </a:prstGeom>
          <a:solidFill>
            <a:srgbClr val="EAF1F8"/>
          </a:solidFill>
          <a:ln/>
        </p:spPr>
      </p:sp>
      <p:sp>
        <p:nvSpPr>
          <p:cNvPr id="34" name="Text 32"/>
          <p:cNvSpPr/>
          <p:nvPr/>
        </p:nvSpPr>
        <p:spPr>
          <a:xfrm>
            <a:off x="6419088" y="4782312"/>
            <a:ext cx="786384" cy="786384"/>
          </a:xfrm>
          <a:prstGeom prst="rect">
            <a:avLst/>
          </a:prstGeom>
          <a:noFill/>
          <a:ln/>
        </p:spPr>
        <p:txBody>
          <a:bodyPr wrap="square" lIns="0" tIns="0" rIns="0" bIns="0" rtlCol="0" anchor="ctr"/>
          <a:lstStyle/>
          <a:p>
            <a:pPr algn="ctr" indent="0" marL="0">
              <a:buNone/>
            </a:pPr>
            <a:r>
              <a:rPr lang="en-US" sz="2200" b="1" dirty="0">
                <a:solidFill>
                  <a:srgbClr val="0E8C81"/>
                </a:solidFill>
                <a:latin typeface="Georgia" pitchFamily="34" charset="0"/>
                <a:ea typeface="Georgia" pitchFamily="34" charset="-122"/>
                <a:cs typeface="Georgia" pitchFamily="34" charset="-120"/>
              </a:rPr>
              <a:t>6</a:t>
            </a:r>
            <a:endParaRPr lang="en-US" sz="2200" dirty="0"/>
          </a:p>
        </p:txBody>
      </p:sp>
      <p:sp>
        <p:nvSpPr>
          <p:cNvPr id="35" name="Text 33"/>
          <p:cNvSpPr/>
          <p:nvPr/>
        </p:nvSpPr>
        <p:spPr>
          <a:xfrm>
            <a:off x="7379208" y="4672584"/>
            <a:ext cx="4123944" cy="365760"/>
          </a:xfrm>
          <a:prstGeom prst="rect">
            <a:avLst/>
          </a:prstGeom>
          <a:noFill/>
          <a:ln/>
        </p:spPr>
        <p:txBody>
          <a:bodyPr wrap="square" lIns="0" tIns="0" rIns="0" bIns="0" rtlCol="0" anchor="ctr"/>
          <a:lstStyle/>
          <a:p>
            <a:pPr indent="0" marL="0">
              <a:buNone/>
            </a:pPr>
            <a:r>
              <a:rPr lang="en-US" sz="1350" b="1" dirty="0">
                <a:solidFill>
                  <a:srgbClr val="1B2A4A"/>
                </a:solidFill>
                <a:latin typeface="Calibri" pitchFamily="34" charset="0"/>
                <a:ea typeface="Calibri" pitchFamily="34" charset="-122"/>
                <a:cs typeface="Calibri" pitchFamily="34" charset="-120"/>
              </a:rPr>
              <a:t>Helps with queries, and learns</a:t>
            </a:r>
            <a:endParaRPr lang="en-US" sz="1350" dirty="0"/>
          </a:p>
        </p:txBody>
      </p:sp>
      <p:sp>
        <p:nvSpPr>
          <p:cNvPr id="36" name="Text 34"/>
          <p:cNvSpPr/>
          <p:nvPr/>
        </p:nvSpPr>
        <p:spPr>
          <a:xfrm>
            <a:off x="7379208" y="5020056"/>
            <a:ext cx="4123944" cy="777240"/>
          </a:xfrm>
          <a:prstGeom prst="rect">
            <a:avLst/>
          </a:prstGeom>
          <a:noFill/>
          <a:ln/>
        </p:spPr>
        <p:txBody>
          <a:bodyPr wrap="square" lIns="0" tIns="0" rIns="0" bIns="0" rtlCol="0" anchor="t"/>
          <a:lstStyle/>
          <a:p>
            <a:pPr indent="0" marL="0">
              <a:lnSpc>
                <a:spcPct val="100000"/>
              </a:lnSpc>
              <a:buNone/>
            </a:pPr>
            <a:r>
              <a:rPr lang="en-US" sz="1100" dirty="0">
                <a:solidFill>
                  <a:srgbClr val="6B7A8D"/>
                </a:solidFill>
                <a:latin typeface="Calibri" pitchFamily="34" charset="0"/>
                <a:ea typeface="Calibri" pitchFamily="34" charset="-122"/>
                <a:cs typeface="Calibri" pitchFamily="34" charset="-120"/>
              </a:rPr>
              <a:t>Drafts compliant physician queries, and gets a little better with every coder correction.</a:t>
            </a:r>
            <a:endParaRPr lang="en-US" sz="1100" dirty="0"/>
          </a:p>
        </p:txBody>
      </p:sp>
      <p:sp>
        <p:nvSpPr>
          <p:cNvPr id="37" name="Shape 35"/>
          <p:cNvSpPr/>
          <p:nvPr/>
        </p:nvSpPr>
        <p:spPr>
          <a:xfrm>
            <a:off x="0" y="6565392"/>
            <a:ext cx="12188952" cy="292608"/>
          </a:xfrm>
          <a:prstGeom prst="rect">
            <a:avLst/>
          </a:prstGeom>
          <a:solidFill>
            <a:srgbClr val="0E1B33"/>
          </a:solidFill>
          <a:ln/>
        </p:spPr>
      </p:sp>
      <p:sp>
        <p:nvSpPr>
          <p:cNvPr id="38" name="Text 36"/>
          <p:cNvSpPr/>
          <p:nvPr/>
        </p:nvSpPr>
        <p:spPr>
          <a:xfrm>
            <a:off x="457200" y="6565392"/>
            <a:ext cx="5486400" cy="292608"/>
          </a:xfrm>
          <a:prstGeom prst="rect">
            <a:avLst/>
          </a:prstGeom>
          <a:noFill/>
          <a:ln/>
        </p:spPr>
        <p:txBody>
          <a:bodyPr wrap="square" lIns="0" tIns="0" rIns="0" bIns="0" rtlCol="0" anchor="ctr"/>
          <a:lstStyle/>
          <a:p>
            <a:pPr indent="0" marL="0">
              <a:buNone/>
            </a:pPr>
            <a:r>
              <a:rPr lang="en-US" sz="850" dirty="0">
                <a:solidFill>
                  <a:srgbClr val="9FB0C7"/>
                </a:solidFill>
                <a:latin typeface="Calibri" pitchFamily="34" charset="0"/>
                <a:ea typeface="Calibri" pitchFamily="34" charset="-122"/>
                <a:cs typeface="Calibri" pitchFamily="34" charset="-120"/>
              </a:rPr>
              <a:t>ACE · Autonomous Coding Engine</a:t>
            </a:r>
            <a:endParaRPr lang="en-US" sz="850" dirty="0"/>
          </a:p>
        </p:txBody>
      </p:sp>
      <p:sp>
        <p:nvSpPr>
          <p:cNvPr id="39" name="Text 37"/>
          <p:cNvSpPr/>
          <p:nvPr/>
        </p:nvSpPr>
        <p:spPr>
          <a:xfrm>
            <a:off x="6245352" y="6565392"/>
            <a:ext cx="5486400" cy="292608"/>
          </a:xfrm>
          <a:prstGeom prst="rect">
            <a:avLst/>
          </a:prstGeom>
          <a:noFill/>
          <a:ln/>
        </p:spPr>
        <p:txBody>
          <a:bodyPr wrap="square" lIns="0" tIns="0" rIns="0" bIns="0" rtlCol="0" anchor="ctr"/>
          <a:lstStyle/>
          <a:p>
            <a:pPr algn="r" indent="0" marL="0">
              <a:buNone/>
            </a:pPr>
            <a:r>
              <a:rPr lang="en-US" sz="850" dirty="0">
                <a:solidFill>
                  <a:srgbClr val="9FB0C7"/>
                </a:solidFill>
                <a:latin typeface="Calibri" pitchFamily="34" charset="0"/>
                <a:ea typeface="Calibri" pitchFamily="34" charset="-122"/>
                <a:cs typeface="Calibri" pitchFamily="34" charset="-120"/>
              </a:rPr>
              <a:t>Nous Infosystems  ·  for Vee Healthtek  ·  Confidential</a:t>
            </a:r>
            <a:endParaRPr lang="en-US" sz="850" dirty="0"/>
          </a:p>
        </p:txBody>
      </p:sp>
      <p:sp>
        <p:nvSpPr>
          <p:cNvPr id="40" name="Text 38"/>
          <p:cNvSpPr/>
          <p:nvPr/>
        </p:nvSpPr>
        <p:spPr>
          <a:xfrm>
            <a:off x="11686032" y="6565392"/>
            <a:ext cx="365760" cy="292608"/>
          </a:xfrm>
          <a:prstGeom prst="rect">
            <a:avLst/>
          </a:prstGeom>
          <a:noFill/>
          <a:ln/>
        </p:spPr>
        <p:txBody>
          <a:bodyPr wrap="square" lIns="0" tIns="0" rIns="0" bIns="0" rtlCol="0" anchor="ctr"/>
          <a:lstStyle/>
          <a:p>
            <a:pPr algn="r" indent="0" marL="0">
              <a:buNone/>
            </a:pPr>
            <a:r>
              <a:rPr lang="en-US" sz="850" b="1" dirty="0">
                <a:solidFill>
                  <a:srgbClr val="13B5A6"/>
                </a:solidFill>
                <a:latin typeface="Calibri" pitchFamily="34" charset="0"/>
                <a:ea typeface="Calibri" pitchFamily="34" charset="-122"/>
                <a:cs typeface="Calibri"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8FC"/>
        </a:solidFill>
      </p:bgPr>
    </p:bg>
    <p:spTree>
      <p:nvGrpSpPr>
        <p:cNvPr id="1" name=""/>
        <p:cNvGrpSpPr/>
        <p:nvPr/>
      </p:nvGrpSpPr>
      <p:grpSpPr>
        <a:xfrm>
          <a:off x="0" y="0"/>
          <a:ext cx="0" cy="0"/>
          <a:chOff x="0" y="0"/>
          <a:chExt cx="0" cy="0"/>
        </a:xfrm>
      </p:grpSpPr>
      <p:sp>
        <p:nvSpPr>
          <p:cNvPr id="2" name="Shape 0"/>
          <p:cNvSpPr/>
          <p:nvPr/>
        </p:nvSpPr>
        <p:spPr>
          <a:xfrm>
            <a:off x="0" y="0"/>
            <a:ext cx="12188952" cy="1078992"/>
          </a:xfrm>
          <a:prstGeom prst="rect">
            <a:avLst/>
          </a:prstGeom>
          <a:solidFill>
            <a:srgbClr val="FFFFFF"/>
          </a:solidFill>
          <a:ln/>
        </p:spPr>
      </p:sp>
      <p:sp>
        <p:nvSpPr>
          <p:cNvPr id="3" name="Shape 1"/>
          <p:cNvSpPr/>
          <p:nvPr/>
        </p:nvSpPr>
        <p:spPr>
          <a:xfrm>
            <a:off x="0" y="1078992"/>
            <a:ext cx="12188952" cy="27432"/>
          </a:xfrm>
          <a:prstGeom prst="rect">
            <a:avLst/>
          </a:prstGeom>
          <a:solidFill>
            <a:srgbClr val="D8E1EC"/>
          </a:solidFill>
          <a:ln/>
        </p:spPr>
      </p:sp>
      <p:sp>
        <p:nvSpPr>
          <p:cNvPr id="4" name="Shape 2"/>
          <p:cNvSpPr/>
          <p:nvPr/>
        </p:nvSpPr>
        <p:spPr>
          <a:xfrm>
            <a:off x="457200" y="310896"/>
            <a:ext cx="109728" cy="512064"/>
          </a:xfrm>
          <a:prstGeom prst="rect">
            <a:avLst/>
          </a:prstGeom>
          <a:solidFill>
            <a:srgbClr val="13B5A6"/>
          </a:solidFill>
          <a:ln/>
        </p:spPr>
      </p:sp>
      <p:sp>
        <p:nvSpPr>
          <p:cNvPr id="5" name="Text 3"/>
          <p:cNvSpPr/>
          <p:nvPr/>
        </p:nvSpPr>
        <p:spPr>
          <a:xfrm>
            <a:off x="713232" y="274320"/>
            <a:ext cx="10058400" cy="237744"/>
          </a:xfrm>
          <a:prstGeom prst="rect">
            <a:avLst/>
          </a:prstGeom>
          <a:noFill/>
          <a:ln/>
        </p:spPr>
        <p:txBody>
          <a:bodyPr wrap="square" lIns="0" tIns="0" rIns="0" bIns="0" rtlCol="0" anchor="ctr"/>
          <a:lstStyle/>
          <a:p>
            <a:pPr indent="0" marL="0">
              <a:buNone/>
            </a:pPr>
            <a:r>
              <a:rPr lang="en-US" sz="1100" b="1" spc="200" kern="0" dirty="0">
                <a:solidFill>
                  <a:srgbClr val="13B5A6"/>
                </a:solidFill>
                <a:latin typeface="Calibri" pitchFamily="34" charset="0"/>
                <a:ea typeface="Calibri" pitchFamily="34" charset="-122"/>
                <a:cs typeface="Calibri" pitchFamily="34" charset="-120"/>
              </a:rPr>
              <a:t>TECHNICAL ARCHITECTURE</a:t>
            </a:r>
            <a:endParaRPr lang="en-US" sz="1100" dirty="0"/>
          </a:p>
        </p:txBody>
      </p:sp>
      <p:sp>
        <p:nvSpPr>
          <p:cNvPr id="6" name="Text 4"/>
          <p:cNvSpPr/>
          <p:nvPr/>
        </p:nvSpPr>
        <p:spPr>
          <a:xfrm>
            <a:off x="713232" y="475488"/>
            <a:ext cx="11155680" cy="457200"/>
          </a:xfrm>
          <a:prstGeom prst="rect">
            <a:avLst/>
          </a:prstGeom>
          <a:noFill/>
          <a:ln/>
        </p:spPr>
        <p:txBody>
          <a:bodyPr wrap="square" lIns="0" tIns="0" rIns="0" bIns="0" rtlCol="0" anchor="ctr"/>
          <a:lstStyle/>
          <a:p>
            <a:pPr indent="0" marL="0">
              <a:buNone/>
            </a:pPr>
            <a:r>
              <a:rPr lang="en-US" sz="2300" b="1" dirty="0">
                <a:solidFill>
                  <a:srgbClr val="1B2A4A"/>
                </a:solidFill>
                <a:latin typeface="Georgia" pitchFamily="34" charset="0"/>
                <a:ea typeface="Georgia" pitchFamily="34" charset="-122"/>
                <a:cs typeface="Georgia" pitchFamily="34" charset="-120"/>
              </a:rPr>
              <a:t>How it's put together — one self-contained stack</a:t>
            </a:r>
            <a:endParaRPr lang="en-US" sz="2300" dirty="0"/>
          </a:p>
        </p:txBody>
      </p:sp>
      <p:sp>
        <p:nvSpPr>
          <p:cNvPr id="7" name="Text 5"/>
          <p:cNvSpPr/>
          <p:nvPr/>
        </p:nvSpPr>
        <p:spPr>
          <a:xfrm>
            <a:off x="2651760" y="1115568"/>
            <a:ext cx="2743200" cy="201168"/>
          </a:xfrm>
          <a:prstGeom prst="rect">
            <a:avLst/>
          </a:prstGeom>
          <a:noFill/>
          <a:ln/>
        </p:spPr>
        <p:txBody>
          <a:bodyPr wrap="square" lIns="0" tIns="0" rIns="0" bIns="0" rtlCol="0" anchor="ctr"/>
          <a:lstStyle/>
          <a:p>
            <a:pPr indent="0" marL="0">
              <a:buNone/>
            </a:pPr>
            <a:r>
              <a:rPr lang="en-US" sz="900" b="1" spc="200" kern="0" dirty="0">
                <a:solidFill>
                  <a:srgbClr val="64748B"/>
                </a:solidFill>
                <a:latin typeface="Calibri" pitchFamily="34" charset="0"/>
                <a:ea typeface="Calibri" pitchFamily="34" charset="-122"/>
                <a:cs typeface="Calibri" pitchFamily="34" charset="-120"/>
              </a:rPr>
              <a:t>WHO USES IT</a:t>
            </a:r>
            <a:endParaRPr lang="en-US" sz="900" dirty="0"/>
          </a:p>
        </p:txBody>
      </p:sp>
      <p:sp>
        <p:nvSpPr>
          <p:cNvPr id="8" name="Shape 6"/>
          <p:cNvSpPr/>
          <p:nvPr/>
        </p:nvSpPr>
        <p:spPr>
          <a:xfrm>
            <a:off x="2651760" y="1335024"/>
            <a:ext cx="2743200" cy="694944"/>
          </a:xfrm>
          <a:prstGeom prst="roundRect">
            <a:avLst>
              <a:gd name="adj" fmla="val 7895"/>
            </a:avLst>
          </a:prstGeom>
          <a:solidFill>
            <a:srgbClr val="FFFFFF"/>
          </a:solidFill>
          <a:ln w="12700">
            <a:solidFill>
              <a:srgbClr val="D8E1EC"/>
            </a:solidFill>
            <a:prstDash val="solid"/>
          </a:ln>
          <a:effectLst>
            <a:outerShdw sx="100000" sy="100000" kx="0" ky="0" algn="bl" rotWithShape="0" blurRad="88900" dist="38100" dir="8100000">
              <a:srgbClr val="1B2A4A">
                <a:alpha val="12000"/>
              </a:srgbClr>
            </a:outerShdw>
          </a:effectLst>
        </p:spPr>
      </p:sp>
      <p:sp>
        <p:nvSpPr>
          <p:cNvPr id="9" name="Text 7"/>
          <p:cNvSpPr/>
          <p:nvPr/>
        </p:nvSpPr>
        <p:spPr>
          <a:xfrm>
            <a:off x="2743200" y="1335024"/>
            <a:ext cx="2560320" cy="694944"/>
          </a:xfrm>
          <a:prstGeom prst="rect">
            <a:avLst/>
          </a:prstGeom>
          <a:noFill/>
          <a:ln/>
        </p:spPr>
        <p:txBody>
          <a:bodyPr wrap="square" lIns="25400" tIns="25400" rIns="25400" bIns="25400" rtlCol="0" anchor="ctr"/>
          <a:lstStyle/>
          <a:p>
            <a:pPr algn="ctr" indent="0" marL="0">
              <a:lnSpc>
                <a:spcPct val="95000"/>
              </a:lnSpc>
              <a:buNone/>
            </a:pPr>
            <a:r>
              <a:rPr lang="en-US" sz="1150" b="1" dirty="0">
                <a:solidFill>
                  <a:srgbClr val="27313F"/>
                </a:solidFill>
                <a:latin typeface="Calibri" pitchFamily="34" charset="0"/>
                <a:ea typeface="Calibri" pitchFamily="34" charset="-122"/>
                <a:cs typeface="Calibri" pitchFamily="34" charset="-120"/>
              </a:rPr>
              <a:t>Coders / QA / CDI / Admin</a:t>
            </a:r>
            <a:endParaRPr lang="en-US" sz="1150" dirty="0"/>
          </a:p>
          <a:p>
            <a:pPr algn="ctr" indent="0" marL="0">
              <a:lnSpc>
                <a:spcPct val="95000"/>
              </a:lnSpc>
              <a:buNone/>
            </a:pPr>
            <a:r>
              <a:rPr lang="en-US" sz="900" dirty="0">
                <a:solidFill>
                  <a:srgbClr val="6B7A8D"/>
                </a:solidFill>
                <a:latin typeface="Calibri" pitchFamily="34" charset="0"/>
                <a:ea typeface="Calibri" pitchFamily="34" charset="-122"/>
                <a:cs typeface="Calibri" pitchFamily="34" charset="-120"/>
              </a:rPr>
              <a:t>in the browser, gated by role</a:t>
            </a:r>
            <a:endParaRPr lang="en-US" sz="1150" dirty="0"/>
          </a:p>
        </p:txBody>
      </p:sp>
      <p:sp>
        <p:nvSpPr>
          <p:cNvPr id="10" name="Shape 8"/>
          <p:cNvSpPr/>
          <p:nvPr/>
        </p:nvSpPr>
        <p:spPr>
          <a:xfrm>
            <a:off x="6766560" y="1335024"/>
            <a:ext cx="4206240" cy="694944"/>
          </a:xfrm>
          <a:prstGeom prst="roundRect">
            <a:avLst>
              <a:gd name="adj" fmla="val 7895"/>
            </a:avLst>
          </a:prstGeom>
          <a:solidFill>
            <a:srgbClr val="FFFFFF"/>
          </a:solidFill>
          <a:ln w="12700">
            <a:solidFill>
              <a:srgbClr val="D8E1EC"/>
            </a:solidFill>
            <a:prstDash val="solid"/>
          </a:ln>
          <a:effectLst>
            <a:outerShdw sx="100000" sy="100000" kx="0" ky="0" algn="bl" rotWithShape="0" blurRad="88900" dist="38100" dir="8100000">
              <a:srgbClr val="1B2A4A">
                <a:alpha val="12000"/>
              </a:srgbClr>
            </a:outerShdw>
          </a:effectLst>
        </p:spPr>
      </p:sp>
      <p:sp>
        <p:nvSpPr>
          <p:cNvPr id="11" name="Text 9"/>
          <p:cNvSpPr/>
          <p:nvPr/>
        </p:nvSpPr>
        <p:spPr>
          <a:xfrm>
            <a:off x="6858000" y="1335024"/>
            <a:ext cx="4023360" cy="694944"/>
          </a:xfrm>
          <a:prstGeom prst="rect">
            <a:avLst/>
          </a:prstGeom>
          <a:noFill/>
          <a:ln/>
        </p:spPr>
        <p:txBody>
          <a:bodyPr wrap="square" lIns="25400" tIns="25400" rIns="25400" bIns="25400" rtlCol="0" anchor="ctr"/>
          <a:lstStyle/>
          <a:p>
            <a:pPr algn="ctr" indent="0" marL="0">
              <a:lnSpc>
                <a:spcPct val="95000"/>
              </a:lnSpc>
              <a:buNone/>
            </a:pPr>
            <a:r>
              <a:rPr lang="en-US" sz="1150" b="1" dirty="0">
                <a:solidFill>
                  <a:srgbClr val="27313F"/>
                </a:solidFill>
                <a:latin typeface="Calibri" pitchFamily="34" charset="0"/>
                <a:ea typeface="Calibri" pitchFamily="34" charset="-122"/>
                <a:cs typeface="Calibri" pitchFamily="34" charset="-120"/>
              </a:rPr>
              <a:t>PMS / EHR source systems</a:t>
            </a:r>
            <a:endParaRPr lang="en-US" sz="1150" dirty="0"/>
          </a:p>
          <a:p>
            <a:pPr algn="ctr" indent="0" marL="0">
              <a:lnSpc>
                <a:spcPct val="95000"/>
              </a:lnSpc>
              <a:buNone/>
            </a:pPr>
            <a:r>
              <a:rPr lang="en-US" sz="900" dirty="0">
                <a:solidFill>
                  <a:srgbClr val="6B7A8D"/>
                </a:solidFill>
                <a:latin typeface="Calibri" pitchFamily="34" charset="0"/>
                <a:ea typeface="Calibri" pitchFamily="34" charset="-122"/>
                <a:cs typeface="Calibri" pitchFamily="34" charset="-120"/>
              </a:rPr>
              <a:t>Practice Admin · eClinicalWorks · Cerner</a:t>
            </a:r>
            <a:endParaRPr lang="en-US" sz="1150" dirty="0"/>
          </a:p>
        </p:txBody>
      </p:sp>
      <p:sp>
        <p:nvSpPr>
          <p:cNvPr id="12" name="Text 10"/>
          <p:cNvSpPr/>
          <p:nvPr/>
        </p:nvSpPr>
        <p:spPr>
          <a:xfrm>
            <a:off x="2651760" y="2121408"/>
            <a:ext cx="2743200" cy="201168"/>
          </a:xfrm>
          <a:prstGeom prst="rect">
            <a:avLst/>
          </a:prstGeom>
          <a:noFill/>
          <a:ln/>
        </p:spPr>
        <p:txBody>
          <a:bodyPr wrap="square" lIns="0" tIns="0" rIns="0" bIns="0" rtlCol="0" anchor="ctr"/>
          <a:lstStyle/>
          <a:p>
            <a:pPr indent="0" marL="0">
              <a:buNone/>
            </a:pPr>
            <a:r>
              <a:rPr lang="en-US" sz="900" b="1" spc="200" kern="0" dirty="0">
                <a:solidFill>
                  <a:srgbClr val="13B5A6"/>
                </a:solidFill>
                <a:latin typeface="Calibri" pitchFamily="34" charset="0"/>
                <a:ea typeface="Calibri" pitchFamily="34" charset="-122"/>
                <a:cs typeface="Calibri" pitchFamily="34" charset="-120"/>
              </a:rPr>
              <a:t>WHAT THEY SEE</a:t>
            </a:r>
            <a:endParaRPr lang="en-US" sz="900" dirty="0"/>
          </a:p>
        </p:txBody>
      </p:sp>
      <p:sp>
        <p:nvSpPr>
          <p:cNvPr id="13" name="Shape 11"/>
          <p:cNvSpPr/>
          <p:nvPr/>
        </p:nvSpPr>
        <p:spPr>
          <a:xfrm>
            <a:off x="2651760" y="2340864"/>
            <a:ext cx="3840480" cy="694944"/>
          </a:xfrm>
          <a:prstGeom prst="roundRect">
            <a:avLst>
              <a:gd name="adj" fmla="val 7895"/>
            </a:avLst>
          </a:prstGeom>
          <a:solidFill>
            <a:srgbClr val="1B2A4A"/>
          </a:solidFill>
          <a:ln w="12700">
            <a:solidFill>
              <a:srgbClr val="D8E1EC"/>
            </a:solidFill>
            <a:prstDash val="solid"/>
          </a:ln>
          <a:effectLst>
            <a:outerShdw sx="100000" sy="100000" kx="0" ky="0" algn="bl" rotWithShape="0" blurRad="88900" dist="38100" dir="8100000">
              <a:srgbClr val="1B2A4A">
                <a:alpha val="12000"/>
              </a:srgbClr>
            </a:outerShdw>
          </a:effectLst>
        </p:spPr>
      </p:sp>
      <p:sp>
        <p:nvSpPr>
          <p:cNvPr id="14" name="Text 12"/>
          <p:cNvSpPr/>
          <p:nvPr/>
        </p:nvSpPr>
        <p:spPr>
          <a:xfrm>
            <a:off x="2743200" y="2340864"/>
            <a:ext cx="3657600" cy="694944"/>
          </a:xfrm>
          <a:prstGeom prst="rect">
            <a:avLst/>
          </a:prstGeom>
          <a:noFill/>
          <a:ln/>
        </p:spPr>
        <p:txBody>
          <a:bodyPr wrap="square" lIns="25400" tIns="25400" rIns="25400" bIns="25400" rtlCol="0" anchor="ctr"/>
          <a:lstStyle/>
          <a:p>
            <a:pPr algn="ctr" indent="0" marL="0">
              <a:lnSpc>
                <a:spcPct val="95000"/>
              </a:lnSpc>
              <a:buNone/>
            </a:pPr>
            <a:r>
              <a:rPr lang="en-US" sz="1150" b="1" dirty="0">
                <a:solidFill>
                  <a:srgbClr val="FFFFFF"/>
                </a:solidFill>
                <a:latin typeface="Calibri" pitchFamily="34" charset="0"/>
                <a:ea typeface="Calibri" pitchFamily="34" charset="-122"/>
                <a:cs typeface="Calibri" pitchFamily="34" charset="-120"/>
              </a:rPr>
              <a:t>Web app — React + TypeScript + Vite</a:t>
            </a:r>
            <a:endParaRPr lang="en-US" sz="1150" dirty="0"/>
          </a:p>
          <a:p>
            <a:pPr algn="ctr" indent="0" marL="0">
              <a:lnSpc>
                <a:spcPct val="95000"/>
              </a:lnSpc>
              <a:buNone/>
            </a:pPr>
            <a:r>
              <a:rPr lang="en-US" sz="900" dirty="0">
                <a:solidFill>
                  <a:srgbClr val="D7E3F5"/>
                </a:solidFill>
                <a:latin typeface="Calibri" pitchFamily="34" charset="0"/>
                <a:ea typeface="Calibri" pitchFamily="34" charset="-122"/>
                <a:cs typeface="Calibri" pitchFamily="34" charset="-120"/>
              </a:rPr>
              <a:t>served by nginx (also passes the live agent stream)</a:t>
            </a:r>
            <a:endParaRPr lang="en-US" sz="1150" dirty="0"/>
          </a:p>
        </p:txBody>
      </p:sp>
      <p:sp>
        <p:nvSpPr>
          <p:cNvPr id="15" name="Shape 13"/>
          <p:cNvSpPr/>
          <p:nvPr/>
        </p:nvSpPr>
        <p:spPr>
          <a:xfrm>
            <a:off x="6766560" y="2340864"/>
            <a:ext cx="4206240" cy="694944"/>
          </a:xfrm>
          <a:prstGeom prst="roundRect">
            <a:avLst>
              <a:gd name="adj" fmla="val 7895"/>
            </a:avLst>
          </a:prstGeom>
          <a:solidFill>
            <a:srgbClr val="FFFFFF"/>
          </a:solidFill>
          <a:ln w="12700">
            <a:solidFill>
              <a:srgbClr val="D8E1EC"/>
            </a:solidFill>
            <a:prstDash val="solid"/>
          </a:ln>
          <a:effectLst>
            <a:outerShdw sx="100000" sy="100000" kx="0" ky="0" algn="bl" rotWithShape="0" blurRad="88900" dist="38100" dir="8100000">
              <a:srgbClr val="1B2A4A">
                <a:alpha val="12000"/>
              </a:srgbClr>
            </a:outerShdw>
          </a:effectLst>
        </p:spPr>
      </p:sp>
      <p:sp>
        <p:nvSpPr>
          <p:cNvPr id="16" name="Text 14"/>
          <p:cNvSpPr/>
          <p:nvPr/>
        </p:nvSpPr>
        <p:spPr>
          <a:xfrm>
            <a:off x="6858000" y="2340864"/>
            <a:ext cx="4023360" cy="694944"/>
          </a:xfrm>
          <a:prstGeom prst="rect">
            <a:avLst/>
          </a:prstGeom>
          <a:noFill/>
          <a:ln/>
        </p:spPr>
        <p:txBody>
          <a:bodyPr wrap="square" lIns="25400" tIns="25400" rIns="25400" bIns="25400" rtlCol="0" anchor="ctr"/>
          <a:lstStyle/>
          <a:p>
            <a:pPr algn="ctr" indent="0" marL="0">
              <a:lnSpc>
                <a:spcPct val="95000"/>
              </a:lnSpc>
              <a:buNone/>
            </a:pPr>
            <a:r>
              <a:rPr lang="en-US" sz="1150" b="1" dirty="0">
                <a:solidFill>
                  <a:srgbClr val="27313F"/>
                </a:solidFill>
                <a:latin typeface="Calibri" pitchFamily="34" charset="0"/>
                <a:ea typeface="Calibri" pitchFamily="34" charset="-122"/>
                <a:cs typeface="Calibri" pitchFamily="34" charset="-120"/>
              </a:rPr>
              <a:t>Integration channels</a:t>
            </a:r>
            <a:endParaRPr lang="en-US" sz="1150" dirty="0"/>
          </a:p>
          <a:p>
            <a:pPr algn="ctr" indent="0" marL="0">
              <a:lnSpc>
                <a:spcPct val="95000"/>
              </a:lnSpc>
              <a:buNone/>
            </a:pPr>
            <a:r>
              <a:rPr lang="en-US" sz="900" dirty="0">
                <a:solidFill>
                  <a:srgbClr val="6B7A8D"/>
                </a:solidFill>
                <a:latin typeface="Calibri" pitchFamily="34" charset="0"/>
                <a:ea typeface="Calibri" pitchFamily="34" charset="-122"/>
                <a:cs typeface="Calibri" pitchFamily="34" charset="-120"/>
              </a:rPr>
              <a:t>FHIR R4 · HL7 v2 · EDI 837/835 · REST / batch</a:t>
            </a:r>
            <a:endParaRPr lang="en-US" sz="1150" dirty="0"/>
          </a:p>
        </p:txBody>
      </p:sp>
      <p:sp>
        <p:nvSpPr>
          <p:cNvPr id="17" name="Text 15"/>
          <p:cNvSpPr/>
          <p:nvPr/>
        </p:nvSpPr>
        <p:spPr>
          <a:xfrm>
            <a:off x="2651760" y="3127248"/>
            <a:ext cx="2743200" cy="201168"/>
          </a:xfrm>
          <a:prstGeom prst="rect">
            <a:avLst/>
          </a:prstGeom>
          <a:noFill/>
          <a:ln/>
        </p:spPr>
        <p:txBody>
          <a:bodyPr wrap="square" lIns="0" tIns="0" rIns="0" bIns="0" rtlCol="0" anchor="ctr"/>
          <a:lstStyle/>
          <a:p>
            <a:pPr indent="0" marL="0">
              <a:buNone/>
            </a:pPr>
            <a:r>
              <a:rPr lang="en-US" sz="900" b="1" spc="200" kern="0" dirty="0">
                <a:solidFill>
                  <a:srgbClr val="0E8C81"/>
                </a:solidFill>
                <a:latin typeface="Calibri" pitchFamily="34" charset="0"/>
                <a:ea typeface="Calibri" pitchFamily="34" charset="-122"/>
                <a:cs typeface="Calibri" pitchFamily="34" charset="-120"/>
              </a:rPr>
              <a:t>WHERE THE WORK HAPPENS</a:t>
            </a:r>
            <a:endParaRPr lang="en-US" sz="900" dirty="0"/>
          </a:p>
        </p:txBody>
      </p:sp>
      <p:sp>
        <p:nvSpPr>
          <p:cNvPr id="18" name="Shape 16"/>
          <p:cNvSpPr/>
          <p:nvPr/>
        </p:nvSpPr>
        <p:spPr>
          <a:xfrm>
            <a:off x="2651760" y="3346704"/>
            <a:ext cx="3840480" cy="987552"/>
          </a:xfrm>
          <a:prstGeom prst="roundRect">
            <a:avLst>
              <a:gd name="adj" fmla="val 5556"/>
            </a:avLst>
          </a:prstGeom>
          <a:solidFill>
            <a:srgbClr val="0E8C81"/>
          </a:solidFill>
          <a:ln w="12700">
            <a:solidFill>
              <a:srgbClr val="D8E1EC"/>
            </a:solidFill>
            <a:prstDash val="solid"/>
          </a:ln>
          <a:effectLst>
            <a:outerShdw sx="100000" sy="100000" kx="0" ky="0" algn="bl" rotWithShape="0" blurRad="88900" dist="38100" dir="8100000">
              <a:srgbClr val="1B2A4A">
                <a:alpha val="12000"/>
              </a:srgbClr>
            </a:outerShdw>
          </a:effectLst>
        </p:spPr>
      </p:sp>
      <p:sp>
        <p:nvSpPr>
          <p:cNvPr id="19" name="Text 17"/>
          <p:cNvSpPr/>
          <p:nvPr/>
        </p:nvSpPr>
        <p:spPr>
          <a:xfrm>
            <a:off x="2743200" y="3346704"/>
            <a:ext cx="3657600" cy="987552"/>
          </a:xfrm>
          <a:prstGeom prst="rect">
            <a:avLst/>
          </a:prstGeom>
          <a:noFill/>
          <a:ln/>
        </p:spPr>
        <p:txBody>
          <a:bodyPr wrap="square" lIns="25400" tIns="25400" rIns="25400" bIns="25400" rtlCol="0" anchor="ctr"/>
          <a:lstStyle/>
          <a:p>
            <a:pPr algn="ctr" indent="0" marL="0">
              <a:lnSpc>
                <a:spcPct val="95000"/>
              </a:lnSpc>
              <a:buNone/>
            </a:pPr>
            <a:r>
              <a:rPr lang="en-US" sz="1150" b="1" dirty="0">
                <a:solidFill>
                  <a:srgbClr val="FFFFFF"/>
                </a:solidFill>
                <a:latin typeface="Calibri" pitchFamily="34" charset="0"/>
                <a:ea typeface="Calibri" pitchFamily="34" charset="-122"/>
                <a:cs typeface="Calibri" pitchFamily="34" charset="-120"/>
              </a:rPr>
              <a:t>FastAPI backend (Python 3.12)</a:t>
            </a:r>
            <a:endParaRPr lang="en-US" sz="1150" dirty="0"/>
          </a:p>
          <a:p>
            <a:pPr algn="ctr" indent="0" marL="0">
              <a:lnSpc>
                <a:spcPct val="95000"/>
              </a:lnSpc>
              <a:buNone/>
            </a:pPr>
            <a:r>
              <a:rPr lang="en-US" sz="900" dirty="0">
                <a:solidFill>
                  <a:srgbClr val="D7E3F5"/>
                </a:solidFill>
                <a:latin typeface="Calibri" pitchFamily="34" charset="0"/>
                <a:ea typeface="Calibri" pitchFamily="34" charset="-122"/>
                <a:cs typeface="Calibri" pitchFamily="34" charset="-120"/>
              </a:rPr>
              <a:t>the coding agent, the rule checks, the live trace, roles and the change log</a:t>
            </a:r>
            <a:endParaRPr lang="en-US" sz="1150" dirty="0"/>
          </a:p>
        </p:txBody>
      </p:sp>
      <p:sp>
        <p:nvSpPr>
          <p:cNvPr id="20" name="Shape 18"/>
          <p:cNvSpPr/>
          <p:nvPr/>
        </p:nvSpPr>
        <p:spPr>
          <a:xfrm>
            <a:off x="6766560" y="3346704"/>
            <a:ext cx="2011680" cy="987552"/>
          </a:xfrm>
          <a:prstGeom prst="roundRect">
            <a:avLst>
              <a:gd name="adj" fmla="val 5556"/>
            </a:avLst>
          </a:prstGeom>
          <a:solidFill>
            <a:srgbClr val="1B2A4A"/>
          </a:solidFill>
          <a:ln w="12700">
            <a:solidFill>
              <a:srgbClr val="D8E1EC"/>
            </a:solidFill>
            <a:prstDash val="solid"/>
          </a:ln>
          <a:effectLst>
            <a:outerShdw sx="100000" sy="100000" kx="0" ky="0" algn="bl" rotWithShape="0" blurRad="88900" dist="38100" dir="8100000">
              <a:srgbClr val="1B2A4A">
                <a:alpha val="12000"/>
              </a:srgbClr>
            </a:outerShdw>
          </a:effectLst>
        </p:spPr>
      </p:sp>
      <p:sp>
        <p:nvSpPr>
          <p:cNvPr id="21" name="Text 19"/>
          <p:cNvSpPr/>
          <p:nvPr/>
        </p:nvSpPr>
        <p:spPr>
          <a:xfrm>
            <a:off x="6858000" y="3346704"/>
            <a:ext cx="1828800" cy="987552"/>
          </a:xfrm>
          <a:prstGeom prst="rect">
            <a:avLst/>
          </a:prstGeom>
          <a:noFill/>
          <a:ln/>
        </p:spPr>
        <p:txBody>
          <a:bodyPr wrap="square" lIns="25400" tIns="25400" rIns="25400" bIns="25400" rtlCol="0" anchor="ctr"/>
          <a:lstStyle/>
          <a:p>
            <a:pPr algn="ctr" indent="0" marL="0">
              <a:lnSpc>
                <a:spcPct val="95000"/>
              </a:lnSpc>
              <a:buNone/>
            </a:pPr>
            <a:r>
              <a:rPr lang="en-US" sz="1150" b="1" dirty="0">
                <a:solidFill>
                  <a:srgbClr val="FFFFFF"/>
                </a:solidFill>
                <a:latin typeface="Calibri" pitchFamily="34" charset="0"/>
                <a:ea typeface="Calibri" pitchFamily="34" charset="-122"/>
                <a:cs typeface="Calibri" pitchFamily="34" charset="-120"/>
              </a:rPr>
              <a:t>Reasoning model</a:t>
            </a:r>
            <a:endParaRPr lang="en-US" sz="1150" dirty="0"/>
          </a:p>
          <a:p>
            <a:pPr algn="ctr" indent="0" marL="0">
              <a:lnSpc>
                <a:spcPct val="95000"/>
              </a:lnSpc>
              <a:buNone/>
            </a:pPr>
            <a:r>
              <a:rPr lang="en-US" sz="900" dirty="0">
                <a:solidFill>
                  <a:srgbClr val="D7E3F5"/>
                </a:solidFill>
                <a:latin typeface="Calibri" pitchFamily="34" charset="0"/>
                <a:ea typeface="Calibri" pitchFamily="34" charset="-122"/>
                <a:cs typeface="Calibri" pitchFamily="34" charset="-120"/>
              </a:rPr>
              <a:t>Claude today — switchable in Admin at runtime; keys stay in the environment</a:t>
            </a:r>
            <a:endParaRPr lang="en-US" sz="1150" dirty="0"/>
          </a:p>
        </p:txBody>
      </p:sp>
      <p:sp>
        <p:nvSpPr>
          <p:cNvPr id="22" name="Shape 20"/>
          <p:cNvSpPr/>
          <p:nvPr/>
        </p:nvSpPr>
        <p:spPr>
          <a:xfrm>
            <a:off x="8961120" y="3346704"/>
            <a:ext cx="2011680" cy="987552"/>
          </a:xfrm>
          <a:prstGeom prst="roundRect">
            <a:avLst>
              <a:gd name="adj" fmla="val 5556"/>
            </a:avLst>
          </a:prstGeom>
          <a:solidFill>
            <a:srgbClr val="FFFFFF"/>
          </a:solidFill>
          <a:ln w="12700">
            <a:solidFill>
              <a:srgbClr val="D8E1EC"/>
            </a:solidFill>
            <a:prstDash val="solid"/>
          </a:ln>
          <a:effectLst>
            <a:outerShdw sx="100000" sy="100000" kx="0" ky="0" algn="bl" rotWithShape="0" blurRad="88900" dist="38100" dir="8100000">
              <a:srgbClr val="1B2A4A">
                <a:alpha val="12000"/>
              </a:srgbClr>
            </a:outerShdw>
          </a:effectLst>
        </p:spPr>
      </p:sp>
      <p:sp>
        <p:nvSpPr>
          <p:cNvPr id="23" name="Text 21"/>
          <p:cNvSpPr/>
          <p:nvPr/>
        </p:nvSpPr>
        <p:spPr>
          <a:xfrm>
            <a:off x="9052560" y="3346704"/>
            <a:ext cx="1828800" cy="987552"/>
          </a:xfrm>
          <a:prstGeom prst="rect">
            <a:avLst/>
          </a:prstGeom>
          <a:noFill/>
          <a:ln/>
        </p:spPr>
        <p:txBody>
          <a:bodyPr wrap="square" lIns="25400" tIns="25400" rIns="25400" bIns="25400" rtlCol="0" anchor="ctr"/>
          <a:lstStyle/>
          <a:p>
            <a:pPr algn="ctr" indent="0" marL="0">
              <a:lnSpc>
                <a:spcPct val="95000"/>
              </a:lnSpc>
              <a:buNone/>
            </a:pPr>
            <a:r>
              <a:rPr lang="en-US" sz="1150" b="1" dirty="0">
                <a:solidFill>
                  <a:srgbClr val="27313F"/>
                </a:solidFill>
                <a:latin typeface="Calibri" pitchFamily="34" charset="0"/>
                <a:ea typeface="Calibri" pitchFamily="34" charset="-122"/>
                <a:cs typeface="Calibri" pitchFamily="34" charset="-120"/>
              </a:rPr>
              <a:t>Safe fallback</a:t>
            </a:r>
            <a:endParaRPr lang="en-US" sz="1150" dirty="0"/>
          </a:p>
          <a:p>
            <a:pPr algn="ctr" indent="0" marL="0">
              <a:lnSpc>
                <a:spcPct val="95000"/>
              </a:lnSpc>
              <a:buNone/>
            </a:pPr>
            <a:r>
              <a:rPr lang="en-US" sz="900" dirty="0">
                <a:solidFill>
                  <a:srgbClr val="6B7A8D"/>
                </a:solidFill>
                <a:latin typeface="Calibri" pitchFamily="34" charset="0"/>
                <a:ea typeface="Calibri" pitchFamily="34" charset="-122"/>
                <a:cs typeface="Calibri" pitchFamily="34" charset="-120"/>
              </a:rPr>
              <a:t>no model key? it routes to a human instead of guessing</a:t>
            </a:r>
            <a:endParaRPr lang="en-US" sz="1150" dirty="0"/>
          </a:p>
        </p:txBody>
      </p:sp>
      <p:sp>
        <p:nvSpPr>
          <p:cNvPr id="24" name="Text 22"/>
          <p:cNvSpPr/>
          <p:nvPr/>
        </p:nvSpPr>
        <p:spPr>
          <a:xfrm>
            <a:off x="2651760" y="4315968"/>
            <a:ext cx="2743200" cy="201168"/>
          </a:xfrm>
          <a:prstGeom prst="rect">
            <a:avLst/>
          </a:prstGeom>
          <a:noFill/>
          <a:ln/>
        </p:spPr>
        <p:txBody>
          <a:bodyPr wrap="square" lIns="0" tIns="0" rIns="0" bIns="0" rtlCol="0" anchor="ctr"/>
          <a:lstStyle/>
          <a:p>
            <a:pPr indent="0" marL="0">
              <a:buNone/>
            </a:pPr>
            <a:r>
              <a:rPr lang="en-US" sz="900" b="1" spc="200" kern="0" dirty="0">
                <a:solidFill>
                  <a:srgbClr val="1B2A4A"/>
                </a:solidFill>
                <a:latin typeface="Calibri" pitchFamily="34" charset="0"/>
                <a:ea typeface="Calibri" pitchFamily="34" charset="-122"/>
                <a:cs typeface="Calibri" pitchFamily="34" charset="-120"/>
              </a:rPr>
              <a:t>WHAT IT KNOWS</a:t>
            </a:r>
            <a:endParaRPr lang="en-US" sz="900" dirty="0"/>
          </a:p>
        </p:txBody>
      </p:sp>
      <p:sp>
        <p:nvSpPr>
          <p:cNvPr id="25" name="Shape 23"/>
          <p:cNvSpPr/>
          <p:nvPr/>
        </p:nvSpPr>
        <p:spPr>
          <a:xfrm>
            <a:off x="2651760" y="4535424"/>
            <a:ext cx="3840480" cy="987552"/>
          </a:xfrm>
          <a:prstGeom prst="roundRect">
            <a:avLst>
              <a:gd name="adj" fmla="val 5556"/>
            </a:avLst>
          </a:prstGeom>
          <a:solidFill>
            <a:srgbClr val="1B2A4A"/>
          </a:solidFill>
          <a:ln w="12700">
            <a:solidFill>
              <a:srgbClr val="D8E1EC"/>
            </a:solidFill>
            <a:prstDash val="solid"/>
          </a:ln>
          <a:effectLst>
            <a:outerShdw sx="100000" sy="100000" kx="0" ky="0" algn="bl" rotWithShape="0" blurRad="88900" dist="38100" dir="8100000">
              <a:srgbClr val="1B2A4A">
                <a:alpha val="12000"/>
              </a:srgbClr>
            </a:outerShdw>
          </a:effectLst>
        </p:spPr>
      </p:sp>
      <p:sp>
        <p:nvSpPr>
          <p:cNvPr id="26" name="Text 24"/>
          <p:cNvSpPr/>
          <p:nvPr/>
        </p:nvSpPr>
        <p:spPr>
          <a:xfrm>
            <a:off x="2743200" y="4535424"/>
            <a:ext cx="3657600" cy="987552"/>
          </a:xfrm>
          <a:prstGeom prst="rect">
            <a:avLst/>
          </a:prstGeom>
          <a:noFill/>
          <a:ln/>
        </p:spPr>
        <p:txBody>
          <a:bodyPr wrap="square" lIns="25400" tIns="25400" rIns="25400" bIns="25400" rtlCol="0" anchor="ctr"/>
          <a:lstStyle/>
          <a:p>
            <a:pPr algn="ctr" indent="0" marL="0">
              <a:lnSpc>
                <a:spcPct val="95000"/>
              </a:lnSpc>
              <a:buNone/>
            </a:pPr>
            <a:r>
              <a:rPr lang="en-US" sz="1150" b="1" dirty="0">
                <a:solidFill>
                  <a:srgbClr val="FFFFFF"/>
                </a:solidFill>
                <a:latin typeface="Calibri" pitchFamily="34" charset="0"/>
                <a:ea typeface="Calibri" pitchFamily="34" charset="-122"/>
                <a:cs typeface="Calibri" pitchFamily="34" charset="-120"/>
              </a:rPr>
              <a:t>PostgreSQL 16 + pgvector</a:t>
            </a:r>
            <a:endParaRPr lang="en-US" sz="1150" dirty="0"/>
          </a:p>
          <a:p>
            <a:pPr algn="ctr" indent="0" marL="0">
              <a:lnSpc>
                <a:spcPct val="95000"/>
              </a:lnSpc>
              <a:buNone/>
            </a:pPr>
            <a:r>
              <a:rPr lang="en-US" sz="900" dirty="0">
                <a:solidFill>
                  <a:srgbClr val="D7E3F5"/>
                </a:solidFill>
                <a:latin typeface="Calibri" pitchFamily="34" charset="0"/>
                <a:ea typeface="Calibri" pitchFamily="34" charset="-122"/>
                <a:cs typeface="Calibri" pitchFamily="34" charset="-120"/>
              </a:rPr>
              <a:t>encounters, runs, codes, the audit trail and settings</a:t>
            </a:r>
            <a:endParaRPr lang="en-US" sz="1150" dirty="0"/>
          </a:p>
        </p:txBody>
      </p:sp>
      <p:sp>
        <p:nvSpPr>
          <p:cNvPr id="27" name="Shape 25"/>
          <p:cNvSpPr/>
          <p:nvPr/>
        </p:nvSpPr>
        <p:spPr>
          <a:xfrm>
            <a:off x="6766560" y="4535424"/>
            <a:ext cx="4206240" cy="987552"/>
          </a:xfrm>
          <a:prstGeom prst="roundRect">
            <a:avLst>
              <a:gd name="adj" fmla="val 5556"/>
            </a:avLst>
          </a:prstGeom>
          <a:solidFill>
            <a:srgbClr val="FFFFFF"/>
          </a:solidFill>
          <a:ln w="12700">
            <a:solidFill>
              <a:srgbClr val="D8E1EC"/>
            </a:solidFill>
            <a:prstDash val="solid"/>
          </a:ln>
          <a:effectLst>
            <a:outerShdw sx="100000" sy="100000" kx="0" ky="0" algn="bl" rotWithShape="0" blurRad="88900" dist="38100" dir="8100000">
              <a:srgbClr val="1B2A4A">
                <a:alpha val="12000"/>
              </a:srgbClr>
            </a:outerShdw>
          </a:effectLst>
        </p:spPr>
      </p:sp>
      <p:sp>
        <p:nvSpPr>
          <p:cNvPr id="28" name="Text 26"/>
          <p:cNvSpPr/>
          <p:nvPr/>
        </p:nvSpPr>
        <p:spPr>
          <a:xfrm>
            <a:off x="6858000" y="4535424"/>
            <a:ext cx="4023360" cy="987552"/>
          </a:xfrm>
          <a:prstGeom prst="rect">
            <a:avLst/>
          </a:prstGeom>
          <a:noFill/>
          <a:ln/>
        </p:spPr>
        <p:txBody>
          <a:bodyPr wrap="square" lIns="25400" tIns="25400" rIns="25400" bIns="25400" rtlCol="0" anchor="ctr"/>
          <a:lstStyle/>
          <a:p>
            <a:pPr algn="ctr" indent="0" marL="0">
              <a:lnSpc>
                <a:spcPct val="95000"/>
              </a:lnSpc>
              <a:buNone/>
            </a:pPr>
            <a:r>
              <a:rPr lang="en-US" sz="1150" b="1" dirty="0">
                <a:solidFill>
                  <a:srgbClr val="27313F"/>
                </a:solidFill>
                <a:latin typeface="Calibri" pitchFamily="34" charset="0"/>
                <a:ea typeface="Calibri" pitchFamily="34" charset="-122"/>
                <a:cs typeface="Calibri" pitchFamily="34" charset="-120"/>
              </a:rPr>
              <a:t>Knowledge &amp; reference store</a:t>
            </a:r>
            <a:endParaRPr lang="en-US" sz="1150" dirty="0"/>
          </a:p>
          <a:p>
            <a:pPr algn="ctr" indent="0" marL="0">
              <a:lnSpc>
                <a:spcPct val="95000"/>
              </a:lnSpc>
              <a:buNone/>
            </a:pPr>
            <a:r>
              <a:rPr lang="en-US" sz="900" dirty="0">
                <a:solidFill>
                  <a:srgbClr val="6B7A8D"/>
                </a:solidFill>
                <a:latin typeface="Calibri" pitchFamily="34" charset="0"/>
                <a:ea typeface="Calibri" pitchFamily="34" charset="-122"/>
                <a:cs typeface="Calibri" pitchFamily="34" charset="-120"/>
              </a:rPr>
              <a:t>payer policies · the ontology (KG) · ICD-10 / CPT* / HCPCS · NCCI / MUE / modifiers · guidelines</a:t>
            </a:r>
            <a:endParaRPr lang="en-US" sz="1150" dirty="0"/>
          </a:p>
        </p:txBody>
      </p:sp>
      <p:sp>
        <p:nvSpPr>
          <p:cNvPr id="29" name="Shape 27"/>
          <p:cNvSpPr/>
          <p:nvPr/>
        </p:nvSpPr>
        <p:spPr>
          <a:xfrm>
            <a:off x="457200" y="1298448"/>
            <a:ext cx="2057400" cy="4224528"/>
          </a:xfrm>
          <a:prstGeom prst="roundRect">
            <a:avLst>
              <a:gd name="adj" fmla="val 2667"/>
            </a:avLst>
          </a:prstGeom>
          <a:solidFill>
            <a:srgbClr val="EAF1F8"/>
          </a:solidFill>
          <a:ln/>
        </p:spPr>
      </p:sp>
      <p:sp>
        <p:nvSpPr>
          <p:cNvPr id="30" name="Text 28"/>
          <p:cNvSpPr/>
          <p:nvPr/>
        </p:nvSpPr>
        <p:spPr>
          <a:xfrm>
            <a:off x="594360" y="1463040"/>
            <a:ext cx="1828800" cy="27432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How it ships</a:t>
            </a:r>
            <a:endParaRPr lang="en-US" sz="1200" dirty="0"/>
          </a:p>
        </p:txBody>
      </p:sp>
      <p:sp>
        <p:nvSpPr>
          <p:cNvPr id="31" name="Text 29"/>
          <p:cNvSpPr/>
          <p:nvPr/>
        </p:nvSpPr>
        <p:spPr>
          <a:xfrm>
            <a:off x="594360" y="1783080"/>
            <a:ext cx="1810512" cy="4114800"/>
          </a:xfrm>
          <a:prstGeom prst="rect">
            <a:avLst/>
          </a:prstGeom>
          <a:noFill/>
          <a:ln/>
        </p:spPr>
        <p:txBody>
          <a:bodyPr wrap="square" lIns="0" tIns="0" rIns="0" bIns="0" rtlCol="0" anchor="t"/>
          <a:lstStyle/>
          <a:p>
            <a:pPr indent="0" marL="0">
              <a:lnSpc>
                <a:spcPct val="100000"/>
              </a:lnSpc>
              <a:buNone/>
            </a:pPr>
            <a:r>
              <a:rPr lang="en-US" sz="1100" b="1" dirty="0">
                <a:solidFill>
                  <a:srgbClr val="27313F"/>
                </a:solidFill>
                <a:latin typeface="Calibri" pitchFamily="34" charset="0"/>
                <a:ea typeface="Calibri" pitchFamily="34" charset="-122"/>
                <a:cs typeface="Calibri" pitchFamily="34" charset="-120"/>
              </a:rPr>
              <a:t>One Docker command</a:t>
            </a:r>
            <a:endParaRPr lang="en-US" sz="1100" dirty="0"/>
          </a:p>
          <a:p>
            <a:pPr indent="0" marL="0">
              <a:lnSpc>
                <a:spcPct val="100000"/>
              </a:lnSpc>
              <a:buNone/>
            </a:pPr>
            <a:r>
              <a:rPr lang="en-US" sz="1000" dirty="0">
                <a:solidFill>
                  <a:srgbClr val="6B7A8D"/>
                </a:solidFill>
                <a:latin typeface="Calibri" pitchFamily="34" charset="0"/>
                <a:ea typeface="Calibri" pitchFamily="34" charset="-122"/>
                <a:cs typeface="Calibri" pitchFamily="34" charset="-120"/>
              </a:rPr>
              <a:t>web, api and database come up together</a:t>
            </a:r>
            <a:endParaRPr lang="en-US" sz="1100" dirty="0"/>
          </a:p>
          <a:p>
            <a:pPr indent="0" marL="0">
              <a:lnSpc>
                <a:spcPct val="100000"/>
              </a:lnSpc>
              <a:buNone/>
            </a:pPr>
            <a:r>
              <a:rPr lang="en-US" sz="600" dirty="0">
                <a:solidFill>
                  <a:srgbClr val="000000"/>
                </a:solidFill>
                <a:latin typeface="Calibri" pitchFamily="34" charset="0"/>
                <a:ea typeface="Calibri" pitchFamily="34" charset="-122"/>
                <a:cs typeface="Calibri" pitchFamily="34" charset="-120"/>
              </a:rPr>
              <a:t> </a:t>
            </a:r>
            <a:endParaRPr lang="en-US" sz="1100" dirty="0"/>
          </a:p>
          <a:p>
            <a:pPr indent="0" marL="0">
              <a:lnSpc>
                <a:spcPct val="100000"/>
              </a:lnSpc>
              <a:buNone/>
            </a:pPr>
            <a:r>
              <a:rPr lang="en-US" sz="1100" b="1" dirty="0">
                <a:solidFill>
                  <a:srgbClr val="27313F"/>
                </a:solidFill>
                <a:latin typeface="Calibri" pitchFamily="34" charset="0"/>
                <a:ea typeface="Calibri" pitchFamily="34" charset="-122"/>
                <a:cs typeface="Calibri" pitchFamily="34" charset="-120"/>
              </a:rPr>
              <a:t>Runs on its own</a:t>
            </a:r>
            <a:endParaRPr lang="en-US" sz="1100" dirty="0"/>
          </a:p>
          <a:p>
            <a:pPr indent="0" marL="0">
              <a:lnSpc>
                <a:spcPct val="100000"/>
              </a:lnSpc>
              <a:buNone/>
            </a:pPr>
            <a:r>
              <a:rPr lang="en-US" sz="1000" dirty="0">
                <a:solidFill>
                  <a:srgbClr val="6B7A8D"/>
                </a:solidFill>
                <a:latin typeface="Calibri" pitchFamily="34" charset="0"/>
                <a:ea typeface="Calibri" pitchFamily="34" charset="-122"/>
                <a:cs typeface="Calibri" pitchFamily="34" charset="-120"/>
              </a:rPr>
              <a:t>retrieval, the checks and the audit trail need no outside services</a:t>
            </a:r>
            <a:endParaRPr lang="en-US" sz="1100" dirty="0"/>
          </a:p>
          <a:p>
            <a:pPr indent="0" marL="0">
              <a:lnSpc>
                <a:spcPct val="100000"/>
              </a:lnSpc>
              <a:buNone/>
            </a:pPr>
            <a:r>
              <a:rPr lang="en-US" sz="600" dirty="0">
                <a:solidFill>
                  <a:srgbClr val="000000"/>
                </a:solidFill>
                <a:latin typeface="Calibri" pitchFamily="34" charset="0"/>
                <a:ea typeface="Calibri" pitchFamily="34" charset="-122"/>
                <a:cs typeface="Calibri" pitchFamily="34" charset="-120"/>
              </a:rPr>
              <a:t> </a:t>
            </a:r>
            <a:endParaRPr lang="en-US" sz="1100" dirty="0"/>
          </a:p>
          <a:p>
            <a:pPr indent="0" marL="0">
              <a:lnSpc>
                <a:spcPct val="100000"/>
              </a:lnSpc>
              <a:buNone/>
            </a:pPr>
            <a:r>
              <a:rPr lang="en-US" sz="1100" b="1" dirty="0">
                <a:solidFill>
                  <a:srgbClr val="27313F"/>
                </a:solidFill>
                <a:latin typeface="Calibri" pitchFamily="34" charset="0"/>
                <a:ea typeface="Calibri" pitchFamily="34" charset="-122"/>
                <a:cs typeface="Calibri" pitchFamily="34" charset="-120"/>
              </a:rPr>
              <a:t>Built for your cloud</a:t>
            </a:r>
            <a:endParaRPr lang="en-US" sz="1100" dirty="0"/>
          </a:p>
          <a:p>
            <a:pPr indent="0" marL="0">
              <a:lnSpc>
                <a:spcPct val="100000"/>
              </a:lnSpc>
              <a:buNone/>
            </a:pPr>
            <a:r>
              <a:rPr lang="en-US" sz="1000" dirty="0">
                <a:solidFill>
                  <a:srgbClr val="6B7A8D"/>
                </a:solidFill>
                <a:latin typeface="Calibri" pitchFamily="34" charset="0"/>
                <a:ea typeface="Calibri" pitchFamily="34" charset="-122"/>
                <a:cs typeface="Calibri" pitchFamily="34" charset="-120"/>
              </a:rPr>
              <a:t>Azure + Azure AI Foundry, US-region, multi-tenant</a:t>
            </a:r>
            <a:endParaRPr lang="en-US" sz="1100" dirty="0"/>
          </a:p>
        </p:txBody>
      </p:sp>
      <p:sp>
        <p:nvSpPr>
          <p:cNvPr id="32" name="Text 30"/>
          <p:cNvSpPr/>
          <p:nvPr/>
        </p:nvSpPr>
        <p:spPr>
          <a:xfrm>
            <a:off x="2651760" y="5797296"/>
            <a:ext cx="9052560" cy="228600"/>
          </a:xfrm>
          <a:prstGeom prst="rect">
            <a:avLst/>
          </a:prstGeom>
          <a:noFill/>
          <a:ln/>
        </p:spPr>
        <p:txBody>
          <a:bodyPr wrap="square" lIns="0" tIns="0" rIns="0" bIns="0" rtlCol="0" anchor="ctr"/>
          <a:lstStyle/>
          <a:p>
            <a:pPr indent="0" marL="0">
              <a:buNone/>
            </a:pPr>
            <a:r>
              <a:rPr lang="en-US" sz="850" i="1" dirty="0">
                <a:solidFill>
                  <a:srgbClr val="6B7A8D"/>
                </a:solidFill>
                <a:latin typeface="Calibri" pitchFamily="34" charset="0"/>
                <a:ea typeface="Calibri" pitchFamily="34" charset="-122"/>
                <a:cs typeface="Calibri" pitchFamily="34" charset="-120"/>
              </a:rPr>
              <a:t>*CPT is shown as a clearly-labelled placeholder; in production we drop in your licensed AMA CPT set — same shape.</a:t>
            </a:r>
            <a:endParaRPr lang="en-US" sz="850" dirty="0"/>
          </a:p>
        </p:txBody>
      </p:sp>
      <p:sp>
        <p:nvSpPr>
          <p:cNvPr id="33" name="Shape 31"/>
          <p:cNvSpPr/>
          <p:nvPr/>
        </p:nvSpPr>
        <p:spPr>
          <a:xfrm>
            <a:off x="0" y="6565392"/>
            <a:ext cx="12188952" cy="292608"/>
          </a:xfrm>
          <a:prstGeom prst="rect">
            <a:avLst/>
          </a:prstGeom>
          <a:solidFill>
            <a:srgbClr val="0E1B33"/>
          </a:solidFill>
          <a:ln/>
        </p:spPr>
      </p:sp>
      <p:sp>
        <p:nvSpPr>
          <p:cNvPr id="34" name="Text 32"/>
          <p:cNvSpPr/>
          <p:nvPr/>
        </p:nvSpPr>
        <p:spPr>
          <a:xfrm>
            <a:off x="457200" y="6565392"/>
            <a:ext cx="5486400" cy="292608"/>
          </a:xfrm>
          <a:prstGeom prst="rect">
            <a:avLst/>
          </a:prstGeom>
          <a:noFill/>
          <a:ln/>
        </p:spPr>
        <p:txBody>
          <a:bodyPr wrap="square" lIns="0" tIns="0" rIns="0" bIns="0" rtlCol="0" anchor="ctr"/>
          <a:lstStyle/>
          <a:p>
            <a:pPr indent="0" marL="0">
              <a:buNone/>
            </a:pPr>
            <a:r>
              <a:rPr lang="en-US" sz="850" dirty="0">
                <a:solidFill>
                  <a:srgbClr val="9FB0C7"/>
                </a:solidFill>
                <a:latin typeface="Calibri" pitchFamily="34" charset="0"/>
                <a:ea typeface="Calibri" pitchFamily="34" charset="-122"/>
                <a:cs typeface="Calibri" pitchFamily="34" charset="-120"/>
              </a:rPr>
              <a:t>ACE · Autonomous Coding Engine</a:t>
            </a:r>
            <a:endParaRPr lang="en-US" sz="850" dirty="0"/>
          </a:p>
        </p:txBody>
      </p:sp>
      <p:sp>
        <p:nvSpPr>
          <p:cNvPr id="35" name="Text 33"/>
          <p:cNvSpPr/>
          <p:nvPr/>
        </p:nvSpPr>
        <p:spPr>
          <a:xfrm>
            <a:off x="6245352" y="6565392"/>
            <a:ext cx="5486400" cy="292608"/>
          </a:xfrm>
          <a:prstGeom prst="rect">
            <a:avLst/>
          </a:prstGeom>
          <a:noFill/>
          <a:ln/>
        </p:spPr>
        <p:txBody>
          <a:bodyPr wrap="square" lIns="0" tIns="0" rIns="0" bIns="0" rtlCol="0" anchor="ctr"/>
          <a:lstStyle/>
          <a:p>
            <a:pPr algn="r" indent="0" marL="0">
              <a:buNone/>
            </a:pPr>
            <a:r>
              <a:rPr lang="en-US" sz="850" dirty="0">
                <a:solidFill>
                  <a:srgbClr val="9FB0C7"/>
                </a:solidFill>
                <a:latin typeface="Calibri" pitchFamily="34" charset="0"/>
                <a:ea typeface="Calibri" pitchFamily="34" charset="-122"/>
                <a:cs typeface="Calibri" pitchFamily="34" charset="-120"/>
              </a:rPr>
              <a:t>Nous Infosystems  ·  for Vee Healthtek  ·  Confidential</a:t>
            </a:r>
            <a:endParaRPr lang="en-US" sz="850" dirty="0"/>
          </a:p>
        </p:txBody>
      </p:sp>
      <p:sp>
        <p:nvSpPr>
          <p:cNvPr id="36" name="Text 34"/>
          <p:cNvSpPr/>
          <p:nvPr/>
        </p:nvSpPr>
        <p:spPr>
          <a:xfrm>
            <a:off x="11686032" y="6565392"/>
            <a:ext cx="365760" cy="292608"/>
          </a:xfrm>
          <a:prstGeom prst="rect">
            <a:avLst/>
          </a:prstGeom>
          <a:noFill/>
          <a:ln/>
        </p:spPr>
        <p:txBody>
          <a:bodyPr wrap="square" lIns="0" tIns="0" rIns="0" bIns="0" rtlCol="0" anchor="ctr"/>
          <a:lstStyle/>
          <a:p>
            <a:pPr algn="r" indent="0" marL="0">
              <a:buNone/>
            </a:pPr>
            <a:r>
              <a:rPr lang="en-US" sz="850" b="1" dirty="0">
                <a:solidFill>
                  <a:srgbClr val="13B5A6"/>
                </a:solidFill>
                <a:latin typeface="Calibri" pitchFamily="34" charset="0"/>
                <a:ea typeface="Calibri" pitchFamily="34" charset="-122"/>
                <a:cs typeface="Calibri"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8FC"/>
        </a:solidFill>
      </p:bgPr>
    </p:bg>
    <p:spTree>
      <p:nvGrpSpPr>
        <p:cNvPr id="1" name=""/>
        <p:cNvGrpSpPr/>
        <p:nvPr/>
      </p:nvGrpSpPr>
      <p:grpSpPr>
        <a:xfrm>
          <a:off x="0" y="0"/>
          <a:ext cx="0" cy="0"/>
          <a:chOff x="0" y="0"/>
          <a:chExt cx="0" cy="0"/>
        </a:xfrm>
      </p:grpSpPr>
      <p:sp>
        <p:nvSpPr>
          <p:cNvPr id="2" name="Shape 0"/>
          <p:cNvSpPr/>
          <p:nvPr/>
        </p:nvSpPr>
        <p:spPr>
          <a:xfrm>
            <a:off x="0" y="0"/>
            <a:ext cx="12188952" cy="1078992"/>
          </a:xfrm>
          <a:prstGeom prst="rect">
            <a:avLst/>
          </a:prstGeom>
          <a:solidFill>
            <a:srgbClr val="FFFFFF"/>
          </a:solidFill>
          <a:ln/>
        </p:spPr>
      </p:sp>
      <p:sp>
        <p:nvSpPr>
          <p:cNvPr id="3" name="Shape 1"/>
          <p:cNvSpPr/>
          <p:nvPr/>
        </p:nvSpPr>
        <p:spPr>
          <a:xfrm>
            <a:off x="0" y="1078992"/>
            <a:ext cx="12188952" cy="27432"/>
          </a:xfrm>
          <a:prstGeom prst="rect">
            <a:avLst/>
          </a:prstGeom>
          <a:solidFill>
            <a:srgbClr val="D8E1EC"/>
          </a:solidFill>
          <a:ln/>
        </p:spPr>
      </p:sp>
      <p:sp>
        <p:nvSpPr>
          <p:cNvPr id="4" name="Shape 2"/>
          <p:cNvSpPr/>
          <p:nvPr/>
        </p:nvSpPr>
        <p:spPr>
          <a:xfrm>
            <a:off x="457200" y="310896"/>
            <a:ext cx="109728" cy="512064"/>
          </a:xfrm>
          <a:prstGeom prst="rect">
            <a:avLst/>
          </a:prstGeom>
          <a:solidFill>
            <a:srgbClr val="13B5A6"/>
          </a:solidFill>
          <a:ln/>
        </p:spPr>
      </p:sp>
      <p:sp>
        <p:nvSpPr>
          <p:cNvPr id="5" name="Text 3"/>
          <p:cNvSpPr/>
          <p:nvPr/>
        </p:nvSpPr>
        <p:spPr>
          <a:xfrm>
            <a:off x="713232" y="274320"/>
            <a:ext cx="10058400" cy="237744"/>
          </a:xfrm>
          <a:prstGeom prst="rect">
            <a:avLst/>
          </a:prstGeom>
          <a:noFill/>
          <a:ln/>
        </p:spPr>
        <p:txBody>
          <a:bodyPr wrap="square" lIns="0" tIns="0" rIns="0" bIns="0" rtlCol="0" anchor="ctr"/>
          <a:lstStyle/>
          <a:p>
            <a:pPr indent="0" marL="0">
              <a:buNone/>
            </a:pPr>
            <a:r>
              <a:rPr lang="en-US" sz="1100" b="1" spc="200" kern="0" dirty="0">
                <a:solidFill>
                  <a:srgbClr val="13B5A6"/>
                </a:solidFill>
                <a:latin typeface="Calibri" pitchFamily="34" charset="0"/>
                <a:ea typeface="Calibri" pitchFamily="34" charset="-122"/>
                <a:cs typeface="Calibri" pitchFamily="34" charset="-120"/>
              </a:rPr>
              <a:t>TECHNICAL ARCHITECTURE</a:t>
            </a:r>
            <a:endParaRPr lang="en-US" sz="1100" dirty="0"/>
          </a:p>
        </p:txBody>
      </p:sp>
      <p:sp>
        <p:nvSpPr>
          <p:cNvPr id="6" name="Text 4"/>
          <p:cNvSpPr/>
          <p:nvPr/>
        </p:nvSpPr>
        <p:spPr>
          <a:xfrm>
            <a:off x="713232" y="475488"/>
            <a:ext cx="11155680" cy="457200"/>
          </a:xfrm>
          <a:prstGeom prst="rect">
            <a:avLst/>
          </a:prstGeom>
          <a:noFill/>
          <a:ln/>
        </p:spPr>
        <p:txBody>
          <a:bodyPr wrap="square" lIns="0" tIns="0" rIns="0" bIns="0" rtlCol="0" anchor="ctr"/>
          <a:lstStyle/>
          <a:p>
            <a:pPr indent="0" marL="0">
              <a:buNone/>
            </a:pPr>
            <a:r>
              <a:rPr lang="en-US" sz="2300" b="1" dirty="0">
                <a:solidFill>
                  <a:srgbClr val="1B2A4A"/>
                </a:solidFill>
                <a:latin typeface="Georgia" pitchFamily="34" charset="0"/>
                <a:ea typeface="Georgia" pitchFamily="34" charset="-122"/>
                <a:cs typeface="Georgia" pitchFamily="34" charset="-120"/>
              </a:rPr>
              <a:t>Inside the coding agent — the steps it runs, in order</a:t>
            </a:r>
            <a:endParaRPr lang="en-US" sz="2300" dirty="0"/>
          </a:p>
        </p:txBody>
      </p:sp>
      <p:sp>
        <p:nvSpPr>
          <p:cNvPr id="7" name="Shape 5"/>
          <p:cNvSpPr/>
          <p:nvPr/>
        </p:nvSpPr>
        <p:spPr>
          <a:xfrm>
            <a:off x="457200" y="1371600"/>
            <a:ext cx="11274552" cy="585216"/>
          </a:xfrm>
          <a:prstGeom prst="roundRect">
            <a:avLst>
              <a:gd name="adj" fmla="val 7813"/>
            </a:avLst>
          </a:prstGeom>
          <a:solidFill>
            <a:srgbClr val="FBFDFF"/>
          </a:solidFill>
          <a:ln w="12700">
            <a:solidFill>
              <a:srgbClr val="D8E1EC"/>
            </a:solidFill>
            <a:prstDash val="solid"/>
          </a:ln>
        </p:spPr>
      </p:sp>
      <p:sp>
        <p:nvSpPr>
          <p:cNvPr id="8" name="Shape 6"/>
          <p:cNvSpPr/>
          <p:nvPr/>
        </p:nvSpPr>
        <p:spPr>
          <a:xfrm>
            <a:off x="566928" y="1481328"/>
            <a:ext cx="868680" cy="365760"/>
          </a:xfrm>
          <a:prstGeom prst="roundRect">
            <a:avLst>
              <a:gd name="adj" fmla="val 12500"/>
            </a:avLst>
          </a:prstGeom>
          <a:solidFill>
            <a:srgbClr val="64748B"/>
          </a:solidFill>
          <a:ln/>
        </p:spPr>
      </p:sp>
      <p:sp>
        <p:nvSpPr>
          <p:cNvPr id="9" name="Text 7"/>
          <p:cNvSpPr/>
          <p:nvPr/>
        </p:nvSpPr>
        <p:spPr>
          <a:xfrm>
            <a:off x="566928" y="1481328"/>
            <a:ext cx="86868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0</a:t>
            </a:r>
            <a:endParaRPr lang="en-US" sz="1500" dirty="0"/>
          </a:p>
        </p:txBody>
      </p:sp>
      <p:sp>
        <p:nvSpPr>
          <p:cNvPr id="10" name="Text 8"/>
          <p:cNvSpPr/>
          <p:nvPr/>
        </p:nvSpPr>
        <p:spPr>
          <a:xfrm>
            <a:off x="1600200" y="1371600"/>
            <a:ext cx="2697480" cy="58521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Is it codable?</a:t>
            </a:r>
            <a:endParaRPr lang="en-US" sz="1300" dirty="0"/>
          </a:p>
        </p:txBody>
      </p:sp>
      <p:sp>
        <p:nvSpPr>
          <p:cNvPr id="11" name="Text 9"/>
          <p:cNvSpPr/>
          <p:nvPr/>
        </p:nvSpPr>
        <p:spPr>
          <a:xfrm>
            <a:off x="4343400" y="1371600"/>
            <a:ext cx="7205472" cy="585216"/>
          </a:xfrm>
          <a:prstGeom prst="rect">
            <a:avLst/>
          </a:prstGeom>
          <a:noFill/>
          <a:ln/>
        </p:spPr>
        <p:txBody>
          <a:bodyPr wrap="square" lIns="0" tIns="0" rIns="0" bIns="0" rtlCol="0" anchor="ctr"/>
          <a:lstStyle/>
          <a:p>
            <a:pPr indent="0" marL="0">
              <a:lnSpc>
                <a:spcPct val="95000"/>
              </a:lnSpc>
              <a:buNone/>
            </a:pPr>
            <a:r>
              <a:rPr lang="en-US" sz="1100" dirty="0">
                <a:solidFill>
                  <a:srgbClr val="6B7A8D"/>
                </a:solidFill>
                <a:latin typeface="Calibri" pitchFamily="34" charset="0"/>
                <a:ea typeface="Calibri" pitchFamily="34" charset="-122"/>
                <a:cs typeface="Calibri" pitchFamily="34" charset="-120"/>
              </a:rPr>
              <a:t>A plain rule check: right documents, supported specialty, no exclusions. If not, it goes to a coder with the reason.</a:t>
            </a:r>
            <a:endParaRPr lang="en-US" sz="1100" dirty="0"/>
          </a:p>
        </p:txBody>
      </p:sp>
      <p:sp>
        <p:nvSpPr>
          <p:cNvPr id="12" name="Shape 10"/>
          <p:cNvSpPr/>
          <p:nvPr/>
        </p:nvSpPr>
        <p:spPr>
          <a:xfrm>
            <a:off x="457200" y="2007108"/>
            <a:ext cx="11274552" cy="585216"/>
          </a:xfrm>
          <a:prstGeom prst="roundRect">
            <a:avLst>
              <a:gd name="adj" fmla="val 7813"/>
            </a:avLst>
          </a:prstGeom>
          <a:solidFill>
            <a:srgbClr val="FFFFFF"/>
          </a:solidFill>
          <a:ln w="12700">
            <a:solidFill>
              <a:srgbClr val="D8E1EC"/>
            </a:solidFill>
            <a:prstDash val="solid"/>
          </a:ln>
        </p:spPr>
      </p:sp>
      <p:sp>
        <p:nvSpPr>
          <p:cNvPr id="13" name="Shape 11"/>
          <p:cNvSpPr/>
          <p:nvPr/>
        </p:nvSpPr>
        <p:spPr>
          <a:xfrm>
            <a:off x="566928" y="2116836"/>
            <a:ext cx="868680" cy="365760"/>
          </a:xfrm>
          <a:prstGeom prst="roundRect">
            <a:avLst>
              <a:gd name="adj" fmla="val 12500"/>
            </a:avLst>
          </a:prstGeom>
          <a:solidFill>
            <a:srgbClr val="0E8C81"/>
          </a:solidFill>
          <a:ln/>
        </p:spPr>
      </p:sp>
      <p:sp>
        <p:nvSpPr>
          <p:cNvPr id="14" name="Text 12"/>
          <p:cNvSpPr/>
          <p:nvPr/>
        </p:nvSpPr>
        <p:spPr>
          <a:xfrm>
            <a:off x="566928" y="2116836"/>
            <a:ext cx="86868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1·2</a:t>
            </a:r>
            <a:endParaRPr lang="en-US" sz="1500" dirty="0"/>
          </a:p>
        </p:txBody>
      </p:sp>
      <p:sp>
        <p:nvSpPr>
          <p:cNvPr id="15" name="Text 13"/>
          <p:cNvSpPr/>
          <p:nvPr/>
        </p:nvSpPr>
        <p:spPr>
          <a:xfrm>
            <a:off x="1600200" y="2007108"/>
            <a:ext cx="2697480" cy="58521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Read &amp; extract</a:t>
            </a:r>
            <a:endParaRPr lang="en-US" sz="1300" dirty="0"/>
          </a:p>
        </p:txBody>
      </p:sp>
      <p:sp>
        <p:nvSpPr>
          <p:cNvPr id="16" name="Text 14"/>
          <p:cNvSpPr/>
          <p:nvPr/>
        </p:nvSpPr>
        <p:spPr>
          <a:xfrm>
            <a:off x="4343400" y="2007108"/>
            <a:ext cx="7205472" cy="585216"/>
          </a:xfrm>
          <a:prstGeom prst="rect">
            <a:avLst/>
          </a:prstGeom>
          <a:noFill/>
          <a:ln/>
        </p:spPr>
        <p:txBody>
          <a:bodyPr wrap="square" lIns="0" tIns="0" rIns="0" bIns="0" rtlCol="0" anchor="ctr"/>
          <a:lstStyle/>
          <a:p>
            <a:pPr indent="0" marL="0">
              <a:lnSpc>
                <a:spcPct val="95000"/>
              </a:lnSpc>
              <a:buNone/>
            </a:pPr>
            <a:r>
              <a:rPr lang="en-US" sz="1100" dirty="0">
                <a:solidFill>
                  <a:srgbClr val="6B7A8D"/>
                </a:solidFill>
                <a:latin typeface="Calibri" pitchFamily="34" charset="0"/>
                <a:ea typeface="Calibri" pitchFamily="34" charset="-122"/>
                <a:cs typeface="Calibri" pitchFamily="34" charset="-120"/>
              </a:rPr>
              <a:t>One model call reads the chart and pulls out the findings, procedures, laterality and contrast in structured form.</a:t>
            </a:r>
            <a:endParaRPr lang="en-US" sz="1100" dirty="0"/>
          </a:p>
        </p:txBody>
      </p:sp>
      <p:sp>
        <p:nvSpPr>
          <p:cNvPr id="17" name="Shape 15"/>
          <p:cNvSpPr/>
          <p:nvPr/>
        </p:nvSpPr>
        <p:spPr>
          <a:xfrm>
            <a:off x="457200" y="2642616"/>
            <a:ext cx="11274552" cy="585216"/>
          </a:xfrm>
          <a:prstGeom prst="roundRect">
            <a:avLst>
              <a:gd name="adj" fmla="val 7813"/>
            </a:avLst>
          </a:prstGeom>
          <a:solidFill>
            <a:srgbClr val="FBFDFF"/>
          </a:solidFill>
          <a:ln w="12700">
            <a:solidFill>
              <a:srgbClr val="D8E1EC"/>
            </a:solidFill>
            <a:prstDash val="solid"/>
          </a:ln>
        </p:spPr>
      </p:sp>
      <p:sp>
        <p:nvSpPr>
          <p:cNvPr id="18" name="Shape 16"/>
          <p:cNvSpPr/>
          <p:nvPr/>
        </p:nvSpPr>
        <p:spPr>
          <a:xfrm>
            <a:off x="566928" y="2752344"/>
            <a:ext cx="868680" cy="365760"/>
          </a:xfrm>
          <a:prstGeom prst="roundRect">
            <a:avLst>
              <a:gd name="adj" fmla="val 12500"/>
            </a:avLst>
          </a:prstGeom>
          <a:solidFill>
            <a:srgbClr val="13B5A6"/>
          </a:solidFill>
          <a:ln/>
        </p:spPr>
      </p:sp>
      <p:sp>
        <p:nvSpPr>
          <p:cNvPr id="19" name="Text 17"/>
          <p:cNvSpPr/>
          <p:nvPr/>
        </p:nvSpPr>
        <p:spPr>
          <a:xfrm>
            <a:off x="566928" y="2752344"/>
            <a:ext cx="86868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RAG</a:t>
            </a:r>
            <a:endParaRPr lang="en-US" sz="1500" dirty="0"/>
          </a:p>
        </p:txBody>
      </p:sp>
      <p:sp>
        <p:nvSpPr>
          <p:cNvPr id="20" name="Text 18"/>
          <p:cNvSpPr/>
          <p:nvPr/>
        </p:nvSpPr>
        <p:spPr>
          <a:xfrm>
            <a:off x="1600200" y="2642616"/>
            <a:ext cx="2697480" cy="58521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Find candidate codes</a:t>
            </a:r>
            <a:endParaRPr lang="en-US" sz="1300" dirty="0"/>
          </a:p>
        </p:txBody>
      </p:sp>
      <p:sp>
        <p:nvSpPr>
          <p:cNvPr id="21" name="Text 19"/>
          <p:cNvSpPr/>
          <p:nvPr/>
        </p:nvSpPr>
        <p:spPr>
          <a:xfrm>
            <a:off x="4343400" y="2642616"/>
            <a:ext cx="7205472" cy="585216"/>
          </a:xfrm>
          <a:prstGeom prst="rect">
            <a:avLst/>
          </a:prstGeom>
          <a:noFill/>
          <a:ln/>
        </p:spPr>
        <p:txBody>
          <a:bodyPr wrap="square" lIns="0" tIns="0" rIns="0" bIns="0" rtlCol="0" anchor="ctr"/>
          <a:lstStyle/>
          <a:p>
            <a:pPr indent="0" marL="0">
              <a:lnSpc>
                <a:spcPct val="95000"/>
              </a:lnSpc>
              <a:buNone/>
            </a:pPr>
            <a:r>
              <a:rPr lang="en-US" sz="1100" dirty="0">
                <a:solidFill>
                  <a:srgbClr val="6B7A8D"/>
                </a:solidFill>
                <a:latin typeface="Calibri" pitchFamily="34" charset="0"/>
                <a:ea typeface="Calibri" pitchFamily="34" charset="-122"/>
                <a:cs typeface="Calibri" pitchFamily="34" charset="-120"/>
              </a:rPr>
              <a:t>Graph-RAG pulls candidates from the code sets, the ontology, payer policy and past corrections — the only codes it may use.</a:t>
            </a:r>
            <a:endParaRPr lang="en-US" sz="1100" dirty="0"/>
          </a:p>
        </p:txBody>
      </p:sp>
      <p:sp>
        <p:nvSpPr>
          <p:cNvPr id="22" name="Shape 20"/>
          <p:cNvSpPr/>
          <p:nvPr/>
        </p:nvSpPr>
        <p:spPr>
          <a:xfrm>
            <a:off x="457200" y="3278124"/>
            <a:ext cx="11274552" cy="585216"/>
          </a:xfrm>
          <a:prstGeom prst="roundRect">
            <a:avLst>
              <a:gd name="adj" fmla="val 7813"/>
            </a:avLst>
          </a:prstGeom>
          <a:solidFill>
            <a:srgbClr val="FFFFFF"/>
          </a:solidFill>
          <a:ln w="12700">
            <a:solidFill>
              <a:srgbClr val="D8E1EC"/>
            </a:solidFill>
            <a:prstDash val="solid"/>
          </a:ln>
        </p:spPr>
      </p:sp>
      <p:sp>
        <p:nvSpPr>
          <p:cNvPr id="23" name="Shape 21"/>
          <p:cNvSpPr/>
          <p:nvPr/>
        </p:nvSpPr>
        <p:spPr>
          <a:xfrm>
            <a:off x="566928" y="3387852"/>
            <a:ext cx="868680" cy="365760"/>
          </a:xfrm>
          <a:prstGeom prst="roundRect">
            <a:avLst>
              <a:gd name="adj" fmla="val 12500"/>
            </a:avLst>
          </a:prstGeom>
          <a:solidFill>
            <a:srgbClr val="0E8C81"/>
          </a:solidFill>
          <a:ln/>
        </p:spPr>
      </p:sp>
      <p:sp>
        <p:nvSpPr>
          <p:cNvPr id="24" name="Text 22"/>
          <p:cNvSpPr/>
          <p:nvPr/>
        </p:nvSpPr>
        <p:spPr>
          <a:xfrm>
            <a:off x="566928" y="3387852"/>
            <a:ext cx="86868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3</a:t>
            </a:r>
            <a:endParaRPr lang="en-US" sz="1500" dirty="0"/>
          </a:p>
        </p:txBody>
      </p:sp>
      <p:sp>
        <p:nvSpPr>
          <p:cNvPr id="25" name="Text 23"/>
          <p:cNvSpPr/>
          <p:nvPr/>
        </p:nvSpPr>
        <p:spPr>
          <a:xfrm>
            <a:off x="1600200" y="3278124"/>
            <a:ext cx="2697480" cy="58521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Code it, with citations</a:t>
            </a:r>
            <a:endParaRPr lang="en-US" sz="1300" dirty="0"/>
          </a:p>
        </p:txBody>
      </p:sp>
      <p:sp>
        <p:nvSpPr>
          <p:cNvPr id="26" name="Text 24"/>
          <p:cNvSpPr/>
          <p:nvPr/>
        </p:nvSpPr>
        <p:spPr>
          <a:xfrm>
            <a:off x="4343400" y="3278124"/>
            <a:ext cx="7205472" cy="585216"/>
          </a:xfrm>
          <a:prstGeom prst="rect">
            <a:avLst/>
          </a:prstGeom>
          <a:noFill/>
          <a:ln/>
        </p:spPr>
        <p:txBody>
          <a:bodyPr wrap="square" lIns="0" tIns="0" rIns="0" bIns="0" rtlCol="0" anchor="ctr"/>
          <a:lstStyle/>
          <a:p>
            <a:pPr indent="0" marL="0">
              <a:lnSpc>
                <a:spcPct val="95000"/>
              </a:lnSpc>
              <a:buNone/>
            </a:pPr>
            <a:r>
              <a:rPr lang="en-US" sz="1100" dirty="0">
                <a:solidFill>
                  <a:srgbClr val="6B7A8D"/>
                </a:solidFill>
                <a:latin typeface="Calibri" pitchFamily="34" charset="0"/>
                <a:ea typeface="Calibri" pitchFamily="34" charset="-122"/>
                <a:cs typeface="Calibri" pitchFamily="34" charset="-120"/>
              </a:rPr>
              <a:t>It picks codes and cites the chart line and guideline for each. Hard charts get a second, independent pass.</a:t>
            </a:r>
            <a:endParaRPr lang="en-US" sz="1100" dirty="0"/>
          </a:p>
        </p:txBody>
      </p:sp>
      <p:sp>
        <p:nvSpPr>
          <p:cNvPr id="27" name="Shape 25"/>
          <p:cNvSpPr/>
          <p:nvPr/>
        </p:nvSpPr>
        <p:spPr>
          <a:xfrm>
            <a:off x="457200" y="3913632"/>
            <a:ext cx="11274552" cy="585216"/>
          </a:xfrm>
          <a:prstGeom prst="roundRect">
            <a:avLst>
              <a:gd name="adj" fmla="val 7813"/>
            </a:avLst>
          </a:prstGeom>
          <a:solidFill>
            <a:srgbClr val="FBFDFF"/>
          </a:solidFill>
          <a:ln w="12700">
            <a:solidFill>
              <a:srgbClr val="D8E1EC"/>
            </a:solidFill>
            <a:prstDash val="solid"/>
          </a:ln>
        </p:spPr>
      </p:sp>
      <p:sp>
        <p:nvSpPr>
          <p:cNvPr id="28" name="Shape 26"/>
          <p:cNvSpPr/>
          <p:nvPr/>
        </p:nvSpPr>
        <p:spPr>
          <a:xfrm>
            <a:off x="566928" y="4023360"/>
            <a:ext cx="868680" cy="365760"/>
          </a:xfrm>
          <a:prstGeom prst="roundRect">
            <a:avLst>
              <a:gd name="adj" fmla="val 12500"/>
            </a:avLst>
          </a:prstGeom>
          <a:solidFill>
            <a:srgbClr val="24365C"/>
          </a:solidFill>
          <a:ln/>
        </p:spPr>
      </p:sp>
      <p:sp>
        <p:nvSpPr>
          <p:cNvPr id="29" name="Text 27"/>
          <p:cNvSpPr/>
          <p:nvPr/>
        </p:nvSpPr>
        <p:spPr>
          <a:xfrm>
            <a:off x="566928" y="4023360"/>
            <a:ext cx="86868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3b</a:t>
            </a:r>
            <a:endParaRPr lang="en-US" sz="1500" dirty="0"/>
          </a:p>
        </p:txBody>
      </p:sp>
      <p:sp>
        <p:nvSpPr>
          <p:cNvPr id="30" name="Text 28"/>
          <p:cNvSpPr/>
          <p:nvPr/>
        </p:nvSpPr>
        <p:spPr>
          <a:xfrm>
            <a:off x="1600200" y="3913632"/>
            <a:ext cx="2697480" cy="58521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Check the citations</a:t>
            </a:r>
            <a:endParaRPr lang="en-US" sz="1300" dirty="0"/>
          </a:p>
        </p:txBody>
      </p:sp>
      <p:sp>
        <p:nvSpPr>
          <p:cNvPr id="31" name="Text 29"/>
          <p:cNvSpPr/>
          <p:nvPr/>
        </p:nvSpPr>
        <p:spPr>
          <a:xfrm>
            <a:off x="4343400" y="3913632"/>
            <a:ext cx="7205472" cy="585216"/>
          </a:xfrm>
          <a:prstGeom prst="rect">
            <a:avLst/>
          </a:prstGeom>
          <a:noFill/>
          <a:ln/>
        </p:spPr>
        <p:txBody>
          <a:bodyPr wrap="square" lIns="0" tIns="0" rIns="0" bIns="0" rtlCol="0" anchor="ctr"/>
          <a:lstStyle/>
          <a:p>
            <a:pPr indent="0" marL="0">
              <a:lnSpc>
                <a:spcPct val="95000"/>
              </a:lnSpc>
              <a:buNone/>
            </a:pPr>
            <a:r>
              <a:rPr lang="en-US" sz="1100" dirty="0">
                <a:solidFill>
                  <a:srgbClr val="6B7A8D"/>
                </a:solidFill>
                <a:latin typeface="Calibri" pitchFamily="34" charset="0"/>
                <a:ea typeface="Calibri" pitchFamily="34" charset="-122"/>
                <a:cs typeface="Calibri" pitchFamily="34" charset="-120"/>
              </a:rPr>
              <a:t>Every cited line is verified against the chart; anything unsupported is dropped before the rules run.</a:t>
            </a:r>
            <a:endParaRPr lang="en-US" sz="1100" dirty="0"/>
          </a:p>
        </p:txBody>
      </p:sp>
      <p:sp>
        <p:nvSpPr>
          <p:cNvPr id="32" name="Shape 30"/>
          <p:cNvSpPr/>
          <p:nvPr/>
        </p:nvSpPr>
        <p:spPr>
          <a:xfrm>
            <a:off x="457200" y="4549140"/>
            <a:ext cx="11274552" cy="585216"/>
          </a:xfrm>
          <a:prstGeom prst="roundRect">
            <a:avLst>
              <a:gd name="adj" fmla="val 7813"/>
            </a:avLst>
          </a:prstGeom>
          <a:solidFill>
            <a:srgbClr val="FFFFFF"/>
          </a:solidFill>
          <a:ln w="12700">
            <a:solidFill>
              <a:srgbClr val="D8E1EC"/>
            </a:solidFill>
            <a:prstDash val="solid"/>
          </a:ln>
        </p:spPr>
      </p:sp>
      <p:sp>
        <p:nvSpPr>
          <p:cNvPr id="33" name="Shape 31"/>
          <p:cNvSpPr/>
          <p:nvPr/>
        </p:nvSpPr>
        <p:spPr>
          <a:xfrm>
            <a:off x="566928" y="4658868"/>
            <a:ext cx="868680" cy="365760"/>
          </a:xfrm>
          <a:prstGeom prst="roundRect">
            <a:avLst>
              <a:gd name="adj" fmla="val 12500"/>
            </a:avLst>
          </a:prstGeom>
          <a:solidFill>
            <a:srgbClr val="24365C"/>
          </a:solidFill>
          <a:ln/>
        </p:spPr>
      </p:sp>
      <p:sp>
        <p:nvSpPr>
          <p:cNvPr id="34" name="Text 32"/>
          <p:cNvSpPr/>
          <p:nvPr/>
        </p:nvSpPr>
        <p:spPr>
          <a:xfrm>
            <a:off x="566928" y="4658868"/>
            <a:ext cx="86868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4</a:t>
            </a:r>
            <a:endParaRPr lang="en-US" sz="1500" dirty="0"/>
          </a:p>
        </p:txBody>
      </p:sp>
      <p:sp>
        <p:nvSpPr>
          <p:cNvPr id="35" name="Text 33"/>
          <p:cNvSpPr/>
          <p:nvPr/>
        </p:nvSpPr>
        <p:spPr>
          <a:xfrm>
            <a:off x="1600200" y="4549140"/>
            <a:ext cx="2697480" cy="58521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Run the rule checks</a:t>
            </a:r>
            <a:endParaRPr lang="en-US" sz="1300" dirty="0"/>
          </a:p>
        </p:txBody>
      </p:sp>
      <p:sp>
        <p:nvSpPr>
          <p:cNvPr id="36" name="Text 34"/>
          <p:cNvSpPr/>
          <p:nvPr/>
        </p:nvSpPr>
        <p:spPr>
          <a:xfrm>
            <a:off x="4343400" y="4549140"/>
            <a:ext cx="7205472" cy="585216"/>
          </a:xfrm>
          <a:prstGeom prst="rect">
            <a:avLst/>
          </a:prstGeom>
          <a:noFill/>
          <a:ln/>
        </p:spPr>
        <p:txBody>
          <a:bodyPr wrap="square" lIns="0" tIns="0" rIns="0" bIns="0" rtlCol="0" anchor="ctr"/>
          <a:lstStyle/>
          <a:p>
            <a:pPr indent="0" marL="0">
              <a:lnSpc>
                <a:spcPct val="95000"/>
              </a:lnSpc>
              <a:buNone/>
            </a:pPr>
            <a:r>
              <a:rPr lang="en-US" sz="1100" dirty="0">
                <a:solidFill>
                  <a:srgbClr val="6B7A8D"/>
                </a:solidFill>
                <a:latin typeface="Calibri" pitchFamily="34" charset="0"/>
                <a:ea typeface="Calibri" pitchFamily="34" charset="-122"/>
                <a:cs typeface="Calibri" pitchFamily="34" charset="-120"/>
              </a:rPr>
              <a:t>Plain, deterministic checks: NCCI bundling, MUE units, valid modifiers, specificity, sex/age, payer necessity.</a:t>
            </a:r>
            <a:endParaRPr lang="en-US" sz="1100" dirty="0"/>
          </a:p>
        </p:txBody>
      </p:sp>
      <p:sp>
        <p:nvSpPr>
          <p:cNvPr id="37" name="Shape 35"/>
          <p:cNvSpPr/>
          <p:nvPr/>
        </p:nvSpPr>
        <p:spPr>
          <a:xfrm>
            <a:off x="457200" y="5184648"/>
            <a:ext cx="11274552" cy="585216"/>
          </a:xfrm>
          <a:prstGeom prst="roundRect">
            <a:avLst>
              <a:gd name="adj" fmla="val 7813"/>
            </a:avLst>
          </a:prstGeom>
          <a:solidFill>
            <a:srgbClr val="FBFDFF"/>
          </a:solidFill>
          <a:ln w="12700">
            <a:solidFill>
              <a:srgbClr val="D8E1EC"/>
            </a:solidFill>
            <a:prstDash val="solid"/>
          </a:ln>
        </p:spPr>
      </p:sp>
      <p:sp>
        <p:nvSpPr>
          <p:cNvPr id="38" name="Shape 36"/>
          <p:cNvSpPr/>
          <p:nvPr/>
        </p:nvSpPr>
        <p:spPr>
          <a:xfrm>
            <a:off x="566928" y="5294376"/>
            <a:ext cx="868680" cy="365760"/>
          </a:xfrm>
          <a:prstGeom prst="roundRect">
            <a:avLst>
              <a:gd name="adj" fmla="val 12500"/>
            </a:avLst>
          </a:prstGeom>
          <a:solidFill>
            <a:srgbClr val="1B2A4A"/>
          </a:solidFill>
          <a:ln/>
        </p:spPr>
      </p:sp>
      <p:sp>
        <p:nvSpPr>
          <p:cNvPr id="39" name="Text 37"/>
          <p:cNvSpPr/>
          <p:nvPr/>
        </p:nvSpPr>
        <p:spPr>
          <a:xfrm>
            <a:off x="566928" y="5294376"/>
            <a:ext cx="86868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5</a:t>
            </a:r>
            <a:endParaRPr lang="en-US" sz="1500" dirty="0"/>
          </a:p>
        </p:txBody>
      </p:sp>
      <p:sp>
        <p:nvSpPr>
          <p:cNvPr id="40" name="Text 38"/>
          <p:cNvSpPr/>
          <p:nvPr/>
        </p:nvSpPr>
        <p:spPr>
          <a:xfrm>
            <a:off x="1600200" y="5184648"/>
            <a:ext cx="2697480" cy="58521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Score &amp; route</a:t>
            </a:r>
            <a:endParaRPr lang="en-US" sz="1300" dirty="0"/>
          </a:p>
        </p:txBody>
      </p:sp>
      <p:sp>
        <p:nvSpPr>
          <p:cNvPr id="41" name="Text 39"/>
          <p:cNvSpPr/>
          <p:nvPr/>
        </p:nvSpPr>
        <p:spPr>
          <a:xfrm>
            <a:off x="4343400" y="5184648"/>
            <a:ext cx="7205472" cy="585216"/>
          </a:xfrm>
          <a:prstGeom prst="rect">
            <a:avLst/>
          </a:prstGeom>
          <a:noFill/>
          <a:ln/>
        </p:spPr>
        <p:txBody>
          <a:bodyPr wrap="square" lIns="0" tIns="0" rIns="0" bIns="0" rtlCol="0" anchor="ctr"/>
          <a:lstStyle/>
          <a:p>
            <a:pPr indent="0" marL="0">
              <a:lnSpc>
                <a:spcPct val="95000"/>
              </a:lnSpc>
              <a:buNone/>
            </a:pPr>
            <a:r>
              <a:rPr lang="en-US" sz="1100" dirty="0">
                <a:solidFill>
                  <a:srgbClr val="6B7A8D"/>
                </a:solidFill>
                <a:latin typeface="Calibri" pitchFamily="34" charset="0"/>
                <a:ea typeface="Calibri" pitchFamily="34" charset="-122"/>
                <a:cs typeface="Calibri" pitchFamily="34" charset="-120"/>
              </a:rPr>
              <a:t>A confidence score sends it to auto-bill, QA or a coder — with hard limits that always send certain cases to a person.</a:t>
            </a:r>
            <a:endParaRPr lang="en-US" sz="1100" dirty="0"/>
          </a:p>
        </p:txBody>
      </p:sp>
      <p:sp>
        <p:nvSpPr>
          <p:cNvPr id="42" name="Text 40"/>
          <p:cNvSpPr/>
          <p:nvPr/>
        </p:nvSpPr>
        <p:spPr>
          <a:xfrm>
            <a:off x="457200" y="5929884"/>
            <a:ext cx="11274552" cy="320040"/>
          </a:xfrm>
          <a:prstGeom prst="rect">
            <a:avLst/>
          </a:prstGeom>
          <a:noFill/>
          <a:ln/>
        </p:spPr>
        <p:txBody>
          <a:bodyPr wrap="square" lIns="0" tIns="0" rIns="0" bIns="0" rtlCol="0" anchor="ctr"/>
          <a:lstStyle/>
          <a:p>
            <a:pPr indent="0" marL="0">
              <a:buNone/>
            </a:pPr>
            <a:r>
              <a:rPr lang="en-US" sz="1050" i="1" dirty="0">
                <a:solidFill>
                  <a:srgbClr val="0E8C81"/>
                </a:solidFill>
                <a:latin typeface="Calibri" pitchFamily="34" charset="0"/>
                <a:ea typeface="Calibri" pitchFamily="34" charset="-122"/>
                <a:cs typeface="Calibri" pitchFamily="34" charset="-120"/>
              </a:rPr>
              <a:t>You can watch all of this happen — the app streams each step live as the agent runs.</a:t>
            </a:r>
            <a:endParaRPr lang="en-US" sz="1050" dirty="0"/>
          </a:p>
        </p:txBody>
      </p:sp>
      <p:sp>
        <p:nvSpPr>
          <p:cNvPr id="43" name="Shape 41"/>
          <p:cNvSpPr/>
          <p:nvPr/>
        </p:nvSpPr>
        <p:spPr>
          <a:xfrm>
            <a:off x="0" y="6565392"/>
            <a:ext cx="12188952" cy="292608"/>
          </a:xfrm>
          <a:prstGeom prst="rect">
            <a:avLst/>
          </a:prstGeom>
          <a:solidFill>
            <a:srgbClr val="0E1B33"/>
          </a:solidFill>
          <a:ln/>
        </p:spPr>
      </p:sp>
      <p:sp>
        <p:nvSpPr>
          <p:cNvPr id="44" name="Text 42"/>
          <p:cNvSpPr/>
          <p:nvPr/>
        </p:nvSpPr>
        <p:spPr>
          <a:xfrm>
            <a:off x="457200" y="6565392"/>
            <a:ext cx="5486400" cy="292608"/>
          </a:xfrm>
          <a:prstGeom prst="rect">
            <a:avLst/>
          </a:prstGeom>
          <a:noFill/>
          <a:ln/>
        </p:spPr>
        <p:txBody>
          <a:bodyPr wrap="square" lIns="0" tIns="0" rIns="0" bIns="0" rtlCol="0" anchor="ctr"/>
          <a:lstStyle/>
          <a:p>
            <a:pPr indent="0" marL="0">
              <a:buNone/>
            </a:pPr>
            <a:r>
              <a:rPr lang="en-US" sz="850" dirty="0">
                <a:solidFill>
                  <a:srgbClr val="9FB0C7"/>
                </a:solidFill>
                <a:latin typeface="Calibri" pitchFamily="34" charset="0"/>
                <a:ea typeface="Calibri" pitchFamily="34" charset="-122"/>
                <a:cs typeface="Calibri" pitchFamily="34" charset="-120"/>
              </a:rPr>
              <a:t>ACE · Autonomous Coding Engine</a:t>
            </a:r>
            <a:endParaRPr lang="en-US" sz="850" dirty="0"/>
          </a:p>
        </p:txBody>
      </p:sp>
      <p:sp>
        <p:nvSpPr>
          <p:cNvPr id="45" name="Text 43"/>
          <p:cNvSpPr/>
          <p:nvPr/>
        </p:nvSpPr>
        <p:spPr>
          <a:xfrm>
            <a:off x="6245352" y="6565392"/>
            <a:ext cx="5486400" cy="292608"/>
          </a:xfrm>
          <a:prstGeom prst="rect">
            <a:avLst/>
          </a:prstGeom>
          <a:noFill/>
          <a:ln/>
        </p:spPr>
        <p:txBody>
          <a:bodyPr wrap="square" lIns="0" tIns="0" rIns="0" bIns="0" rtlCol="0" anchor="ctr"/>
          <a:lstStyle/>
          <a:p>
            <a:pPr algn="r" indent="0" marL="0">
              <a:buNone/>
            </a:pPr>
            <a:r>
              <a:rPr lang="en-US" sz="850" dirty="0">
                <a:solidFill>
                  <a:srgbClr val="9FB0C7"/>
                </a:solidFill>
                <a:latin typeface="Calibri" pitchFamily="34" charset="0"/>
                <a:ea typeface="Calibri" pitchFamily="34" charset="-122"/>
                <a:cs typeface="Calibri" pitchFamily="34" charset="-120"/>
              </a:rPr>
              <a:t>Nous Infosystems  ·  for Vee Healthtek  ·  Confidential</a:t>
            </a:r>
            <a:endParaRPr lang="en-US" sz="850" dirty="0"/>
          </a:p>
        </p:txBody>
      </p:sp>
      <p:sp>
        <p:nvSpPr>
          <p:cNvPr id="46" name="Text 44"/>
          <p:cNvSpPr/>
          <p:nvPr/>
        </p:nvSpPr>
        <p:spPr>
          <a:xfrm>
            <a:off x="11686032" y="6565392"/>
            <a:ext cx="365760" cy="292608"/>
          </a:xfrm>
          <a:prstGeom prst="rect">
            <a:avLst/>
          </a:prstGeom>
          <a:noFill/>
          <a:ln/>
        </p:spPr>
        <p:txBody>
          <a:bodyPr wrap="square" lIns="0" tIns="0" rIns="0" bIns="0" rtlCol="0" anchor="ctr"/>
          <a:lstStyle/>
          <a:p>
            <a:pPr algn="r" indent="0" marL="0">
              <a:buNone/>
            </a:pPr>
            <a:r>
              <a:rPr lang="en-US" sz="850" b="1" dirty="0">
                <a:solidFill>
                  <a:srgbClr val="13B5A6"/>
                </a:solidFill>
                <a:latin typeface="Calibri" pitchFamily="34" charset="0"/>
                <a:ea typeface="Calibri" pitchFamily="34" charset="-122"/>
                <a:cs typeface="Calibri"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8FC"/>
        </a:solidFill>
      </p:bgPr>
    </p:bg>
    <p:spTree>
      <p:nvGrpSpPr>
        <p:cNvPr id="1" name=""/>
        <p:cNvGrpSpPr/>
        <p:nvPr/>
      </p:nvGrpSpPr>
      <p:grpSpPr>
        <a:xfrm>
          <a:off x="0" y="0"/>
          <a:ext cx="0" cy="0"/>
          <a:chOff x="0" y="0"/>
          <a:chExt cx="0" cy="0"/>
        </a:xfrm>
      </p:grpSpPr>
      <p:sp>
        <p:nvSpPr>
          <p:cNvPr id="2" name="Shape 0"/>
          <p:cNvSpPr/>
          <p:nvPr/>
        </p:nvSpPr>
        <p:spPr>
          <a:xfrm>
            <a:off x="0" y="0"/>
            <a:ext cx="12188952" cy="1078992"/>
          </a:xfrm>
          <a:prstGeom prst="rect">
            <a:avLst/>
          </a:prstGeom>
          <a:solidFill>
            <a:srgbClr val="FFFFFF"/>
          </a:solidFill>
          <a:ln/>
        </p:spPr>
      </p:sp>
      <p:sp>
        <p:nvSpPr>
          <p:cNvPr id="3" name="Shape 1"/>
          <p:cNvSpPr/>
          <p:nvPr/>
        </p:nvSpPr>
        <p:spPr>
          <a:xfrm>
            <a:off x="0" y="1078992"/>
            <a:ext cx="12188952" cy="27432"/>
          </a:xfrm>
          <a:prstGeom prst="rect">
            <a:avLst/>
          </a:prstGeom>
          <a:solidFill>
            <a:srgbClr val="D8E1EC"/>
          </a:solidFill>
          <a:ln/>
        </p:spPr>
      </p:sp>
      <p:sp>
        <p:nvSpPr>
          <p:cNvPr id="4" name="Shape 2"/>
          <p:cNvSpPr/>
          <p:nvPr/>
        </p:nvSpPr>
        <p:spPr>
          <a:xfrm>
            <a:off x="457200" y="310896"/>
            <a:ext cx="109728" cy="512064"/>
          </a:xfrm>
          <a:prstGeom prst="rect">
            <a:avLst/>
          </a:prstGeom>
          <a:solidFill>
            <a:srgbClr val="13B5A6"/>
          </a:solidFill>
          <a:ln/>
        </p:spPr>
      </p:sp>
      <p:sp>
        <p:nvSpPr>
          <p:cNvPr id="5" name="Text 3"/>
          <p:cNvSpPr/>
          <p:nvPr/>
        </p:nvSpPr>
        <p:spPr>
          <a:xfrm>
            <a:off x="713232" y="274320"/>
            <a:ext cx="10058400" cy="237744"/>
          </a:xfrm>
          <a:prstGeom prst="rect">
            <a:avLst/>
          </a:prstGeom>
          <a:noFill/>
          <a:ln/>
        </p:spPr>
        <p:txBody>
          <a:bodyPr wrap="square" lIns="0" tIns="0" rIns="0" bIns="0" rtlCol="0" anchor="ctr"/>
          <a:lstStyle/>
          <a:p>
            <a:pPr indent="0" marL="0">
              <a:buNone/>
            </a:pPr>
            <a:r>
              <a:rPr lang="en-US" sz="1100" b="1" spc="200" kern="0" dirty="0">
                <a:solidFill>
                  <a:srgbClr val="13B5A6"/>
                </a:solidFill>
                <a:latin typeface="Calibri" pitchFamily="34" charset="0"/>
                <a:ea typeface="Calibri" pitchFamily="34" charset="-122"/>
                <a:cs typeface="Calibri" pitchFamily="34" charset="-120"/>
              </a:rPr>
              <a:t>TECHNICAL ARCHITECTURE</a:t>
            </a:r>
            <a:endParaRPr lang="en-US" sz="1100" dirty="0"/>
          </a:p>
        </p:txBody>
      </p:sp>
      <p:sp>
        <p:nvSpPr>
          <p:cNvPr id="6" name="Text 4"/>
          <p:cNvSpPr/>
          <p:nvPr/>
        </p:nvSpPr>
        <p:spPr>
          <a:xfrm>
            <a:off x="713232" y="475488"/>
            <a:ext cx="11155680" cy="457200"/>
          </a:xfrm>
          <a:prstGeom prst="rect">
            <a:avLst/>
          </a:prstGeom>
          <a:noFill/>
          <a:ln/>
        </p:spPr>
        <p:txBody>
          <a:bodyPr wrap="square" lIns="0" tIns="0" rIns="0" bIns="0" rtlCol="0" anchor="ctr"/>
          <a:lstStyle/>
          <a:p>
            <a:pPr indent="0" marL="0">
              <a:buNone/>
            </a:pPr>
            <a:r>
              <a:rPr lang="en-US" sz="2300" b="1" dirty="0">
                <a:solidFill>
                  <a:srgbClr val="1B2A4A"/>
                </a:solidFill>
                <a:latin typeface="Georgia" pitchFamily="34" charset="0"/>
                <a:ea typeface="Georgia" pitchFamily="34" charset="-122"/>
                <a:cs typeface="Georgia" pitchFamily="34" charset="-120"/>
              </a:rPr>
              <a:t>Graph-RAG &amp; the knowledge graph — why the model can't go off-script</a:t>
            </a:r>
            <a:endParaRPr lang="en-US" sz="2300" dirty="0"/>
          </a:p>
        </p:txBody>
      </p:sp>
      <p:sp>
        <p:nvSpPr>
          <p:cNvPr id="7" name="Shape 5"/>
          <p:cNvSpPr/>
          <p:nvPr/>
        </p:nvSpPr>
        <p:spPr>
          <a:xfrm>
            <a:off x="457200" y="1463040"/>
            <a:ext cx="5486400" cy="4800600"/>
          </a:xfrm>
          <a:prstGeom prst="roundRect">
            <a:avLst>
              <a:gd name="adj" fmla="val 1333"/>
            </a:avLst>
          </a:prstGeom>
          <a:solidFill>
            <a:srgbClr val="FFFFFF"/>
          </a:solidFill>
          <a:ln w="12700">
            <a:solidFill>
              <a:srgbClr val="D8E1EC"/>
            </a:solidFill>
            <a:prstDash val="solid"/>
          </a:ln>
          <a:effectLst>
            <a:outerShdw sx="100000" sy="100000" kx="0" ky="0" algn="bl" rotWithShape="0" blurRad="88900" dist="38100" dir="8100000">
              <a:srgbClr val="1B2A4A">
                <a:alpha val="12000"/>
              </a:srgbClr>
            </a:outerShdw>
          </a:effectLst>
        </p:spPr>
      </p:sp>
      <p:sp>
        <p:nvSpPr>
          <p:cNvPr id="8" name="Text 6"/>
          <p:cNvSpPr/>
          <p:nvPr/>
        </p:nvSpPr>
        <p:spPr>
          <a:xfrm>
            <a:off x="731520" y="1645920"/>
            <a:ext cx="4937760" cy="365760"/>
          </a:xfrm>
          <a:prstGeom prst="rect">
            <a:avLst/>
          </a:prstGeom>
          <a:noFill/>
          <a:ln/>
        </p:spPr>
        <p:txBody>
          <a:bodyPr wrap="square" lIns="0" tIns="0" rIns="0" bIns="0" rtlCol="0" anchor="ctr"/>
          <a:lstStyle/>
          <a:p>
            <a:pPr indent="0" marL="0">
              <a:buNone/>
            </a:pPr>
            <a:r>
              <a:rPr lang="en-US" sz="1400" b="1" dirty="0">
                <a:solidFill>
                  <a:srgbClr val="1B2A4A"/>
                </a:solidFill>
                <a:latin typeface="Calibri" pitchFamily="34" charset="0"/>
                <a:ea typeface="Calibri" pitchFamily="34" charset="-122"/>
                <a:cs typeface="Calibri" pitchFamily="34" charset="-120"/>
              </a:rPr>
              <a:t>What grounds every coding decision</a:t>
            </a:r>
            <a:endParaRPr lang="en-US" sz="1400" dirty="0"/>
          </a:p>
        </p:txBody>
      </p:sp>
      <p:sp>
        <p:nvSpPr>
          <p:cNvPr id="9" name="Shape 7"/>
          <p:cNvSpPr/>
          <p:nvPr/>
        </p:nvSpPr>
        <p:spPr>
          <a:xfrm>
            <a:off x="731520" y="2194560"/>
            <a:ext cx="109728" cy="566928"/>
          </a:xfrm>
          <a:prstGeom prst="rect">
            <a:avLst/>
          </a:prstGeom>
          <a:solidFill>
            <a:srgbClr val="13B5A6"/>
          </a:solidFill>
          <a:ln/>
        </p:spPr>
      </p:sp>
      <p:sp>
        <p:nvSpPr>
          <p:cNvPr id="10" name="Text 8"/>
          <p:cNvSpPr/>
          <p:nvPr/>
        </p:nvSpPr>
        <p:spPr>
          <a:xfrm>
            <a:off x="932688" y="2148840"/>
            <a:ext cx="4800600" cy="713232"/>
          </a:xfrm>
          <a:prstGeom prst="rect">
            <a:avLst/>
          </a:prstGeom>
          <a:noFill/>
          <a:ln/>
        </p:spPr>
        <p:txBody>
          <a:bodyPr wrap="square" lIns="0" tIns="0" rIns="0" bIns="0" rtlCol="0" anchor="t"/>
          <a:lstStyle/>
          <a:p>
            <a:pPr indent="0" marL="0">
              <a:lnSpc>
                <a:spcPct val="98000"/>
              </a:lnSpc>
              <a:buNone/>
            </a:pPr>
            <a:r>
              <a:rPr lang="en-US" sz="1100" b="1" dirty="0">
                <a:solidFill>
                  <a:srgbClr val="27313F"/>
                </a:solidFill>
                <a:latin typeface="Calibri" pitchFamily="34" charset="0"/>
                <a:ea typeface="Calibri" pitchFamily="34" charset="-122"/>
                <a:cs typeface="Calibri" pitchFamily="34" charset="-120"/>
              </a:rPr>
              <a:t>The code sets  </a:t>
            </a:r>
            <a:pPr indent="0" marL="0">
              <a:lnSpc>
                <a:spcPct val="98000"/>
              </a:lnSpc>
              <a:buNone/>
            </a:pPr>
            <a:r>
              <a:rPr lang="en-US" sz="1100" dirty="0">
                <a:solidFill>
                  <a:srgbClr val="6B7A8D"/>
                </a:solidFill>
                <a:latin typeface="Calibri" pitchFamily="34" charset="0"/>
                <a:ea typeface="Calibri" pitchFamily="34" charset="-122"/>
                <a:cs typeface="Calibri" pitchFamily="34" charset="-120"/>
              </a:rPr>
              <a:t>ICD-10-CM, CPT and HCPCS descriptions, matched to the specialty and modality</a:t>
            </a:r>
            <a:endParaRPr lang="en-US" sz="1100" dirty="0"/>
          </a:p>
        </p:txBody>
      </p:sp>
      <p:sp>
        <p:nvSpPr>
          <p:cNvPr id="11" name="Shape 9"/>
          <p:cNvSpPr/>
          <p:nvPr/>
        </p:nvSpPr>
        <p:spPr>
          <a:xfrm>
            <a:off x="731520" y="2971800"/>
            <a:ext cx="109728" cy="566928"/>
          </a:xfrm>
          <a:prstGeom prst="rect">
            <a:avLst/>
          </a:prstGeom>
          <a:solidFill>
            <a:srgbClr val="13B5A6"/>
          </a:solidFill>
          <a:ln/>
        </p:spPr>
      </p:sp>
      <p:sp>
        <p:nvSpPr>
          <p:cNvPr id="12" name="Text 10"/>
          <p:cNvSpPr/>
          <p:nvPr/>
        </p:nvSpPr>
        <p:spPr>
          <a:xfrm>
            <a:off x="932688" y="2926080"/>
            <a:ext cx="4800600" cy="713232"/>
          </a:xfrm>
          <a:prstGeom prst="rect">
            <a:avLst/>
          </a:prstGeom>
          <a:noFill/>
          <a:ln/>
        </p:spPr>
        <p:txBody>
          <a:bodyPr wrap="square" lIns="0" tIns="0" rIns="0" bIns="0" rtlCol="0" anchor="t"/>
          <a:lstStyle/>
          <a:p>
            <a:pPr indent="0" marL="0">
              <a:lnSpc>
                <a:spcPct val="98000"/>
              </a:lnSpc>
              <a:buNone/>
            </a:pPr>
            <a:r>
              <a:rPr lang="en-US" sz="1100" b="1" dirty="0">
                <a:solidFill>
                  <a:srgbClr val="27313F"/>
                </a:solidFill>
                <a:latin typeface="Calibri" pitchFamily="34" charset="0"/>
                <a:ea typeface="Calibri" pitchFamily="34" charset="-122"/>
                <a:cs typeface="Calibri" pitchFamily="34" charset="-120"/>
              </a:rPr>
              <a:t>The medical ontology  </a:t>
            </a:r>
            <a:pPr indent="0" marL="0">
              <a:lnSpc>
                <a:spcPct val="98000"/>
              </a:lnSpc>
              <a:buNone/>
            </a:pPr>
            <a:r>
              <a:rPr lang="en-US" sz="1100" dirty="0">
                <a:solidFill>
                  <a:srgbClr val="6B7A8D"/>
                </a:solidFill>
                <a:latin typeface="Calibri" pitchFamily="34" charset="0"/>
                <a:ea typeface="Calibri" pitchFamily="34" charset="-122"/>
                <a:cs typeface="Calibri" pitchFamily="34" charset="-120"/>
              </a:rPr>
              <a:t>clinical concepts linked to codes and to each other (is-a, finding-site, caused-by)</a:t>
            </a:r>
            <a:endParaRPr lang="en-US" sz="1100" dirty="0"/>
          </a:p>
        </p:txBody>
      </p:sp>
      <p:sp>
        <p:nvSpPr>
          <p:cNvPr id="13" name="Shape 11"/>
          <p:cNvSpPr/>
          <p:nvPr/>
        </p:nvSpPr>
        <p:spPr>
          <a:xfrm>
            <a:off x="731520" y="3749040"/>
            <a:ext cx="109728" cy="566928"/>
          </a:xfrm>
          <a:prstGeom prst="rect">
            <a:avLst/>
          </a:prstGeom>
          <a:solidFill>
            <a:srgbClr val="13B5A6"/>
          </a:solidFill>
          <a:ln/>
        </p:spPr>
      </p:sp>
      <p:sp>
        <p:nvSpPr>
          <p:cNvPr id="14" name="Text 12"/>
          <p:cNvSpPr/>
          <p:nvPr/>
        </p:nvSpPr>
        <p:spPr>
          <a:xfrm>
            <a:off x="932688" y="3703320"/>
            <a:ext cx="4800600" cy="713232"/>
          </a:xfrm>
          <a:prstGeom prst="rect">
            <a:avLst/>
          </a:prstGeom>
          <a:noFill/>
          <a:ln/>
        </p:spPr>
        <p:txBody>
          <a:bodyPr wrap="square" lIns="0" tIns="0" rIns="0" bIns="0" rtlCol="0" anchor="t"/>
          <a:lstStyle/>
          <a:p>
            <a:pPr indent="0" marL="0">
              <a:lnSpc>
                <a:spcPct val="98000"/>
              </a:lnSpc>
              <a:buNone/>
            </a:pPr>
            <a:r>
              <a:rPr lang="en-US" sz="1100" b="1" dirty="0">
                <a:solidFill>
                  <a:srgbClr val="27313F"/>
                </a:solidFill>
                <a:latin typeface="Calibri" pitchFamily="34" charset="0"/>
                <a:ea typeface="Calibri" pitchFamily="34" charset="-122"/>
                <a:cs typeface="Calibri" pitchFamily="34" charset="-120"/>
              </a:rPr>
              <a:t>Payer policy  </a:t>
            </a:r>
            <a:pPr indent="0" marL="0">
              <a:lnSpc>
                <a:spcPct val="98000"/>
              </a:lnSpc>
              <a:buNone/>
            </a:pPr>
            <a:r>
              <a:rPr lang="en-US" sz="1100" dirty="0">
                <a:solidFill>
                  <a:srgbClr val="6B7A8D"/>
                </a:solidFill>
                <a:latin typeface="Calibri" pitchFamily="34" charset="0"/>
                <a:ea typeface="Calibri" pitchFamily="34" charset="-122"/>
                <a:cs typeface="Calibri" pitchFamily="34" charset="-120"/>
              </a:rPr>
              <a:t>medical-necessity and prior-auth rules for that chart's payer</a:t>
            </a:r>
            <a:endParaRPr lang="en-US" sz="1100" dirty="0"/>
          </a:p>
        </p:txBody>
      </p:sp>
      <p:sp>
        <p:nvSpPr>
          <p:cNvPr id="15" name="Shape 13"/>
          <p:cNvSpPr/>
          <p:nvPr/>
        </p:nvSpPr>
        <p:spPr>
          <a:xfrm>
            <a:off x="731520" y="4526280"/>
            <a:ext cx="109728" cy="566928"/>
          </a:xfrm>
          <a:prstGeom prst="rect">
            <a:avLst/>
          </a:prstGeom>
          <a:solidFill>
            <a:srgbClr val="13B5A6"/>
          </a:solidFill>
          <a:ln/>
        </p:spPr>
      </p:sp>
      <p:sp>
        <p:nvSpPr>
          <p:cNvPr id="16" name="Text 14"/>
          <p:cNvSpPr/>
          <p:nvPr/>
        </p:nvSpPr>
        <p:spPr>
          <a:xfrm>
            <a:off x="932688" y="4480560"/>
            <a:ext cx="4800600" cy="713232"/>
          </a:xfrm>
          <a:prstGeom prst="rect">
            <a:avLst/>
          </a:prstGeom>
          <a:noFill/>
          <a:ln/>
        </p:spPr>
        <p:txBody>
          <a:bodyPr wrap="square" lIns="0" tIns="0" rIns="0" bIns="0" rtlCol="0" anchor="t"/>
          <a:lstStyle/>
          <a:p>
            <a:pPr indent="0" marL="0">
              <a:lnSpc>
                <a:spcPct val="98000"/>
              </a:lnSpc>
              <a:buNone/>
            </a:pPr>
            <a:r>
              <a:rPr lang="en-US" sz="1100" b="1" dirty="0">
                <a:solidFill>
                  <a:srgbClr val="27313F"/>
                </a:solidFill>
                <a:latin typeface="Calibri" pitchFamily="34" charset="0"/>
                <a:ea typeface="Calibri" pitchFamily="34" charset="-122"/>
                <a:cs typeface="Calibri" pitchFamily="34" charset="-120"/>
              </a:rPr>
              <a:t>Coding guidelines  </a:t>
            </a:r>
            <a:pPr indent="0" marL="0">
              <a:lnSpc>
                <a:spcPct val="98000"/>
              </a:lnSpc>
              <a:buNone/>
            </a:pPr>
            <a:r>
              <a:rPr lang="en-US" sz="1100" dirty="0">
                <a:solidFill>
                  <a:srgbClr val="6B7A8D"/>
                </a:solidFill>
                <a:latin typeface="Calibri" pitchFamily="34" charset="0"/>
                <a:ea typeface="Calibri" pitchFamily="34" charset="-122"/>
                <a:cs typeface="Calibri" pitchFamily="34" charset="-120"/>
              </a:rPr>
              <a:t>public ICD-10 / NCCI guidance, pulled in and cited</a:t>
            </a:r>
            <a:endParaRPr lang="en-US" sz="1100" dirty="0"/>
          </a:p>
        </p:txBody>
      </p:sp>
      <p:sp>
        <p:nvSpPr>
          <p:cNvPr id="17" name="Shape 15"/>
          <p:cNvSpPr/>
          <p:nvPr/>
        </p:nvSpPr>
        <p:spPr>
          <a:xfrm>
            <a:off x="731520" y="5303520"/>
            <a:ext cx="109728" cy="566928"/>
          </a:xfrm>
          <a:prstGeom prst="rect">
            <a:avLst/>
          </a:prstGeom>
          <a:solidFill>
            <a:srgbClr val="13B5A6"/>
          </a:solidFill>
          <a:ln/>
        </p:spPr>
      </p:sp>
      <p:sp>
        <p:nvSpPr>
          <p:cNvPr id="18" name="Text 16"/>
          <p:cNvSpPr/>
          <p:nvPr/>
        </p:nvSpPr>
        <p:spPr>
          <a:xfrm>
            <a:off x="932688" y="5257800"/>
            <a:ext cx="4800600" cy="713232"/>
          </a:xfrm>
          <a:prstGeom prst="rect">
            <a:avLst/>
          </a:prstGeom>
          <a:noFill/>
          <a:ln/>
        </p:spPr>
        <p:txBody>
          <a:bodyPr wrap="square" lIns="0" tIns="0" rIns="0" bIns="0" rtlCol="0" anchor="t"/>
          <a:lstStyle/>
          <a:p>
            <a:pPr indent="0" marL="0">
              <a:lnSpc>
                <a:spcPct val="98000"/>
              </a:lnSpc>
              <a:buNone/>
            </a:pPr>
            <a:r>
              <a:rPr lang="en-US" sz="1100" b="1" dirty="0">
                <a:solidFill>
                  <a:srgbClr val="27313F"/>
                </a:solidFill>
                <a:latin typeface="Calibri" pitchFamily="34" charset="0"/>
                <a:ea typeface="Calibri" pitchFamily="34" charset="-122"/>
                <a:cs typeface="Calibri" pitchFamily="34" charset="-120"/>
              </a:rPr>
              <a:t>Past corrections  </a:t>
            </a:r>
            <a:pPr indent="0" marL="0">
              <a:lnSpc>
                <a:spcPct val="98000"/>
              </a:lnSpc>
              <a:buNone/>
            </a:pPr>
            <a:r>
              <a:rPr lang="en-US" sz="1100" dirty="0">
                <a:solidFill>
                  <a:srgbClr val="6B7A8D"/>
                </a:solidFill>
                <a:latin typeface="Calibri" pitchFamily="34" charset="0"/>
                <a:ea typeface="Calibri" pitchFamily="34" charset="-122"/>
                <a:cs typeface="Calibri" pitchFamily="34" charset="-120"/>
              </a:rPr>
              <a:t>what your coders fixed on charts like this one</a:t>
            </a:r>
            <a:endParaRPr lang="en-US" sz="1100" dirty="0"/>
          </a:p>
        </p:txBody>
      </p:sp>
      <p:sp>
        <p:nvSpPr>
          <p:cNvPr id="19" name="Shape 17"/>
          <p:cNvSpPr/>
          <p:nvPr/>
        </p:nvSpPr>
        <p:spPr>
          <a:xfrm>
            <a:off x="6217920" y="1463040"/>
            <a:ext cx="5513832" cy="2286000"/>
          </a:xfrm>
          <a:prstGeom prst="roundRect">
            <a:avLst>
              <a:gd name="adj" fmla="val 2800"/>
            </a:avLst>
          </a:prstGeom>
          <a:solidFill>
            <a:srgbClr val="1B2A4A"/>
          </a:solidFill>
          <a:ln w="12700">
            <a:solidFill>
              <a:srgbClr val="D8E1EC"/>
            </a:solidFill>
            <a:prstDash val="solid"/>
          </a:ln>
          <a:effectLst>
            <a:outerShdw sx="100000" sy="100000" kx="0" ky="0" algn="bl" rotWithShape="0" blurRad="88900" dist="38100" dir="8100000">
              <a:srgbClr val="1B2A4A">
                <a:alpha val="12000"/>
              </a:srgbClr>
            </a:outerShdw>
          </a:effectLst>
        </p:spPr>
      </p:sp>
      <p:sp>
        <p:nvSpPr>
          <p:cNvPr id="20" name="Text 18"/>
          <p:cNvSpPr/>
          <p:nvPr/>
        </p:nvSpPr>
        <p:spPr>
          <a:xfrm>
            <a:off x="6492240" y="1645920"/>
            <a:ext cx="493776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 one rule that matters</a:t>
            </a:r>
            <a:endParaRPr lang="en-US" sz="1400" dirty="0"/>
          </a:p>
        </p:txBody>
      </p:sp>
      <p:sp>
        <p:nvSpPr>
          <p:cNvPr id="21" name="Text 19"/>
          <p:cNvSpPr/>
          <p:nvPr/>
        </p:nvSpPr>
        <p:spPr>
          <a:xfrm>
            <a:off x="6492240" y="2029968"/>
            <a:ext cx="4983480" cy="640080"/>
          </a:xfrm>
          <a:prstGeom prst="rect">
            <a:avLst/>
          </a:prstGeom>
          <a:noFill/>
          <a:ln/>
        </p:spPr>
        <p:txBody>
          <a:bodyPr wrap="square" lIns="0" tIns="0" rIns="0" bIns="0" rtlCol="0" anchor="t"/>
          <a:lstStyle/>
          <a:p>
            <a:pPr indent="0" marL="0">
              <a:lnSpc>
                <a:spcPct val="100000"/>
              </a:lnSpc>
              <a:buNone/>
            </a:pPr>
            <a:r>
              <a:rPr lang="en-US" sz="1300" dirty="0">
                <a:solidFill>
                  <a:srgbClr val="E6EEFA"/>
                </a:solidFill>
                <a:latin typeface="Calibri" pitchFamily="34" charset="0"/>
                <a:ea typeface="Calibri" pitchFamily="34" charset="-122"/>
                <a:cs typeface="Calibri" pitchFamily="34" charset="-120"/>
              </a:rPr>
              <a:t>The agent can only use codes that retrieval brings back. If a code isn't grounded, it doesn't get billed.</a:t>
            </a:r>
            <a:endParaRPr lang="en-US" sz="1300" dirty="0"/>
          </a:p>
        </p:txBody>
      </p:sp>
      <p:sp>
        <p:nvSpPr>
          <p:cNvPr id="22" name="Text 20"/>
          <p:cNvSpPr/>
          <p:nvPr/>
        </p:nvSpPr>
        <p:spPr>
          <a:xfrm>
            <a:off x="6492240" y="2788920"/>
            <a:ext cx="4983480" cy="868680"/>
          </a:xfrm>
          <a:prstGeom prst="rect">
            <a:avLst/>
          </a:prstGeom>
          <a:noFill/>
          <a:ln/>
        </p:spPr>
        <p:txBody>
          <a:bodyPr wrap="square" lIns="0" tIns="0" rIns="0" bIns="0" rtlCol="0" anchor="t"/>
          <a:lstStyle/>
          <a:p>
            <a:pPr indent="0" marL="0">
              <a:lnSpc>
                <a:spcPct val="100000"/>
              </a:lnSpc>
              <a:buNone/>
            </a:pPr>
            <a:r>
              <a:rPr lang="en-US" sz="1100" i="1" dirty="0">
                <a:solidFill>
                  <a:srgbClr val="CADCFC"/>
                </a:solidFill>
                <a:latin typeface="Calibri" pitchFamily="34" charset="0"/>
                <a:ea typeface="Calibri" pitchFamily="34" charset="-122"/>
                <a:cs typeface="Calibri" pitchFamily="34" charset="-120"/>
              </a:rPr>
              <a:t>That turns 'don't make things up' from a hope into a property of the system — and it's what lets the medical-necessity check be a plain, deterministic rule.</a:t>
            </a:r>
            <a:endParaRPr lang="en-US" sz="1100" dirty="0"/>
          </a:p>
        </p:txBody>
      </p:sp>
      <p:sp>
        <p:nvSpPr>
          <p:cNvPr id="23" name="Shape 21"/>
          <p:cNvSpPr/>
          <p:nvPr/>
        </p:nvSpPr>
        <p:spPr>
          <a:xfrm>
            <a:off x="6217920" y="3931920"/>
            <a:ext cx="5513832" cy="2331720"/>
          </a:xfrm>
          <a:prstGeom prst="roundRect">
            <a:avLst>
              <a:gd name="adj" fmla="val 2745"/>
            </a:avLst>
          </a:prstGeom>
          <a:solidFill>
            <a:srgbClr val="EAF1F8"/>
          </a:solidFill>
          <a:ln w="12700">
            <a:solidFill>
              <a:srgbClr val="D8E1EC"/>
            </a:solidFill>
            <a:prstDash val="solid"/>
          </a:ln>
          <a:effectLst>
            <a:outerShdw sx="100000" sy="100000" kx="0" ky="0" algn="bl" rotWithShape="0" blurRad="88900" dist="38100" dir="8100000">
              <a:srgbClr val="1B2A4A">
                <a:alpha val="12000"/>
              </a:srgbClr>
            </a:outerShdw>
          </a:effectLst>
        </p:spPr>
      </p:sp>
      <p:sp>
        <p:nvSpPr>
          <p:cNvPr id="24" name="Text 22"/>
          <p:cNvSpPr/>
          <p:nvPr/>
        </p:nvSpPr>
        <p:spPr>
          <a:xfrm>
            <a:off x="6492240" y="4114800"/>
            <a:ext cx="4937760" cy="320040"/>
          </a:xfrm>
          <a:prstGeom prst="rect">
            <a:avLst/>
          </a:prstGeom>
          <a:noFill/>
          <a:ln/>
        </p:spPr>
        <p:txBody>
          <a:bodyPr wrap="square" lIns="0" tIns="0" rIns="0" bIns="0" rtlCol="0" anchor="ctr"/>
          <a:lstStyle/>
          <a:p>
            <a:pPr indent="0" marL="0">
              <a:buNone/>
            </a:pPr>
            <a:r>
              <a:rPr lang="en-US" sz="1400" b="1" dirty="0">
                <a:solidFill>
                  <a:srgbClr val="1B2A4A"/>
                </a:solidFill>
                <a:latin typeface="Calibri" pitchFamily="34" charset="0"/>
                <a:ea typeface="Calibri" pitchFamily="34" charset="-122"/>
                <a:cs typeface="Calibri" pitchFamily="34" charset="-120"/>
              </a:rPr>
              <a:t>A knowledge graph your team owns</a:t>
            </a:r>
            <a:endParaRPr lang="en-US" sz="1400" dirty="0"/>
          </a:p>
        </p:txBody>
      </p:sp>
      <p:sp>
        <p:nvSpPr>
          <p:cNvPr id="25" name="Text 23"/>
          <p:cNvSpPr/>
          <p:nvPr/>
        </p:nvSpPr>
        <p:spPr>
          <a:xfrm>
            <a:off x="6492240" y="4480560"/>
            <a:ext cx="4983480" cy="1691640"/>
          </a:xfrm>
          <a:prstGeom prst="rect">
            <a:avLst/>
          </a:prstGeom>
          <a:noFill/>
          <a:ln/>
        </p:spPr>
        <p:txBody>
          <a:bodyPr wrap="square" lIns="0" tIns="0" rIns="0" bIns="0" rtlCol="0" anchor="t"/>
          <a:lstStyle/>
          <a:p>
            <a:pPr indent="0" marL="0">
              <a:lnSpc>
                <a:spcPct val="100000"/>
              </a:lnSpc>
              <a:buNone/>
            </a:pPr>
            <a:r>
              <a:rPr lang="en-US" sz="1150" b="1" dirty="0">
                <a:solidFill>
                  <a:srgbClr val="27313F"/>
                </a:solidFill>
                <a:latin typeface="Calibri" pitchFamily="34" charset="0"/>
                <a:ea typeface="Calibri" pitchFamily="34" charset="-122"/>
                <a:cs typeface="Calibri" pitchFamily="34" charset="-120"/>
              </a:rPr>
              <a:t>Built and curated in the app.  </a:t>
            </a:r>
            <a:endParaRPr lang="en-US" sz="1150" dirty="0"/>
          </a:p>
          <a:p>
            <a:pPr indent="0" marL="0">
              <a:lnSpc>
                <a:spcPct val="100000"/>
              </a:lnSpc>
              <a:buNone/>
            </a:pPr>
            <a:r>
              <a:rPr lang="en-US" sz="1100" dirty="0">
                <a:solidFill>
                  <a:srgbClr val="6B7A8D"/>
                </a:solidFill>
                <a:latin typeface="Calibri" pitchFamily="34" charset="0"/>
                <a:ea typeface="Calibri" pitchFamily="34" charset="-122"/>
                <a:cs typeface="Calibri" pitchFamily="34" charset="-120"/>
              </a:rPr>
              <a:t>Add a concept, map it to codes, draw a relationship — and the agent uses it on the very next chart.</a:t>
            </a:r>
            <a:endParaRPr lang="en-US" sz="1150" dirty="0"/>
          </a:p>
          <a:p>
            <a:pPr indent="0" marL="0">
              <a:lnSpc>
                <a:spcPct val="100000"/>
              </a:lnSpc>
              <a:buNone/>
            </a:pPr>
            <a:r>
              <a:rPr lang="en-US" sz="600" dirty="0">
                <a:solidFill>
                  <a:srgbClr val="000000"/>
                </a:solidFill>
                <a:latin typeface="Calibri" pitchFamily="34" charset="0"/>
                <a:ea typeface="Calibri" pitchFamily="34" charset="-122"/>
                <a:cs typeface="Calibri" pitchFamily="34" charset="-120"/>
              </a:rPr>
              <a:t> </a:t>
            </a:r>
            <a:endParaRPr lang="en-US" sz="1150" dirty="0"/>
          </a:p>
          <a:p>
            <a:pPr indent="0" marL="0">
              <a:lnSpc>
                <a:spcPct val="100000"/>
              </a:lnSpc>
              <a:buNone/>
            </a:pPr>
            <a:r>
              <a:rPr lang="en-US" sz="1150" b="1" dirty="0">
                <a:solidFill>
                  <a:srgbClr val="27313F"/>
                </a:solidFill>
                <a:latin typeface="Calibri" pitchFamily="34" charset="0"/>
                <a:ea typeface="Calibri" pitchFamily="34" charset="-122"/>
                <a:cs typeface="Calibri" pitchFamily="34" charset="-120"/>
              </a:rPr>
              <a:t>At production scale,  </a:t>
            </a:r>
            <a:endParaRPr lang="en-US" sz="1150" dirty="0"/>
          </a:p>
          <a:p>
            <a:pPr indent="0" marL="0">
              <a:lnSpc>
                <a:spcPct val="100000"/>
              </a:lnSpc>
              <a:buNone/>
            </a:pPr>
            <a:r>
              <a:rPr lang="en-US" sz="1100" dirty="0">
                <a:solidFill>
                  <a:srgbClr val="6B7A8D"/>
                </a:solidFill>
                <a:latin typeface="Calibri" pitchFamily="34" charset="0"/>
                <a:ea typeface="Calibri" pitchFamily="34" charset="-122"/>
                <a:cs typeface="Calibri" pitchFamily="34" charset="-120"/>
              </a:rPr>
              <a:t>we drop in licensed SNOMED CT / UMLS in the same shape; pgvector is ready for embedding search.</a:t>
            </a:r>
            <a:endParaRPr lang="en-US" sz="1150" dirty="0"/>
          </a:p>
        </p:txBody>
      </p:sp>
      <p:sp>
        <p:nvSpPr>
          <p:cNvPr id="26" name="Shape 24"/>
          <p:cNvSpPr/>
          <p:nvPr/>
        </p:nvSpPr>
        <p:spPr>
          <a:xfrm>
            <a:off x="0" y="6565392"/>
            <a:ext cx="12188952" cy="292608"/>
          </a:xfrm>
          <a:prstGeom prst="rect">
            <a:avLst/>
          </a:prstGeom>
          <a:solidFill>
            <a:srgbClr val="0E1B33"/>
          </a:solidFill>
          <a:ln/>
        </p:spPr>
      </p:sp>
      <p:sp>
        <p:nvSpPr>
          <p:cNvPr id="27" name="Text 25"/>
          <p:cNvSpPr/>
          <p:nvPr/>
        </p:nvSpPr>
        <p:spPr>
          <a:xfrm>
            <a:off x="457200" y="6565392"/>
            <a:ext cx="5486400" cy="292608"/>
          </a:xfrm>
          <a:prstGeom prst="rect">
            <a:avLst/>
          </a:prstGeom>
          <a:noFill/>
          <a:ln/>
        </p:spPr>
        <p:txBody>
          <a:bodyPr wrap="square" lIns="0" tIns="0" rIns="0" bIns="0" rtlCol="0" anchor="ctr"/>
          <a:lstStyle/>
          <a:p>
            <a:pPr indent="0" marL="0">
              <a:buNone/>
            </a:pPr>
            <a:r>
              <a:rPr lang="en-US" sz="850" dirty="0">
                <a:solidFill>
                  <a:srgbClr val="9FB0C7"/>
                </a:solidFill>
                <a:latin typeface="Calibri" pitchFamily="34" charset="0"/>
                <a:ea typeface="Calibri" pitchFamily="34" charset="-122"/>
                <a:cs typeface="Calibri" pitchFamily="34" charset="-120"/>
              </a:rPr>
              <a:t>ACE · Autonomous Coding Engine</a:t>
            </a:r>
            <a:endParaRPr lang="en-US" sz="850" dirty="0"/>
          </a:p>
        </p:txBody>
      </p:sp>
      <p:sp>
        <p:nvSpPr>
          <p:cNvPr id="28" name="Text 26"/>
          <p:cNvSpPr/>
          <p:nvPr/>
        </p:nvSpPr>
        <p:spPr>
          <a:xfrm>
            <a:off x="6245352" y="6565392"/>
            <a:ext cx="5486400" cy="292608"/>
          </a:xfrm>
          <a:prstGeom prst="rect">
            <a:avLst/>
          </a:prstGeom>
          <a:noFill/>
          <a:ln/>
        </p:spPr>
        <p:txBody>
          <a:bodyPr wrap="square" lIns="0" tIns="0" rIns="0" bIns="0" rtlCol="0" anchor="ctr"/>
          <a:lstStyle/>
          <a:p>
            <a:pPr algn="r" indent="0" marL="0">
              <a:buNone/>
            </a:pPr>
            <a:r>
              <a:rPr lang="en-US" sz="850" dirty="0">
                <a:solidFill>
                  <a:srgbClr val="9FB0C7"/>
                </a:solidFill>
                <a:latin typeface="Calibri" pitchFamily="34" charset="0"/>
                <a:ea typeface="Calibri" pitchFamily="34" charset="-122"/>
                <a:cs typeface="Calibri" pitchFamily="34" charset="-120"/>
              </a:rPr>
              <a:t>Nous Infosystems  ·  for Vee Healthtek  ·  Confidential</a:t>
            </a:r>
            <a:endParaRPr lang="en-US" sz="850" dirty="0"/>
          </a:p>
        </p:txBody>
      </p:sp>
      <p:sp>
        <p:nvSpPr>
          <p:cNvPr id="29" name="Text 27"/>
          <p:cNvSpPr/>
          <p:nvPr/>
        </p:nvSpPr>
        <p:spPr>
          <a:xfrm>
            <a:off x="11686032" y="6565392"/>
            <a:ext cx="365760" cy="292608"/>
          </a:xfrm>
          <a:prstGeom prst="rect">
            <a:avLst/>
          </a:prstGeom>
          <a:noFill/>
          <a:ln/>
        </p:spPr>
        <p:txBody>
          <a:bodyPr wrap="square" lIns="0" tIns="0" rIns="0" bIns="0" rtlCol="0" anchor="ctr"/>
          <a:lstStyle/>
          <a:p>
            <a:pPr algn="r" indent="0" marL="0">
              <a:buNone/>
            </a:pPr>
            <a:r>
              <a:rPr lang="en-US" sz="850" b="1" dirty="0">
                <a:solidFill>
                  <a:srgbClr val="13B5A6"/>
                </a:solidFill>
                <a:latin typeface="Calibri" pitchFamily="34" charset="0"/>
                <a:ea typeface="Calibri" pitchFamily="34" charset="-122"/>
                <a:cs typeface="Calibri" pitchFamily="34" charset="-120"/>
              </a:rPr>
              <a:t>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8FC"/>
        </a:solidFill>
      </p:bgPr>
    </p:bg>
    <p:spTree>
      <p:nvGrpSpPr>
        <p:cNvPr id="1" name=""/>
        <p:cNvGrpSpPr/>
        <p:nvPr/>
      </p:nvGrpSpPr>
      <p:grpSpPr>
        <a:xfrm>
          <a:off x="0" y="0"/>
          <a:ext cx="0" cy="0"/>
          <a:chOff x="0" y="0"/>
          <a:chExt cx="0" cy="0"/>
        </a:xfrm>
      </p:grpSpPr>
      <p:sp>
        <p:nvSpPr>
          <p:cNvPr id="2" name="Shape 0"/>
          <p:cNvSpPr/>
          <p:nvPr/>
        </p:nvSpPr>
        <p:spPr>
          <a:xfrm>
            <a:off x="0" y="0"/>
            <a:ext cx="12188952" cy="1078992"/>
          </a:xfrm>
          <a:prstGeom prst="rect">
            <a:avLst/>
          </a:prstGeom>
          <a:solidFill>
            <a:srgbClr val="FFFFFF"/>
          </a:solidFill>
          <a:ln/>
        </p:spPr>
      </p:sp>
      <p:sp>
        <p:nvSpPr>
          <p:cNvPr id="3" name="Shape 1"/>
          <p:cNvSpPr/>
          <p:nvPr/>
        </p:nvSpPr>
        <p:spPr>
          <a:xfrm>
            <a:off x="0" y="1078992"/>
            <a:ext cx="12188952" cy="27432"/>
          </a:xfrm>
          <a:prstGeom prst="rect">
            <a:avLst/>
          </a:prstGeom>
          <a:solidFill>
            <a:srgbClr val="D8E1EC"/>
          </a:solidFill>
          <a:ln/>
        </p:spPr>
      </p:sp>
      <p:sp>
        <p:nvSpPr>
          <p:cNvPr id="4" name="Shape 2"/>
          <p:cNvSpPr/>
          <p:nvPr/>
        </p:nvSpPr>
        <p:spPr>
          <a:xfrm>
            <a:off x="457200" y="310896"/>
            <a:ext cx="109728" cy="512064"/>
          </a:xfrm>
          <a:prstGeom prst="rect">
            <a:avLst/>
          </a:prstGeom>
          <a:solidFill>
            <a:srgbClr val="13B5A6"/>
          </a:solidFill>
          <a:ln/>
        </p:spPr>
      </p:sp>
      <p:sp>
        <p:nvSpPr>
          <p:cNvPr id="5" name="Text 3"/>
          <p:cNvSpPr/>
          <p:nvPr/>
        </p:nvSpPr>
        <p:spPr>
          <a:xfrm>
            <a:off x="713232" y="274320"/>
            <a:ext cx="10058400" cy="237744"/>
          </a:xfrm>
          <a:prstGeom prst="rect">
            <a:avLst/>
          </a:prstGeom>
          <a:noFill/>
          <a:ln/>
        </p:spPr>
        <p:txBody>
          <a:bodyPr wrap="square" lIns="0" tIns="0" rIns="0" bIns="0" rtlCol="0" anchor="ctr"/>
          <a:lstStyle/>
          <a:p>
            <a:pPr indent="0" marL="0">
              <a:buNone/>
            </a:pPr>
            <a:r>
              <a:rPr lang="en-US" sz="1100" b="1" spc="200" kern="0" dirty="0">
                <a:solidFill>
                  <a:srgbClr val="13B5A6"/>
                </a:solidFill>
                <a:latin typeface="Calibri" pitchFamily="34" charset="0"/>
                <a:ea typeface="Calibri" pitchFamily="34" charset="-122"/>
                <a:cs typeface="Calibri" pitchFamily="34" charset="-120"/>
              </a:rPr>
              <a:t>TECHNICAL ARCHITECTURE</a:t>
            </a:r>
            <a:endParaRPr lang="en-US" sz="1100" dirty="0"/>
          </a:p>
        </p:txBody>
      </p:sp>
      <p:sp>
        <p:nvSpPr>
          <p:cNvPr id="6" name="Text 4"/>
          <p:cNvSpPr/>
          <p:nvPr/>
        </p:nvSpPr>
        <p:spPr>
          <a:xfrm>
            <a:off x="713232" y="475488"/>
            <a:ext cx="11155680" cy="457200"/>
          </a:xfrm>
          <a:prstGeom prst="rect">
            <a:avLst/>
          </a:prstGeom>
          <a:noFill/>
          <a:ln/>
        </p:spPr>
        <p:txBody>
          <a:bodyPr wrap="square" lIns="0" tIns="0" rIns="0" bIns="0" rtlCol="0" anchor="ctr"/>
          <a:lstStyle/>
          <a:p>
            <a:pPr indent="0" marL="0">
              <a:buNone/>
            </a:pPr>
            <a:r>
              <a:rPr lang="en-US" sz="2300" b="1" dirty="0">
                <a:solidFill>
                  <a:srgbClr val="1B2A4A"/>
                </a:solidFill>
                <a:latin typeface="Georgia" pitchFamily="34" charset="0"/>
                <a:ea typeface="Georgia" pitchFamily="34" charset="-122"/>
                <a:cs typeface="Georgia" pitchFamily="34" charset="-120"/>
              </a:rPr>
              <a:t>The rule checks, the confidence score, and the hard limits</a:t>
            </a:r>
            <a:endParaRPr lang="en-US" sz="2300" dirty="0"/>
          </a:p>
        </p:txBody>
      </p:sp>
      <p:sp>
        <p:nvSpPr>
          <p:cNvPr id="7" name="Shape 5"/>
          <p:cNvSpPr/>
          <p:nvPr/>
        </p:nvSpPr>
        <p:spPr>
          <a:xfrm>
            <a:off x="457200" y="1463040"/>
            <a:ext cx="3630168" cy="4754880"/>
          </a:xfrm>
          <a:prstGeom prst="roundRect">
            <a:avLst>
              <a:gd name="adj" fmla="val 1763"/>
            </a:avLst>
          </a:prstGeom>
          <a:solidFill>
            <a:srgbClr val="FFFFFF"/>
          </a:solidFill>
          <a:ln w="12700">
            <a:solidFill>
              <a:srgbClr val="D8E1EC"/>
            </a:solidFill>
            <a:prstDash val="solid"/>
          </a:ln>
          <a:effectLst>
            <a:outerShdw sx="100000" sy="100000" kx="0" ky="0" algn="bl" rotWithShape="0" blurRad="88900" dist="38100" dir="8100000">
              <a:srgbClr val="1B2A4A">
                <a:alpha val="12000"/>
              </a:srgbClr>
            </a:outerShdw>
          </a:effectLst>
        </p:spPr>
      </p:sp>
      <p:sp>
        <p:nvSpPr>
          <p:cNvPr id="8" name="Shape 6"/>
          <p:cNvSpPr/>
          <p:nvPr/>
        </p:nvSpPr>
        <p:spPr>
          <a:xfrm>
            <a:off x="457200" y="1463040"/>
            <a:ext cx="3630168" cy="566928"/>
          </a:xfrm>
          <a:prstGeom prst="rect">
            <a:avLst/>
          </a:prstGeom>
          <a:solidFill>
            <a:srgbClr val="1B2A4A"/>
          </a:solidFill>
          <a:ln/>
        </p:spPr>
      </p:sp>
      <p:sp>
        <p:nvSpPr>
          <p:cNvPr id="9" name="Text 7"/>
          <p:cNvSpPr/>
          <p:nvPr/>
        </p:nvSpPr>
        <p:spPr>
          <a:xfrm>
            <a:off x="640080" y="1463040"/>
            <a:ext cx="3264408" cy="56692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 rule checks</a:t>
            </a:r>
            <a:endParaRPr lang="en-US" sz="1400" dirty="0"/>
          </a:p>
        </p:txBody>
      </p:sp>
      <p:sp>
        <p:nvSpPr>
          <p:cNvPr id="10" name="Shape 8"/>
          <p:cNvSpPr/>
          <p:nvPr/>
        </p:nvSpPr>
        <p:spPr>
          <a:xfrm>
            <a:off x="685800" y="2313432"/>
            <a:ext cx="118872" cy="118872"/>
          </a:xfrm>
          <a:prstGeom prst="ellipse">
            <a:avLst/>
          </a:prstGeom>
          <a:solidFill>
            <a:srgbClr val="1B2A4A"/>
          </a:solidFill>
          <a:ln/>
        </p:spPr>
      </p:sp>
      <p:sp>
        <p:nvSpPr>
          <p:cNvPr id="11" name="Text 9"/>
          <p:cNvSpPr/>
          <p:nvPr/>
        </p:nvSpPr>
        <p:spPr>
          <a:xfrm>
            <a:off x="914400" y="2240280"/>
            <a:ext cx="2990088" cy="365760"/>
          </a:xfrm>
          <a:prstGeom prst="rect">
            <a:avLst/>
          </a:prstGeom>
          <a:noFill/>
          <a:ln/>
        </p:spPr>
        <p:txBody>
          <a:bodyPr wrap="square" lIns="0" tIns="0" rIns="0" bIns="0" rtlCol="0" anchor="t"/>
          <a:lstStyle/>
          <a:p>
            <a:pPr indent="0" marL="0">
              <a:lnSpc>
                <a:spcPct val="95000"/>
              </a:lnSpc>
              <a:buNone/>
            </a:pPr>
            <a:r>
              <a:rPr lang="en-US" sz="1100" dirty="0">
                <a:solidFill>
                  <a:srgbClr val="6B7A8D"/>
                </a:solidFill>
                <a:latin typeface="Calibri" pitchFamily="34" charset="0"/>
                <a:ea typeface="Calibri" pitchFamily="34" charset="-122"/>
                <a:cs typeface="Calibri" pitchFamily="34" charset="-120"/>
              </a:rPr>
              <a:t>NCCI bundling (hard, or fixable with a modifier)</a:t>
            </a:r>
            <a:endParaRPr lang="en-US" sz="1100" dirty="0"/>
          </a:p>
        </p:txBody>
      </p:sp>
      <p:sp>
        <p:nvSpPr>
          <p:cNvPr id="12" name="Shape 10"/>
          <p:cNvSpPr/>
          <p:nvPr/>
        </p:nvSpPr>
        <p:spPr>
          <a:xfrm>
            <a:off x="685800" y="2770632"/>
            <a:ext cx="118872" cy="118872"/>
          </a:xfrm>
          <a:prstGeom prst="ellipse">
            <a:avLst/>
          </a:prstGeom>
          <a:solidFill>
            <a:srgbClr val="1B2A4A"/>
          </a:solidFill>
          <a:ln/>
        </p:spPr>
      </p:sp>
      <p:sp>
        <p:nvSpPr>
          <p:cNvPr id="13" name="Text 11"/>
          <p:cNvSpPr/>
          <p:nvPr/>
        </p:nvSpPr>
        <p:spPr>
          <a:xfrm>
            <a:off x="914400" y="2697480"/>
            <a:ext cx="2990088" cy="365760"/>
          </a:xfrm>
          <a:prstGeom prst="rect">
            <a:avLst/>
          </a:prstGeom>
          <a:noFill/>
          <a:ln/>
        </p:spPr>
        <p:txBody>
          <a:bodyPr wrap="square" lIns="0" tIns="0" rIns="0" bIns="0" rtlCol="0" anchor="t"/>
          <a:lstStyle/>
          <a:p>
            <a:pPr indent="0" marL="0">
              <a:lnSpc>
                <a:spcPct val="95000"/>
              </a:lnSpc>
              <a:buNone/>
            </a:pPr>
            <a:r>
              <a:rPr lang="en-US" sz="1100" dirty="0">
                <a:solidFill>
                  <a:srgbClr val="6B7A8D"/>
                </a:solidFill>
                <a:latin typeface="Calibri" pitchFamily="34" charset="0"/>
                <a:ea typeface="Calibri" pitchFamily="34" charset="-122"/>
                <a:cs typeface="Calibri" pitchFamily="34" charset="-120"/>
              </a:rPr>
              <a:t>MUE — units allowed per day</a:t>
            </a:r>
            <a:endParaRPr lang="en-US" sz="1100" dirty="0"/>
          </a:p>
        </p:txBody>
      </p:sp>
      <p:sp>
        <p:nvSpPr>
          <p:cNvPr id="14" name="Shape 12"/>
          <p:cNvSpPr/>
          <p:nvPr/>
        </p:nvSpPr>
        <p:spPr>
          <a:xfrm>
            <a:off x="685800" y="3227832"/>
            <a:ext cx="118872" cy="118872"/>
          </a:xfrm>
          <a:prstGeom prst="ellipse">
            <a:avLst/>
          </a:prstGeom>
          <a:solidFill>
            <a:srgbClr val="1B2A4A"/>
          </a:solidFill>
          <a:ln/>
        </p:spPr>
      </p:sp>
      <p:sp>
        <p:nvSpPr>
          <p:cNvPr id="15" name="Text 13"/>
          <p:cNvSpPr/>
          <p:nvPr/>
        </p:nvSpPr>
        <p:spPr>
          <a:xfrm>
            <a:off x="914400" y="3154680"/>
            <a:ext cx="2990088" cy="365760"/>
          </a:xfrm>
          <a:prstGeom prst="rect">
            <a:avLst/>
          </a:prstGeom>
          <a:noFill/>
          <a:ln/>
        </p:spPr>
        <p:txBody>
          <a:bodyPr wrap="square" lIns="0" tIns="0" rIns="0" bIns="0" rtlCol="0" anchor="t"/>
          <a:lstStyle/>
          <a:p>
            <a:pPr indent="0" marL="0">
              <a:lnSpc>
                <a:spcPct val="95000"/>
              </a:lnSpc>
              <a:buNone/>
            </a:pPr>
            <a:r>
              <a:rPr lang="en-US" sz="1100" dirty="0">
                <a:solidFill>
                  <a:srgbClr val="6B7A8D"/>
                </a:solidFill>
                <a:latin typeface="Calibri" pitchFamily="34" charset="0"/>
                <a:ea typeface="Calibri" pitchFamily="34" charset="-122"/>
                <a:cs typeface="Calibri" pitchFamily="34" charset="-120"/>
              </a:rPr>
              <a:t>Is the modifier even valid?</a:t>
            </a:r>
            <a:endParaRPr lang="en-US" sz="1100" dirty="0"/>
          </a:p>
        </p:txBody>
      </p:sp>
      <p:sp>
        <p:nvSpPr>
          <p:cNvPr id="16" name="Shape 14"/>
          <p:cNvSpPr/>
          <p:nvPr/>
        </p:nvSpPr>
        <p:spPr>
          <a:xfrm>
            <a:off x="685800" y="3685032"/>
            <a:ext cx="118872" cy="118872"/>
          </a:xfrm>
          <a:prstGeom prst="ellipse">
            <a:avLst/>
          </a:prstGeom>
          <a:solidFill>
            <a:srgbClr val="1B2A4A"/>
          </a:solidFill>
          <a:ln/>
        </p:spPr>
      </p:sp>
      <p:sp>
        <p:nvSpPr>
          <p:cNvPr id="17" name="Text 15"/>
          <p:cNvSpPr/>
          <p:nvPr/>
        </p:nvSpPr>
        <p:spPr>
          <a:xfrm>
            <a:off x="914400" y="3611880"/>
            <a:ext cx="2990088" cy="365760"/>
          </a:xfrm>
          <a:prstGeom prst="rect">
            <a:avLst/>
          </a:prstGeom>
          <a:noFill/>
          <a:ln/>
        </p:spPr>
        <p:txBody>
          <a:bodyPr wrap="square" lIns="0" tIns="0" rIns="0" bIns="0" rtlCol="0" anchor="t"/>
          <a:lstStyle/>
          <a:p>
            <a:pPr indent="0" marL="0">
              <a:lnSpc>
                <a:spcPct val="95000"/>
              </a:lnSpc>
              <a:buNone/>
            </a:pPr>
            <a:r>
              <a:rPr lang="en-US" sz="1100" dirty="0">
                <a:solidFill>
                  <a:srgbClr val="6B7A8D"/>
                </a:solidFill>
                <a:latin typeface="Calibri" pitchFamily="34" charset="0"/>
                <a:ea typeface="Calibri" pitchFamily="34" charset="-122"/>
                <a:cs typeface="Calibri" pitchFamily="34" charset="-120"/>
              </a:rPr>
              <a:t>Is the code specific / billable?</a:t>
            </a:r>
            <a:endParaRPr lang="en-US" sz="1100" dirty="0"/>
          </a:p>
        </p:txBody>
      </p:sp>
      <p:sp>
        <p:nvSpPr>
          <p:cNvPr id="18" name="Shape 16"/>
          <p:cNvSpPr/>
          <p:nvPr/>
        </p:nvSpPr>
        <p:spPr>
          <a:xfrm>
            <a:off x="685800" y="4142232"/>
            <a:ext cx="118872" cy="118872"/>
          </a:xfrm>
          <a:prstGeom prst="ellipse">
            <a:avLst/>
          </a:prstGeom>
          <a:solidFill>
            <a:srgbClr val="1B2A4A"/>
          </a:solidFill>
          <a:ln/>
        </p:spPr>
      </p:sp>
      <p:sp>
        <p:nvSpPr>
          <p:cNvPr id="19" name="Text 17"/>
          <p:cNvSpPr/>
          <p:nvPr/>
        </p:nvSpPr>
        <p:spPr>
          <a:xfrm>
            <a:off x="914400" y="4069080"/>
            <a:ext cx="2990088" cy="365760"/>
          </a:xfrm>
          <a:prstGeom prst="rect">
            <a:avLst/>
          </a:prstGeom>
          <a:noFill/>
          <a:ln/>
        </p:spPr>
        <p:txBody>
          <a:bodyPr wrap="square" lIns="0" tIns="0" rIns="0" bIns="0" rtlCol="0" anchor="t"/>
          <a:lstStyle/>
          <a:p>
            <a:pPr indent="0" marL="0">
              <a:lnSpc>
                <a:spcPct val="95000"/>
              </a:lnSpc>
              <a:buNone/>
            </a:pPr>
            <a:r>
              <a:rPr lang="en-US" sz="1100" dirty="0">
                <a:solidFill>
                  <a:srgbClr val="6B7A8D"/>
                </a:solidFill>
                <a:latin typeface="Calibri" pitchFamily="34" charset="0"/>
                <a:ea typeface="Calibri" pitchFamily="34" charset="-122"/>
                <a:cs typeface="Calibri" pitchFamily="34" charset="-120"/>
              </a:rPr>
              <a:t>Does it fit the patient's sex and age?</a:t>
            </a:r>
            <a:endParaRPr lang="en-US" sz="1100" dirty="0"/>
          </a:p>
        </p:txBody>
      </p:sp>
      <p:sp>
        <p:nvSpPr>
          <p:cNvPr id="20" name="Shape 18"/>
          <p:cNvSpPr/>
          <p:nvPr/>
        </p:nvSpPr>
        <p:spPr>
          <a:xfrm>
            <a:off x="685800" y="4599432"/>
            <a:ext cx="118872" cy="118872"/>
          </a:xfrm>
          <a:prstGeom prst="ellipse">
            <a:avLst/>
          </a:prstGeom>
          <a:solidFill>
            <a:srgbClr val="1B2A4A"/>
          </a:solidFill>
          <a:ln/>
        </p:spPr>
      </p:sp>
      <p:sp>
        <p:nvSpPr>
          <p:cNvPr id="21" name="Text 19"/>
          <p:cNvSpPr/>
          <p:nvPr/>
        </p:nvSpPr>
        <p:spPr>
          <a:xfrm>
            <a:off x="914400" y="4526280"/>
            <a:ext cx="2990088" cy="365760"/>
          </a:xfrm>
          <a:prstGeom prst="rect">
            <a:avLst/>
          </a:prstGeom>
          <a:noFill/>
          <a:ln/>
        </p:spPr>
        <p:txBody>
          <a:bodyPr wrap="square" lIns="0" tIns="0" rIns="0" bIns="0" rtlCol="0" anchor="t"/>
          <a:lstStyle/>
          <a:p>
            <a:pPr indent="0" marL="0">
              <a:lnSpc>
                <a:spcPct val="95000"/>
              </a:lnSpc>
              <a:buNone/>
            </a:pPr>
            <a:r>
              <a:rPr lang="en-US" sz="1100" dirty="0">
                <a:solidFill>
                  <a:srgbClr val="6B7A8D"/>
                </a:solidFill>
                <a:latin typeface="Calibri" pitchFamily="34" charset="0"/>
                <a:ea typeface="Calibri" pitchFamily="34" charset="-122"/>
                <a:cs typeface="Calibri" pitchFamily="34" charset="-120"/>
              </a:rPr>
              <a:t>Does the payer cover it?</a:t>
            </a:r>
            <a:endParaRPr lang="en-US" sz="1100" dirty="0"/>
          </a:p>
        </p:txBody>
      </p:sp>
      <p:sp>
        <p:nvSpPr>
          <p:cNvPr id="22" name="Shape 20"/>
          <p:cNvSpPr/>
          <p:nvPr/>
        </p:nvSpPr>
        <p:spPr>
          <a:xfrm>
            <a:off x="640080" y="5029200"/>
            <a:ext cx="3264408" cy="18288"/>
          </a:xfrm>
          <a:prstGeom prst="rect">
            <a:avLst/>
          </a:prstGeom>
          <a:solidFill>
            <a:srgbClr val="D8E1EC"/>
          </a:solidFill>
          <a:ln/>
        </p:spPr>
      </p:sp>
      <p:sp>
        <p:nvSpPr>
          <p:cNvPr id="23" name="Text 21"/>
          <p:cNvSpPr/>
          <p:nvPr/>
        </p:nvSpPr>
        <p:spPr>
          <a:xfrm>
            <a:off x="658368" y="5120640"/>
            <a:ext cx="3246120" cy="1005840"/>
          </a:xfrm>
          <a:prstGeom prst="rect">
            <a:avLst/>
          </a:prstGeom>
          <a:noFill/>
          <a:ln/>
        </p:spPr>
        <p:txBody>
          <a:bodyPr wrap="square" lIns="0" tIns="0" rIns="0" bIns="0" rtlCol="0" anchor="t"/>
          <a:lstStyle/>
          <a:p>
            <a:pPr indent="0" marL="0">
              <a:lnSpc>
                <a:spcPct val="100000"/>
              </a:lnSpc>
              <a:buNone/>
            </a:pPr>
            <a:r>
              <a:rPr lang="en-US" sz="1050" i="1" dirty="0">
                <a:solidFill>
                  <a:srgbClr val="0E8C81"/>
                </a:solidFill>
                <a:latin typeface="Calibri" pitchFamily="34" charset="0"/>
                <a:ea typeface="Calibri" pitchFamily="34" charset="-122"/>
                <a:cs typeface="Calibri" pitchFamily="34" charset="-120"/>
              </a:rPr>
              <a:t>Plain rules, not guesswork — every check is inspectable and reads live from tables your team can edit.</a:t>
            </a:r>
            <a:endParaRPr lang="en-US" sz="1050" dirty="0"/>
          </a:p>
        </p:txBody>
      </p:sp>
      <p:sp>
        <p:nvSpPr>
          <p:cNvPr id="24" name="Shape 22"/>
          <p:cNvSpPr/>
          <p:nvPr/>
        </p:nvSpPr>
        <p:spPr>
          <a:xfrm>
            <a:off x="4279392" y="1463040"/>
            <a:ext cx="3630168" cy="4754880"/>
          </a:xfrm>
          <a:prstGeom prst="roundRect">
            <a:avLst>
              <a:gd name="adj" fmla="val 1763"/>
            </a:avLst>
          </a:prstGeom>
          <a:solidFill>
            <a:srgbClr val="FFFFFF"/>
          </a:solidFill>
          <a:ln w="12700">
            <a:solidFill>
              <a:srgbClr val="D8E1EC"/>
            </a:solidFill>
            <a:prstDash val="solid"/>
          </a:ln>
          <a:effectLst>
            <a:outerShdw sx="100000" sy="100000" kx="0" ky="0" algn="bl" rotWithShape="0" blurRad="88900" dist="38100" dir="8100000">
              <a:srgbClr val="1B2A4A">
                <a:alpha val="12000"/>
              </a:srgbClr>
            </a:outerShdw>
          </a:effectLst>
        </p:spPr>
      </p:sp>
      <p:sp>
        <p:nvSpPr>
          <p:cNvPr id="25" name="Shape 23"/>
          <p:cNvSpPr/>
          <p:nvPr/>
        </p:nvSpPr>
        <p:spPr>
          <a:xfrm>
            <a:off x="4279392" y="1463040"/>
            <a:ext cx="3630168" cy="566928"/>
          </a:xfrm>
          <a:prstGeom prst="rect">
            <a:avLst/>
          </a:prstGeom>
          <a:solidFill>
            <a:srgbClr val="0E8C81"/>
          </a:solidFill>
          <a:ln/>
        </p:spPr>
      </p:sp>
      <p:sp>
        <p:nvSpPr>
          <p:cNvPr id="26" name="Text 24"/>
          <p:cNvSpPr/>
          <p:nvPr/>
        </p:nvSpPr>
        <p:spPr>
          <a:xfrm>
            <a:off x="4462272" y="1463040"/>
            <a:ext cx="3264408" cy="56692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 confidence score</a:t>
            </a:r>
            <a:endParaRPr lang="en-US" sz="1400" dirty="0"/>
          </a:p>
        </p:txBody>
      </p:sp>
      <p:sp>
        <p:nvSpPr>
          <p:cNvPr id="27" name="Shape 25"/>
          <p:cNvSpPr/>
          <p:nvPr/>
        </p:nvSpPr>
        <p:spPr>
          <a:xfrm>
            <a:off x="4507992" y="2313432"/>
            <a:ext cx="118872" cy="118872"/>
          </a:xfrm>
          <a:prstGeom prst="ellipse">
            <a:avLst/>
          </a:prstGeom>
          <a:solidFill>
            <a:srgbClr val="0E8C81"/>
          </a:solidFill>
          <a:ln/>
        </p:spPr>
      </p:sp>
      <p:sp>
        <p:nvSpPr>
          <p:cNvPr id="28" name="Text 26"/>
          <p:cNvSpPr/>
          <p:nvPr/>
        </p:nvSpPr>
        <p:spPr>
          <a:xfrm>
            <a:off x="4736592" y="2240280"/>
            <a:ext cx="2990088" cy="365760"/>
          </a:xfrm>
          <a:prstGeom prst="rect">
            <a:avLst/>
          </a:prstGeom>
          <a:noFill/>
          <a:ln/>
        </p:spPr>
        <p:txBody>
          <a:bodyPr wrap="square" lIns="0" tIns="0" rIns="0" bIns="0" rtlCol="0" anchor="t"/>
          <a:lstStyle/>
          <a:p>
            <a:pPr indent="0" marL="0">
              <a:lnSpc>
                <a:spcPct val="95000"/>
              </a:lnSpc>
              <a:buNone/>
            </a:pPr>
            <a:r>
              <a:rPr lang="en-US" sz="1100" dirty="0">
                <a:solidFill>
                  <a:srgbClr val="6B7A8D"/>
                </a:solidFill>
                <a:latin typeface="Calibri" pitchFamily="34" charset="0"/>
                <a:ea typeface="Calibri" pitchFamily="34" charset="-122"/>
                <a:cs typeface="Calibri" pitchFamily="34" charset="-120"/>
              </a:rPr>
              <a:t>How sure is the model?</a:t>
            </a:r>
            <a:endParaRPr lang="en-US" sz="1100" dirty="0"/>
          </a:p>
        </p:txBody>
      </p:sp>
      <p:sp>
        <p:nvSpPr>
          <p:cNvPr id="29" name="Shape 27"/>
          <p:cNvSpPr/>
          <p:nvPr/>
        </p:nvSpPr>
        <p:spPr>
          <a:xfrm>
            <a:off x="4507992" y="2770632"/>
            <a:ext cx="118872" cy="118872"/>
          </a:xfrm>
          <a:prstGeom prst="ellipse">
            <a:avLst/>
          </a:prstGeom>
          <a:solidFill>
            <a:srgbClr val="0E8C81"/>
          </a:solidFill>
          <a:ln/>
        </p:spPr>
      </p:sp>
      <p:sp>
        <p:nvSpPr>
          <p:cNvPr id="30" name="Text 28"/>
          <p:cNvSpPr/>
          <p:nvPr/>
        </p:nvSpPr>
        <p:spPr>
          <a:xfrm>
            <a:off x="4736592" y="2697480"/>
            <a:ext cx="2990088" cy="365760"/>
          </a:xfrm>
          <a:prstGeom prst="rect">
            <a:avLst/>
          </a:prstGeom>
          <a:noFill/>
          <a:ln/>
        </p:spPr>
        <p:txBody>
          <a:bodyPr wrap="square" lIns="0" tIns="0" rIns="0" bIns="0" rtlCol="0" anchor="t"/>
          <a:lstStyle/>
          <a:p>
            <a:pPr indent="0" marL="0">
              <a:lnSpc>
                <a:spcPct val="95000"/>
              </a:lnSpc>
              <a:buNone/>
            </a:pPr>
            <a:r>
              <a:rPr lang="en-US" sz="1100" dirty="0">
                <a:solidFill>
                  <a:srgbClr val="6B7A8D"/>
                </a:solidFill>
                <a:latin typeface="Calibri" pitchFamily="34" charset="0"/>
                <a:ea typeface="Calibri" pitchFamily="34" charset="-122"/>
                <a:cs typeface="Calibri" pitchFamily="34" charset="-120"/>
              </a:rPr>
              <a:t>Does the chart back it up?</a:t>
            </a:r>
            <a:endParaRPr lang="en-US" sz="1100" dirty="0"/>
          </a:p>
        </p:txBody>
      </p:sp>
      <p:sp>
        <p:nvSpPr>
          <p:cNvPr id="31" name="Shape 29"/>
          <p:cNvSpPr/>
          <p:nvPr/>
        </p:nvSpPr>
        <p:spPr>
          <a:xfrm>
            <a:off x="4507992" y="3227832"/>
            <a:ext cx="118872" cy="118872"/>
          </a:xfrm>
          <a:prstGeom prst="ellipse">
            <a:avLst/>
          </a:prstGeom>
          <a:solidFill>
            <a:srgbClr val="0E8C81"/>
          </a:solidFill>
          <a:ln/>
        </p:spPr>
      </p:sp>
      <p:sp>
        <p:nvSpPr>
          <p:cNvPr id="32" name="Text 30"/>
          <p:cNvSpPr/>
          <p:nvPr/>
        </p:nvSpPr>
        <p:spPr>
          <a:xfrm>
            <a:off x="4736592" y="3154680"/>
            <a:ext cx="2990088" cy="365760"/>
          </a:xfrm>
          <a:prstGeom prst="rect">
            <a:avLst/>
          </a:prstGeom>
          <a:noFill/>
          <a:ln/>
        </p:spPr>
        <p:txBody>
          <a:bodyPr wrap="square" lIns="0" tIns="0" rIns="0" bIns="0" rtlCol="0" anchor="t"/>
          <a:lstStyle/>
          <a:p>
            <a:pPr indent="0" marL="0">
              <a:lnSpc>
                <a:spcPct val="95000"/>
              </a:lnSpc>
              <a:buNone/>
            </a:pPr>
            <a:r>
              <a:rPr lang="en-US" sz="1100" dirty="0">
                <a:solidFill>
                  <a:srgbClr val="6B7A8D"/>
                </a:solidFill>
                <a:latin typeface="Calibri" pitchFamily="34" charset="0"/>
                <a:ea typeface="Calibri" pitchFamily="34" charset="-122"/>
                <a:cs typeface="Calibri" pitchFamily="34" charset="-120"/>
              </a:rPr>
              <a:t>Do the rules agree?</a:t>
            </a:r>
            <a:endParaRPr lang="en-US" sz="1100" dirty="0"/>
          </a:p>
        </p:txBody>
      </p:sp>
      <p:sp>
        <p:nvSpPr>
          <p:cNvPr id="33" name="Shape 31"/>
          <p:cNvSpPr/>
          <p:nvPr/>
        </p:nvSpPr>
        <p:spPr>
          <a:xfrm>
            <a:off x="4507992" y="3685032"/>
            <a:ext cx="118872" cy="118872"/>
          </a:xfrm>
          <a:prstGeom prst="ellipse">
            <a:avLst/>
          </a:prstGeom>
          <a:solidFill>
            <a:srgbClr val="0E8C81"/>
          </a:solidFill>
          <a:ln/>
        </p:spPr>
      </p:sp>
      <p:sp>
        <p:nvSpPr>
          <p:cNvPr id="34" name="Text 32"/>
          <p:cNvSpPr/>
          <p:nvPr/>
        </p:nvSpPr>
        <p:spPr>
          <a:xfrm>
            <a:off x="4736592" y="3611880"/>
            <a:ext cx="2990088" cy="365760"/>
          </a:xfrm>
          <a:prstGeom prst="rect">
            <a:avLst/>
          </a:prstGeom>
          <a:noFill/>
          <a:ln/>
        </p:spPr>
        <p:txBody>
          <a:bodyPr wrap="square" lIns="0" tIns="0" rIns="0" bIns="0" rtlCol="0" anchor="t"/>
          <a:lstStyle/>
          <a:p>
            <a:pPr indent="0" marL="0">
              <a:lnSpc>
                <a:spcPct val="95000"/>
              </a:lnSpc>
              <a:buNone/>
            </a:pPr>
            <a:r>
              <a:rPr lang="en-US" sz="1100" dirty="0">
                <a:solidFill>
                  <a:srgbClr val="6B7A8D"/>
                </a:solidFill>
                <a:latin typeface="Calibri" pitchFamily="34" charset="0"/>
                <a:ea typeface="Calibri" pitchFamily="34" charset="-122"/>
                <a:cs typeface="Calibri" pitchFamily="34" charset="-120"/>
              </a:rPr>
              <a:t>Does it match past charts?</a:t>
            </a:r>
            <a:endParaRPr lang="en-US" sz="1100" dirty="0"/>
          </a:p>
        </p:txBody>
      </p:sp>
      <p:sp>
        <p:nvSpPr>
          <p:cNvPr id="35" name="Shape 33"/>
          <p:cNvSpPr/>
          <p:nvPr/>
        </p:nvSpPr>
        <p:spPr>
          <a:xfrm>
            <a:off x="4507992" y="4142232"/>
            <a:ext cx="118872" cy="118872"/>
          </a:xfrm>
          <a:prstGeom prst="ellipse">
            <a:avLst/>
          </a:prstGeom>
          <a:solidFill>
            <a:srgbClr val="E8A13A"/>
          </a:solidFill>
          <a:ln/>
        </p:spPr>
      </p:sp>
      <p:sp>
        <p:nvSpPr>
          <p:cNvPr id="36" name="Text 34"/>
          <p:cNvSpPr/>
          <p:nvPr/>
        </p:nvSpPr>
        <p:spPr>
          <a:xfrm>
            <a:off x="4736592" y="4069080"/>
            <a:ext cx="2990088" cy="365760"/>
          </a:xfrm>
          <a:prstGeom prst="rect">
            <a:avLst/>
          </a:prstGeom>
          <a:noFill/>
          <a:ln/>
        </p:spPr>
        <p:txBody>
          <a:bodyPr wrap="square" lIns="0" tIns="0" rIns="0" bIns="0" rtlCol="0" anchor="t"/>
          <a:lstStyle/>
          <a:p>
            <a:pPr indent="0" marL="0">
              <a:lnSpc>
                <a:spcPct val="95000"/>
              </a:lnSpc>
              <a:buNone/>
            </a:pPr>
            <a:r>
              <a:rPr lang="en-US" sz="1100" b="1" dirty="0">
                <a:solidFill>
                  <a:srgbClr val="27313F"/>
                </a:solidFill>
                <a:latin typeface="Calibri" pitchFamily="34" charset="0"/>
                <a:ea typeface="Calibri" pitchFamily="34" charset="-122"/>
                <a:cs typeface="Calibri" pitchFamily="34" charset="-120"/>
              </a:rPr>
              <a:t>one score it can trust</a:t>
            </a:r>
            <a:endParaRPr lang="en-US" sz="1100" dirty="0"/>
          </a:p>
        </p:txBody>
      </p:sp>
      <p:sp>
        <p:nvSpPr>
          <p:cNvPr id="37" name="Shape 35"/>
          <p:cNvSpPr/>
          <p:nvPr/>
        </p:nvSpPr>
        <p:spPr>
          <a:xfrm>
            <a:off x="4507992" y="4599432"/>
            <a:ext cx="118872" cy="118872"/>
          </a:xfrm>
          <a:prstGeom prst="ellipse">
            <a:avLst/>
          </a:prstGeom>
          <a:solidFill>
            <a:srgbClr val="E8A13A"/>
          </a:solidFill>
          <a:ln/>
        </p:spPr>
      </p:sp>
      <p:sp>
        <p:nvSpPr>
          <p:cNvPr id="38" name="Text 36"/>
          <p:cNvSpPr/>
          <p:nvPr/>
        </p:nvSpPr>
        <p:spPr>
          <a:xfrm>
            <a:off x="4736592" y="4526280"/>
            <a:ext cx="2990088" cy="365760"/>
          </a:xfrm>
          <a:prstGeom prst="rect">
            <a:avLst/>
          </a:prstGeom>
          <a:noFill/>
          <a:ln/>
        </p:spPr>
        <p:txBody>
          <a:bodyPr wrap="square" lIns="0" tIns="0" rIns="0" bIns="0" rtlCol="0" anchor="t"/>
          <a:lstStyle/>
          <a:p>
            <a:pPr indent="0" marL="0">
              <a:lnSpc>
                <a:spcPct val="95000"/>
              </a:lnSpc>
              <a:buNone/>
            </a:pPr>
            <a:r>
              <a:rPr lang="en-US" sz="1100" b="1" dirty="0">
                <a:solidFill>
                  <a:srgbClr val="27313F"/>
                </a:solidFill>
                <a:latin typeface="Calibri" pitchFamily="34" charset="0"/>
                <a:ea typeface="Calibri" pitchFamily="34" charset="-122"/>
                <a:cs typeface="Calibri" pitchFamily="34" charset="-120"/>
              </a:rPr>
              <a:t>the auto-bill / QA / coder line</a:t>
            </a:r>
            <a:endParaRPr lang="en-US" sz="1100" dirty="0"/>
          </a:p>
        </p:txBody>
      </p:sp>
      <p:sp>
        <p:nvSpPr>
          <p:cNvPr id="39" name="Shape 37"/>
          <p:cNvSpPr/>
          <p:nvPr/>
        </p:nvSpPr>
        <p:spPr>
          <a:xfrm>
            <a:off x="4462272" y="5029200"/>
            <a:ext cx="3264408" cy="18288"/>
          </a:xfrm>
          <a:prstGeom prst="rect">
            <a:avLst/>
          </a:prstGeom>
          <a:solidFill>
            <a:srgbClr val="D8E1EC"/>
          </a:solidFill>
          <a:ln/>
        </p:spPr>
      </p:sp>
      <p:sp>
        <p:nvSpPr>
          <p:cNvPr id="40" name="Text 38"/>
          <p:cNvSpPr/>
          <p:nvPr/>
        </p:nvSpPr>
        <p:spPr>
          <a:xfrm>
            <a:off x="4480560" y="5120640"/>
            <a:ext cx="3246120" cy="1005840"/>
          </a:xfrm>
          <a:prstGeom prst="rect">
            <a:avLst/>
          </a:prstGeom>
          <a:noFill/>
          <a:ln/>
        </p:spPr>
        <p:txBody>
          <a:bodyPr wrap="square" lIns="0" tIns="0" rIns="0" bIns="0" rtlCol="0" anchor="t"/>
          <a:lstStyle/>
          <a:p>
            <a:pPr indent="0" marL="0">
              <a:lnSpc>
                <a:spcPct val="100000"/>
              </a:lnSpc>
              <a:buNone/>
            </a:pPr>
            <a:r>
              <a:rPr lang="en-US" sz="1050" i="1" dirty="0">
                <a:solidFill>
                  <a:srgbClr val="0E8C81"/>
                </a:solidFill>
                <a:latin typeface="Calibri" pitchFamily="34" charset="0"/>
                <a:ea typeface="Calibri" pitchFamily="34" charset="-122"/>
                <a:cs typeface="Calibri" pitchFamily="34" charset="-120"/>
              </a:rPr>
              <a:t>A blend of four signals (you set the weights) — far more trustworthy than a raw model percentage.</a:t>
            </a:r>
            <a:endParaRPr lang="en-US" sz="1050" dirty="0"/>
          </a:p>
        </p:txBody>
      </p:sp>
      <p:sp>
        <p:nvSpPr>
          <p:cNvPr id="41" name="Shape 39"/>
          <p:cNvSpPr/>
          <p:nvPr/>
        </p:nvSpPr>
        <p:spPr>
          <a:xfrm>
            <a:off x="8101584" y="1463040"/>
            <a:ext cx="3630168" cy="4754880"/>
          </a:xfrm>
          <a:prstGeom prst="roundRect">
            <a:avLst>
              <a:gd name="adj" fmla="val 1763"/>
            </a:avLst>
          </a:prstGeom>
          <a:solidFill>
            <a:srgbClr val="FFFFFF"/>
          </a:solidFill>
          <a:ln w="12700">
            <a:solidFill>
              <a:srgbClr val="D8E1EC"/>
            </a:solidFill>
            <a:prstDash val="solid"/>
          </a:ln>
          <a:effectLst>
            <a:outerShdw sx="100000" sy="100000" kx="0" ky="0" algn="bl" rotWithShape="0" blurRad="88900" dist="38100" dir="8100000">
              <a:srgbClr val="1B2A4A">
                <a:alpha val="12000"/>
              </a:srgbClr>
            </a:outerShdw>
          </a:effectLst>
        </p:spPr>
      </p:sp>
      <p:sp>
        <p:nvSpPr>
          <p:cNvPr id="42" name="Shape 40"/>
          <p:cNvSpPr/>
          <p:nvPr/>
        </p:nvSpPr>
        <p:spPr>
          <a:xfrm>
            <a:off x="8101584" y="1463040"/>
            <a:ext cx="3630168" cy="566928"/>
          </a:xfrm>
          <a:prstGeom prst="rect">
            <a:avLst/>
          </a:prstGeom>
          <a:solidFill>
            <a:srgbClr val="13B5A6"/>
          </a:solidFill>
          <a:ln/>
        </p:spPr>
      </p:sp>
      <p:sp>
        <p:nvSpPr>
          <p:cNvPr id="43" name="Text 41"/>
          <p:cNvSpPr/>
          <p:nvPr/>
        </p:nvSpPr>
        <p:spPr>
          <a:xfrm>
            <a:off x="8284464" y="1463040"/>
            <a:ext cx="3264408" cy="56692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 hard limits</a:t>
            </a:r>
            <a:endParaRPr lang="en-US" sz="1400" dirty="0"/>
          </a:p>
        </p:txBody>
      </p:sp>
      <p:sp>
        <p:nvSpPr>
          <p:cNvPr id="44" name="Shape 42"/>
          <p:cNvSpPr/>
          <p:nvPr/>
        </p:nvSpPr>
        <p:spPr>
          <a:xfrm>
            <a:off x="8330184" y="2313432"/>
            <a:ext cx="118872" cy="118872"/>
          </a:xfrm>
          <a:prstGeom prst="ellipse">
            <a:avLst/>
          </a:prstGeom>
          <a:solidFill>
            <a:srgbClr val="13B5A6"/>
          </a:solidFill>
          <a:ln/>
        </p:spPr>
      </p:sp>
      <p:sp>
        <p:nvSpPr>
          <p:cNvPr id="45" name="Text 43"/>
          <p:cNvSpPr/>
          <p:nvPr/>
        </p:nvSpPr>
        <p:spPr>
          <a:xfrm>
            <a:off x="8558784" y="2240280"/>
            <a:ext cx="2990088" cy="365760"/>
          </a:xfrm>
          <a:prstGeom prst="rect">
            <a:avLst/>
          </a:prstGeom>
          <a:noFill/>
          <a:ln/>
        </p:spPr>
        <p:txBody>
          <a:bodyPr wrap="square" lIns="0" tIns="0" rIns="0" bIns="0" rtlCol="0" anchor="t"/>
          <a:lstStyle/>
          <a:p>
            <a:pPr indent="0" marL="0">
              <a:lnSpc>
                <a:spcPct val="95000"/>
              </a:lnSpc>
              <a:buNone/>
            </a:pPr>
            <a:r>
              <a:rPr lang="en-US" sz="1100" dirty="0">
                <a:solidFill>
                  <a:srgbClr val="6B7A8D"/>
                </a:solidFill>
                <a:latin typeface="Calibri" pitchFamily="34" charset="0"/>
                <a:ea typeface="Calibri" pitchFamily="34" charset="-122"/>
                <a:cs typeface="Calibri" pitchFamily="34" charset="-120"/>
              </a:rPr>
              <a:t>Critical-care codes</a:t>
            </a:r>
            <a:endParaRPr lang="en-US" sz="1100" dirty="0"/>
          </a:p>
        </p:txBody>
      </p:sp>
      <p:sp>
        <p:nvSpPr>
          <p:cNvPr id="46" name="Shape 44"/>
          <p:cNvSpPr/>
          <p:nvPr/>
        </p:nvSpPr>
        <p:spPr>
          <a:xfrm>
            <a:off x="8330184" y="2770632"/>
            <a:ext cx="118872" cy="118872"/>
          </a:xfrm>
          <a:prstGeom prst="ellipse">
            <a:avLst/>
          </a:prstGeom>
          <a:solidFill>
            <a:srgbClr val="13B5A6"/>
          </a:solidFill>
          <a:ln/>
        </p:spPr>
      </p:sp>
      <p:sp>
        <p:nvSpPr>
          <p:cNvPr id="47" name="Text 45"/>
          <p:cNvSpPr/>
          <p:nvPr/>
        </p:nvSpPr>
        <p:spPr>
          <a:xfrm>
            <a:off x="8558784" y="2697480"/>
            <a:ext cx="2990088" cy="365760"/>
          </a:xfrm>
          <a:prstGeom prst="rect">
            <a:avLst/>
          </a:prstGeom>
          <a:noFill/>
          <a:ln/>
        </p:spPr>
        <p:txBody>
          <a:bodyPr wrap="square" lIns="0" tIns="0" rIns="0" bIns="0" rtlCol="0" anchor="t"/>
          <a:lstStyle/>
          <a:p>
            <a:pPr indent="0" marL="0">
              <a:lnSpc>
                <a:spcPct val="95000"/>
              </a:lnSpc>
              <a:buNone/>
            </a:pPr>
            <a:r>
              <a:rPr lang="en-US" sz="1100" dirty="0">
                <a:solidFill>
                  <a:srgbClr val="6B7A8D"/>
                </a:solidFill>
                <a:latin typeface="Calibri" pitchFamily="34" charset="0"/>
                <a:ea typeface="Calibri" pitchFamily="34" charset="-122"/>
                <a:cs typeface="Calibri" pitchFamily="34" charset="-120"/>
              </a:rPr>
              <a:t>Breaking an NCCI bundle</a:t>
            </a:r>
            <a:endParaRPr lang="en-US" sz="1100" dirty="0"/>
          </a:p>
        </p:txBody>
      </p:sp>
      <p:sp>
        <p:nvSpPr>
          <p:cNvPr id="48" name="Shape 46"/>
          <p:cNvSpPr/>
          <p:nvPr/>
        </p:nvSpPr>
        <p:spPr>
          <a:xfrm>
            <a:off x="8330184" y="3227832"/>
            <a:ext cx="118872" cy="118872"/>
          </a:xfrm>
          <a:prstGeom prst="ellipse">
            <a:avLst/>
          </a:prstGeom>
          <a:solidFill>
            <a:srgbClr val="13B5A6"/>
          </a:solidFill>
          <a:ln/>
        </p:spPr>
      </p:sp>
      <p:sp>
        <p:nvSpPr>
          <p:cNvPr id="49" name="Text 47"/>
          <p:cNvSpPr/>
          <p:nvPr/>
        </p:nvSpPr>
        <p:spPr>
          <a:xfrm>
            <a:off x="8558784" y="3154680"/>
            <a:ext cx="2990088" cy="365760"/>
          </a:xfrm>
          <a:prstGeom prst="rect">
            <a:avLst/>
          </a:prstGeom>
          <a:noFill/>
          <a:ln/>
        </p:spPr>
        <p:txBody>
          <a:bodyPr wrap="square" lIns="0" tIns="0" rIns="0" bIns="0" rtlCol="0" anchor="t"/>
          <a:lstStyle/>
          <a:p>
            <a:pPr indent="0" marL="0">
              <a:lnSpc>
                <a:spcPct val="95000"/>
              </a:lnSpc>
              <a:buNone/>
            </a:pPr>
            <a:r>
              <a:rPr lang="en-US" sz="1100" dirty="0">
                <a:solidFill>
                  <a:srgbClr val="6B7A8D"/>
                </a:solidFill>
                <a:latin typeface="Calibri" pitchFamily="34" charset="0"/>
                <a:ea typeface="Calibri" pitchFamily="34" charset="-122"/>
                <a:cs typeface="Calibri" pitchFamily="34" charset="-120"/>
              </a:rPr>
              <a:t>Notes that disagree with themselves</a:t>
            </a:r>
            <a:endParaRPr lang="en-US" sz="1100" dirty="0"/>
          </a:p>
        </p:txBody>
      </p:sp>
      <p:sp>
        <p:nvSpPr>
          <p:cNvPr id="50" name="Shape 48"/>
          <p:cNvSpPr/>
          <p:nvPr/>
        </p:nvSpPr>
        <p:spPr>
          <a:xfrm>
            <a:off x="8330184" y="3685032"/>
            <a:ext cx="118872" cy="118872"/>
          </a:xfrm>
          <a:prstGeom prst="ellipse">
            <a:avLst/>
          </a:prstGeom>
          <a:solidFill>
            <a:srgbClr val="13B5A6"/>
          </a:solidFill>
          <a:ln/>
        </p:spPr>
      </p:sp>
      <p:sp>
        <p:nvSpPr>
          <p:cNvPr id="51" name="Text 49"/>
          <p:cNvSpPr/>
          <p:nvPr/>
        </p:nvSpPr>
        <p:spPr>
          <a:xfrm>
            <a:off x="8558784" y="3611880"/>
            <a:ext cx="2990088" cy="365760"/>
          </a:xfrm>
          <a:prstGeom prst="rect">
            <a:avLst/>
          </a:prstGeom>
          <a:noFill/>
          <a:ln/>
        </p:spPr>
        <p:txBody>
          <a:bodyPr wrap="square" lIns="0" tIns="0" rIns="0" bIns="0" rtlCol="0" anchor="t"/>
          <a:lstStyle/>
          <a:p>
            <a:pPr indent="0" marL="0">
              <a:lnSpc>
                <a:spcPct val="95000"/>
              </a:lnSpc>
              <a:buNone/>
            </a:pPr>
            <a:r>
              <a:rPr lang="en-US" sz="1100" dirty="0">
                <a:solidFill>
                  <a:srgbClr val="6B7A8D"/>
                </a:solidFill>
                <a:latin typeface="Calibri" pitchFamily="34" charset="0"/>
                <a:ea typeface="Calibri" pitchFamily="34" charset="-122"/>
                <a:cs typeface="Calibri" pitchFamily="34" charset="-120"/>
              </a:rPr>
              <a:t>A blocking documentation flag</a:t>
            </a:r>
            <a:endParaRPr lang="en-US" sz="1100" dirty="0"/>
          </a:p>
        </p:txBody>
      </p:sp>
      <p:sp>
        <p:nvSpPr>
          <p:cNvPr id="52" name="Shape 50"/>
          <p:cNvSpPr/>
          <p:nvPr/>
        </p:nvSpPr>
        <p:spPr>
          <a:xfrm>
            <a:off x="8330184" y="4142232"/>
            <a:ext cx="118872" cy="118872"/>
          </a:xfrm>
          <a:prstGeom prst="ellipse">
            <a:avLst/>
          </a:prstGeom>
          <a:solidFill>
            <a:srgbClr val="E8A13A"/>
          </a:solidFill>
          <a:ln/>
        </p:spPr>
      </p:sp>
      <p:sp>
        <p:nvSpPr>
          <p:cNvPr id="53" name="Text 51"/>
          <p:cNvSpPr/>
          <p:nvPr/>
        </p:nvSpPr>
        <p:spPr>
          <a:xfrm>
            <a:off x="8558784" y="4069080"/>
            <a:ext cx="2990088" cy="365760"/>
          </a:xfrm>
          <a:prstGeom prst="rect">
            <a:avLst/>
          </a:prstGeom>
          <a:noFill/>
          <a:ln/>
        </p:spPr>
        <p:txBody>
          <a:bodyPr wrap="square" lIns="0" tIns="0" rIns="0" bIns="0" rtlCol="0" anchor="t"/>
          <a:lstStyle/>
          <a:p>
            <a:pPr indent="0" marL="0">
              <a:lnSpc>
                <a:spcPct val="95000"/>
              </a:lnSpc>
              <a:buNone/>
            </a:pPr>
            <a:r>
              <a:rPr lang="en-US" sz="1100" b="1" dirty="0">
                <a:solidFill>
                  <a:srgbClr val="27313F"/>
                </a:solidFill>
                <a:latin typeface="Calibri" pitchFamily="34" charset="0"/>
                <a:ea typeface="Calibri" pitchFamily="34" charset="-122"/>
                <a:cs typeface="Calibri" pitchFamily="34" charset="-120"/>
              </a:rPr>
              <a:t>always sent to a person</a:t>
            </a:r>
            <a:endParaRPr lang="en-US" sz="1100" dirty="0"/>
          </a:p>
        </p:txBody>
      </p:sp>
      <p:sp>
        <p:nvSpPr>
          <p:cNvPr id="54" name="Shape 52"/>
          <p:cNvSpPr/>
          <p:nvPr/>
        </p:nvSpPr>
        <p:spPr>
          <a:xfrm>
            <a:off x="8330184" y="4599432"/>
            <a:ext cx="118872" cy="118872"/>
          </a:xfrm>
          <a:prstGeom prst="ellipse">
            <a:avLst/>
          </a:prstGeom>
          <a:solidFill>
            <a:srgbClr val="13B5A6"/>
          </a:solidFill>
          <a:ln/>
        </p:spPr>
      </p:sp>
      <p:sp>
        <p:nvSpPr>
          <p:cNvPr id="55" name="Text 53"/>
          <p:cNvSpPr/>
          <p:nvPr/>
        </p:nvSpPr>
        <p:spPr>
          <a:xfrm>
            <a:off x="8558784" y="4526280"/>
            <a:ext cx="2990088" cy="365760"/>
          </a:xfrm>
          <a:prstGeom prst="rect">
            <a:avLst/>
          </a:prstGeom>
          <a:noFill/>
          <a:ln/>
        </p:spPr>
        <p:txBody>
          <a:bodyPr wrap="square" lIns="0" tIns="0" rIns="0" bIns="0" rtlCol="0" anchor="t"/>
          <a:lstStyle/>
          <a:p>
            <a:pPr indent="0" marL="0">
              <a:lnSpc>
                <a:spcPct val="95000"/>
              </a:lnSpc>
              <a:buNone/>
            </a:pPr>
            <a:r>
              <a:rPr lang="en-US" sz="1100" dirty="0">
                <a:solidFill>
                  <a:srgbClr val="6B7A8D"/>
                </a:solidFill>
                <a:latin typeface="Calibri" pitchFamily="34" charset="0"/>
                <a:ea typeface="Calibri" pitchFamily="34" charset="-122"/>
                <a:cs typeface="Calibri" pitchFamily="34" charset="-120"/>
              </a:rPr>
              <a:t>no matter how confident</a:t>
            </a:r>
            <a:endParaRPr lang="en-US" sz="1100" dirty="0"/>
          </a:p>
        </p:txBody>
      </p:sp>
      <p:sp>
        <p:nvSpPr>
          <p:cNvPr id="56" name="Shape 54"/>
          <p:cNvSpPr/>
          <p:nvPr/>
        </p:nvSpPr>
        <p:spPr>
          <a:xfrm>
            <a:off x="8284464" y="5029200"/>
            <a:ext cx="3264408" cy="18288"/>
          </a:xfrm>
          <a:prstGeom prst="rect">
            <a:avLst/>
          </a:prstGeom>
          <a:solidFill>
            <a:srgbClr val="D8E1EC"/>
          </a:solidFill>
          <a:ln/>
        </p:spPr>
      </p:sp>
      <p:sp>
        <p:nvSpPr>
          <p:cNvPr id="57" name="Text 55"/>
          <p:cNvSpPr/>
          <p:nvPr/>
        </p:nvSpPr>
        <p:spPr>
          <a:xfrm>
            <a:off x="8302752" y="5120640"/>
            <a:ext cx="3246120" cy="1005840"/>
          </a:xfrm>
          <a:prstGeom prst="rect">
            <a:avLst/>
          </a:prstGeom>
          <a:noFill/>
          <a:ln/>
        </p:spPr>
        <p:txBody>
          <a:bodyPr wrap="square" lIns="0" tIns="0" rIns="0" bIns="0" rtlCol="0" anchor="t"/>
          <a:lstStyle/>
          <a:p>
            <a:pPr indent="0" marL="0">
              <a:lnSpc>
                <a:spcPct val="100000"/>
              </a:lnSpc>
              <a:buNone/>
            </a:pPr>
            <a:r>
              <a:rPr lang="en-US" sz="1050" i="1" dirty="0">
                <a:solidFill>
                  <a:srgbClr val="0E8C81"/>
                </a:solidFill>
                <a:latin typeface="Calibri" pitchFamily="34" charset="0"/>
                <a:ea typeface="Calibri" pitchFamily="34" charset="-122"/>
                <a:cs typeface="Calibri" pitchFamily="34" charset="-120"/>
              </a:rPr>
              <a:t>A ceiling on what can ever bill on its own — the safety net your leadership asked for.</a:t>
            </a:r>
            <a:endParaRPr lang="en-US" sz="1050" dirty="0"/>
          </a:p>
        </p:txBody>
      </p:sp>
      <p:sp>
        <p:nvSpPr>
          <p:cNvPr id="58" name="Shape 56"/>
          <p:cNvSpPr/>
          <p:nvPr/>
        </p:nvSpPr>
        <p:spPr>
          <a:xfrm>
            <a:off x="0" y="6565392"/>
            <a:ext cx="12188952" cy="292608"/>
          </a:xfrm>
          <a:prstGeom prst="rect">
            <a:avLst/>
          </a:prstGeom>
          <a:solidFill>
            <a:srgbClr val="0E1B33"/>
          </a:solidFill>
          <a:ln/>
        </p:spPr>
      </p:sp>
      <p:sp>
        <p:nvSpPr>
          <p:cNvPr id="59" name="Text 57"/>
          <p:cNvSpPr/>
          <p:nvPr/>
        </p:nvSpPr>
        <p:spPr>
          <a:xfrm>
            <a:off x="457200" y="6565392"/>
            <a:ext cx="5486400" cy="292608"/>
          </a:xfrm>
          <a:prstGeom prst="rect">
            <a:avLst/>
          </a:prstGeom>
          <a:noFill/>
          <a:ln/>
        </p:spPr>
        <p:txBody>
          <a:bodyPr wrap="square" lIns="0" tIns="0" rIns="0" bIns="0" rtlCol="0" anchor="ctr"/>
          <a:lstStyle/>
          <a:p>
            <a:pPr indent="0" marL="0">
              <a:buNone/>
            </a:pPr>
            <a:r>
              <a:rPr lang="en-US" sz="850" dirty="0">
                <a:solidFill>
                  <a:srgbClr val="9FB0C7"/>
                </a:solidFill>
                <a:latin typeface="Calibri" pitchFamily="34" charset="0"/>
                <a:ea typeface="Calibri" pitchFamily="34" charset="-122"/>
                <a:cs typeface="Calibri" pitchFamily="34" charset="-120"/>
              </a:rPr>
              <a:t>ACE · Autonomous Coding Engine</a:t>
            </a:r>
            <a:endParaRPr lang="en-US" sz="850" dirty="0"/>
          </a:p>
        </p:txBody>
      </p:sp>
      <p:sp>
        <p:nvSpPr>
          <p:cNvPr id="60" name="Text 58"/>
          <p:cNvSpPr/>
          <p:nvPr/>
        </p:nvSpPr>
        <p:spPr>
          <a:xfrm>
            <a:off x="6245352" y="6565392"/>
            <a:ext cx="5486400" cy="292608"/>
          </a:xfrm>
          <a:prstGeom prst="rect">
            <a:avLst/>
          </a:prstGeom>
          <a:noFill/>
          <a:ln/>
        </p:spPr>
        <p:txBody>
          <a:bodyPr wrap="square" lIns="0" tIns="0" rIns="0" bIns="0" rtlCol="0" anchor="ctr"/>
          <a:lstStyle/>
          <a:p>
            <a:pPr algn="r" indent="0" marL="0">
              <a:buNone/>
            </a:pPr>
            <a:r>
              <a:rPr lang="en-US" sz="850" dirty="0">
                <a:solidFill>
                  <a:srgbClr val="9FB0C7"/>
                </a:solidFill>
                <a:latin typeface="Calibri" pitchFamily="34" charset="0"/>
                <a:ea typeface="Calibri" pitchFamily="34" charset="-122"/>
                <a:cs typeface="Calibri" pitchFamily="34" charset="-120"/>
              </a:rPr>
              <a:t>Nous Infosystems  ·  for Vee Healthtek  ·  Confidential</a:t>
            </a:r>
            <a:endParaRPr lang="en-US" sz="850" dirty="0"/>
          </a:p>
        </p:txBody>
      </p:sp>
      <p:sp>
        <p:nvSpPr>
          <p:cNvPr id="61" name="Text 59"/>
          <p:cNvSpPr/>
          <p:nvPr/>
        </p:nvSpPr>
        <p:spPr>
          <a:xfrm>
            <a:off x="11686032" y="6565392"/>
            <a:ext cx="365760" cy="292608"/>
          </a:xfrm>
          <a:prstGeom prst="rect">
            <a:avLst/>
          </a:prstGeom>
          <a:noFill/>
          <a:ln/>
        </p:spPr>
        <p:txBody>
          <a:bodyPr wrap="square" lIns="0" tIns="0" rIns="0" bIns="0" rtlCol="0" anchor="ctr"/>
          <a:lstStyle/>
          <a:p>
            <a:pPr algn="r" indent="0" marL="0">
              <a:buNone/>
            </a:pPr>
            <a:r>
              <a:rPr lang="en-US" sz="850" b="1" dirty="0">
                <a:solidFill>
                  <a:srgbClr val="13B5A6"/>
                </a:solidFill>
                <a:latin typeface="Calibri" pitchFamily="34" charset="0"/>
                <a:ea typeface="Calibri" pitchFamily="34" charset="-122"/>
                <a:cs typeface="Calibri" pitchFamily="34" charset="-120"/>
              </a:rPr>
              <a:t>10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8FC"/>
        </a:solidFill>
      </p:bgPr>
    </p:bg>
    <p:spTree>
      <p:nvGrpSpPr>
        <p:cNvPr id="1" name=""/>
        <p:cNvGrpSpPr/>
        <p:nvPr/>
      </p:nvGrpSpPr>
      <p:grpSpPr>
        <a:xfrm>
          <a:off x="0" y="0"/>
          <a:ext cx="0" cy="0"/>
          <a:chOff x="0" y="0"/>
          <a:chExt cx="0" cy="0"/>
        </a:xfrm>
      </p:grpSpPr>
      <p:sp>
        <p:nvSpPr>
          <p:cNvPr id="2" name="Shape 0"/>
          <p:cNvSpPr/>
          <p:nvPr/>
        </p:nvSpPr>
        <p:spPr>
          <a:xfrm>
            <a:off x="0" y="0"/>
            <a:ext cx="12188952" cy="1078992"/>
          </a:xfrm>
          <a:prstGeom prst="rect">
            <a:avLst/>
          </a:prstGeom>
          <a:solidFill>
            <a:srgbClr val="FFFFFF"/>
          </a:solidFill>
          <a:ln/>
        </p:spPr>
      </p:sp>
      <p:sp>
        <p:nvSpPr>
          <p:cNvPr id="3" name="Shape 1"/>
          <p:cNvSpPr/>
          <p:nvPr/>
        </p:nvSpPr>
        <p:spPr>
          <a:xfrm>
            <a:off x="0" y="1078992"/>
            <a:ext cx="12188952" cy="27432"/>
          </a:xfrm>
          <a:prstGeom prst="rect">
            <a:avLst/>
          </a:prstGeom>
          <a:solidFill>
            <a:srgbClr val="D8E1EC"/>
          </a:solidFill>
          <a:ln/>
        </p:spPr>
      </p:sp>
      <p:sp>
        <p:nvSpPr>
          <p:cNvPr id="4" name="Shape 2"/>
          <p:cNvSpPr/>
          <p:nvPr/>
        </p:nvSpPr>
        <p:spPr>
          <a:xfrm>
            <a:off x="457200" y="310896"/>
            <a:ext cx="109728" cy="512064"/>
          </a:xfrm>
          <a:prstGeom prst="rect">
            <a:avLst/>
          </a:prstGeom>
          <a:solidFill>
            <a:srgbClr val="13B5A6"/>
          </a:solidFill>
          <a:ln/>
        </p:spPr>
      </p:sp>
      <p:sp>
        <p:nvSpPr>
          <p:cNvPr id="5" name="Text 3"/>
          <p:cNvSpPr/>
          <p:nvPr/>
        </p:nvSpPr>
        <p:spPr>
          <a:xfrm>
            <a:off x="713232" y="274320"/>
            <a:ext cx="10058400" cy="237744"/>
          </a:xfrm>
          <a:prstGeom prst="rect">
            <a:avLst/>
          </a:prstGeom>
          <a:noFill/>
          <a:ln/>
        </p:spPr>
        <p:txBody>
          <a:bodyPr wrap="square" lIns="0" tIns="0" rIns="0" bIns="0" rtlCol="0" anchor="ctr"/>
          <a:lstStyle/>
          <a:p>
            <a:pPr indent="0" marL="0">
              <a:buNone/>
            </a:pPr>
            <a:r>
              <a:rPr lang="en-US" sz="1100" b="1" spc="200" kern="0" dirty="0">
                <a:solidFill>
                  <a:srgbClr val="13B5A6"/>
                </a:solidFill>
                <a:latin typeface="Calibri" pitchFamily="34" charset="0"/>
                <a:ea typeface="Calibri" pitchFamily="34" charset="-122"/>
                <a:cs typeface="Calibri" pitchFamily="34" charset="-120"/>
              </a:rPr>
              <a:t>BEYOND PRO-FEE</a:t>
            </a:r>
            <a:endParaRPr lang="en-US" sz="1100" dirty="0"/>
          </a:p>
        </p:txBody>
      </p:sp>
      <p:sp>
        <p:nvSpPr>
          <p:cNvPr id="6" name="Text 4"/>
          <p:cNvSpPr/>
          <p:nvPr/>
        </p:nvSpPr>
        <p:spPr>
          <a:xfrm>
            <a:off x="713232" y="475488"/>
            <a:ext cx="11155680" cy="457200"/>
          </a:xfrm>
          <a:prstGeom prst="rect">
            <a:avLst/>
          </a:prstGeom>
          <a:noFill/>
          <a:ln/>
        </p:spPr>
        <p:txBody>
          <a:bodyPr wrap="square" lIns="0" tIns="0" rIns="0" bIns="0" rtlCol="0" anchor="ctr"/>
          <a:lstStyle/>
          <a:p>
            <a:pPr indent="0" marL="0">
              <a:buNone/>
            </a:pPr>
            <a:r>
              <a:rPr lang="en-US" sz="2300" b="1" dirty="0">
                <a:solidFill>
                  <a:srgbClr val="1B2A4A"/>
                </a:solidFill>
                <a:latin typeface="Georgia" pitchFamily="34" charset="0"/>
                <a:ea typeface="Georgia" pitchFamily="34" charset="-122"/>
                <a:cs typeface="Georgia" pitchFamily="34" charset="-120"/>
              </a:rPr>
              <a:t>Five payment models, one engine — each deterministic and audited</a:t>
            </a:r>
            <a:endParaRPr lang="en-US" sz="2300" dirty="0"/>
          </a:p>
        </p:txBody>
      </p:sp>
      <p:sp>
        <p:nvSpPr>
          <p:cNvPr id="7" name="Text 5"/>
          <p:cNvSpPr/>
          <p:nvPr/>
        </p:nvSpPr>
        <p:spPr>
          <a:xfrm>
            <a:off x="457200" y="1188720"/>
            <a:ext cx="11274552" cy="411480"/>
          </a:xfrm>
          <a:prstGeom prst="rect">
            <a:avLst/>
          </a:prstGeom>
          <a:noFill/>
          <a:ln/>
        </p:spPr>
        <p:txBody>
          <a:bodyPr wrap="square" lIns="0" tIns="0" rIns="0" bIns="0" rtlCol="0" anchor="ctr"/>
          <a:lstStyle/>
          <a:p>
            <a:pPr indent="0" marL="0">
              <a:lnSpc>
                <a:spcPct val="100000"/>
              </a:lnSpc>
              <a:buNone/>
            </a:pPr>
            <a:r>
              <a:rPr lang="en-US" sz="1150" dirty="0">
                <a:solidFill>
                  <a:srgbClr val="6B7A8D"/>
                </a:solidFill>
                <a:latin typeface="Calibri" pitchFamily="34" charset="0"/>
                <a:ea typeface="Calibri" pitchFamily="34" charset="-122"/>
                <a:cs typeface="Calibri" pitchFamily="34" charset="-120"/>
              </a:rPr>
              <a:t>Coding isn't one game. The same agentic spine now prices the five ways American healthcare actually pays — each with its own rule engine, a result card on the chart, and a step-by-step trace.</a:t>
            </a:r>
            <a:endParaRPr lang="en-US" sz="1150" dirty="0"/>
          </a:p>
        </p:txBody>
      </p:sp>
      <p:sp>
        <p:nvSpPr>
          <p:cNvPr id="8" name="Shape 6"/>
          <p:cNvSpPr/>
          <p:nvPr/>
        </p:nvSpPr>
        <p:spPr>
          <a:xfrm>
            <a:off x="457200" y="1783080"/>
            <a:ext cx="2194560" cy="3017520"/>
          </a:xfrm>
          <a:prstGeom prst="roundRect">
            <a:avLst>
              <a:gd name="adj" fmla="val 2917"/>
            </a:avLst>
          </a:prstGeom>
          <a:solidFill>
            <a:srgbClr val="FFFFFF"/>
          </a:solidFill>
          <a:ln w="12700">
            <a:solidFill>
              <a:srgbClr val="D8E1EC"/>
            </a:solidFill>
            <a:prstDash val="solid"/>
          </a:ln>
          <a:effectLst>
            <a:outerShdw sx="100000" sy="100000" kx="0" ky="0" algn="bl" rotWithShape="0" blurRad="88900" dist="38100" dir="8100000">
              <a:srgbClr val="1B2A4A">
                <a:alpha val="12000"/>
              </a:srgbClr>
            </a:outerShdw>
          </a:effectLst>
        </p:spPr>
      </p:sp>
      <p:sp>
        <p:nvSpPr>
          <p:cNvPr id="9" name="Shape 7"/>
          <p:cNvSpPr/>
          <p:nvPr/>
        </p:nvSpPr>
        <p:spPr>
          <a:xfrm>
            <a:off x="457200" y="1783080"/>
            <a:ext cx="2194560" cy="109728"/>
          </a:xfrm>
          <a:prstGeom prst="rect">
            <a:avLst/>
          </a:prstGeom>
          <a:solidFill>
            <a:srgbClr val="0E8C81"/>
          </a:solidFill>
          <a:ln/>
        </p:spPr>
      </p:sp>
      <p:sp>
        <p:nvSpPr>
          <p:cNvPr id="10" name="Text 8"/>
          <p:cNvSpPr/>
          <p:nvPr/>
        </p:nvSpPr>
        <p:spPr>
          <a:xfrm>
            <a:off x="621792" y="2057400"/>
            <a:ext cx="640080" cy="502920"/>
          </a:xfrm>
          <a:prstGeom prst="rect">
            <a:avLst/>
          </a:prstGeom>
          <a:noFill/>
          <a:ln/>
        </p:spPr>
        <p:txBody>
          <a:bodyPr wrap="square" lIns="0" tIns="0" rIns="0" bIns="0" rtlCol="0" anchor="ctr"/>
          <a:lstStyle/>
          <a:p>
            <a:pPr indent="0" marL="0">
              <a:buNone/>
            </a:pPr>
            <a:r>
              <a:rPr lang="en-US" sz="2100" b="1" dirty="0">
                <a:solidFill>
                  <a:srgbClr val="0E8C81"/>
                </a:solidFill>
                <a:latin typeface="Georgia" pitchFamily="34" charset="0"/>
                <a:ea typeface="Georgia" pitchFamily="34" charset="-122"/>
                <a:cs typeface="Georgia" pitchFamily="34" charset="-120"/>
              </a:rPr>
              <a:t>1</a:t>
            </a:r>
            <a:endParaRPr lang="en-US" sz="2100" dirty="0"/>
          </a:p>
        </p:txBody>
      </p:sp>
      <p:sp>
        <p:nvSpPr>
          <p:cNvPr id="11" name="Text 9"/>
          <p:cNvSpPr/>
          <p:nvPr/>
        </p:nvSpPr>
        <p:spPr>
          <a:xfrm>
            <a:off x="621792" y="2560320"/>
            <a:ext cx="1865376" cy="594360"/>
          </a:xfrm>
          <a:prstGeom prst="rect">
            <a:avLst/>
          </a:prstGeom>
          <a:noFill/>
          <a:ln/>
        </p:spPr>
        <p:txBody>
          <a:bodyPr wrap="square" lIns="0" tIns="0" rIns="0" bIns="0" rtlCol="0" anchor="ctr"/>
          <a:lstStyle/>
          <a:p>
            <a:pPr indent="0" marL="0">
              <a:lnSpc>
                <a:spcPct val="95000"/>
              </a:lnSpc>
              <a:buNone/>
            </a:pPr>
            <a:r>
              <a:rPr lang="en-US" sz="1250" b="1" dirty="0">
                <a:solidFill>
                  <a:srgbClr val="1B2A4A"/>
                </a:solidFill>
                <a:latin typeface="Calibri" pitchFamily="34" charset="0"/>
                <a:ea typeface="Calibri" pitchFamily="34" charset="-122"/>
                <a:cs typeface="Calibri" pitchFamily="34" charset="-120"/>
              </a:rPr>
              <a:t>Outpatient pro-fee</a:t>
            </a:r>
            <a:endParaRPr lang="en-US" sz="1250" dirty="0"/>
          </a:p>
        </p:txBody>
      </p:sp>
      <p:sp>
        <p:nvSpPr>
          <p:cNvPr id="12" name="Text 10"/>
          <p:cNvSpPr/>
          <p:nvPr/>
        </p:nvSpPr>
        <p:spPr>
          <a:xfrm>
            <a:off x="621792" y="3154680"/>
            <a:ext cx="1865376" cy="1554480"/>
          </a:xfrm>
          <a:prstGeom prst="rect">
            <a:avLst/>
          </a:prstGeom>
          <a:noFill/>
          <a:ln/>
        </p:spPr>
        <p:txBody>
          <a:bodyPr wrap="square" lIns="0" tIns="0" rIns="0" bIns="0" rtlCol="0" anchor="t"/>
          <a:lstStyle/>
          <a:p>
            <a:pPr indent="0" marL="0">
              <a:lnSpc>
                <a:spcPct val="100000"/>
              </a:lnSpc>
              <a:buNone/>
            </a:pPr>
            <a:r>
              <a:rPr lang="en-US" sz="980" dirty="0">
                <a:solidFill>
                  <a:srgbClr val="6B7A8D"/>
                </a:solidFill>
                <a:latin typeface="Calibri" pitchFamily="34" charset="0"/>
                <a:ea typeface="Calibri" pitchFamily="34" charset="-122"/>
                <a:cs typeface="Calibri" pitchFamily="34" charset="-120"/>
              </a:rPr>
              <a:t>Fourteen specialties — ICD-10 + CPT/HCPCS line-items with the NCCI, MUE, modifier and necessity checks.</a:t>
            </a:r>
            <a:endParaRPr lang="en-US" sz="980" dirty="0"/>
          </a:p>
        </p:txBody>
      </p:sp>
      <p:sp>
        <p:nvSpPr>
          <p:cNvPr id="13" name="Shape 11"/>
          <p:cNvSpPr/>
          <p:nvPr/>
        </p:nvSpPr>
        <p:spPr>
          <a:xfrm>
            <a:off x="2729484" y="1783080"/>
            <a:ext cx="2194560" cy="3017520"/>
          </a:xfrm>
          <a:prstGeom prst="roundRect">
            <a:avLst>
              <a:gd name="adj" fmla="val 2917"/>
            </a:avLst>
          </a:prstGeom>
          <a:solidFill>
            <a:srgbClr val="FFFFFF"/>
          </a:solidFill>
          <a:ln w="12700">
            <a:solidFill>
              <a:srgbClr val="D8E1EC"/>
            </a:solidFill>
            <a:prstDash val="solid"/>
          </a:ln>
          <a:effectLst>
            <a:outerShdw sx="100000" sy="100000" kx="0" ky="0" algn="bl" rotWithShape="0" blurRad="88900" dist="38100" dir="8100000">
              <a:srgbClr val="1B2A4A">
                <a:alpha val="12000"/>
              </a:srgbClr>
            </a:outerShdw>
          </a:effectLst>
        </p:spPr>
      </p:sp>
      <p:sp>
        <p:nvSpPr>
          <p:cNvPr id="14" name="Shape 12"/>
          <p:cNvSpPr/>
          <p:nvPr/>
        </p:nvSpPr>
        <p:spPr>
          <a:xfrm>
            <a:off x="2729484" y="1783080"/>
            <a:ext cx="2194560" cy="109728"/>
          </a:xfrm>
          <a:prstGeom prst="rect">
            <a:avLst/>
          </a:prstGeom>
          <a:solidFill>
            <a:srgbClr val="1B2A4A"/>
          </a:solidFill>
          <a:ln/>
        </p:spPr>
      </p:sp>
      <p:sp>
        <p:nvSpPr>
          <p:cNvPr id="15" name="Text 13"/>
          <p:cNvSpPr/>
          <p:nvPr/>
        </p:nvSpPr>
        <p:spPr>
          <a:xfrm>
            <a:off x="2894076" y="2057400"/>
            <a:ext cx="640080" cy="502920"/>
          </a:xfrm>
          <a:prstGeom prst="rect">
            <a:avLst/>
          </a:prstGeom>
          <a:noFill/>
          <a:ln/>
        </p:spPr>
        <p:txBody>
          <a:bodyPr wrap="square" lIns="0" tIns="0" rIns="0" bIns="0" rtlCol="0" anchor="ctr"/>
          <a:lstStyle/>
          <a:p>
            <a:pPr indent="0" marL="0">
              <a:buNone/>
            </a:pPr>
            <a:r>
              <a:rPr lang="en-US" sz="2100" b="1" dirty="0">
                <a:solidFill>
                  <a:srgbClr val="1B2A4A"/>
                </a:solidFill>
                <a:latin typeface="Georgia" pitchFamily="34" charset="0"/>
                <a:ea typeface="Georgia" pitchFamily="34" charset="-122"/>
                <a:cs typeface="Georgia" pitchFamily="34" charset="-120"/>
              </a:rPr>
              <a:t>2</a:t>
            </a:r>
            <a:endParaRPr lang="en-US" sz="2100" dirty="0"/>
          </a:p>
        </p:txBody>
      </p:sp>
      <p:sp>
        <p:nvSpPr>
          <p:cNvPr id="16" name="Text 14"/>
          <p:cNvSpPr/>
          <p:nvPr/>
        </p:nvSpPr>
        <p:spPr>
          <a:xfrm>
            <a:off x="2894076" y="2560320"/>
            <a:ext cx="1865376" cy="594360"/>
          </a:xfrm>
          <a:prstGeom prst="rect">
            <a:avLst/>
          </a:prstGeom>
          <a:noFill/>
          <a:ln/>
        </p:spPr>
        <p:txBody>
          <a:bodyPr wrap="square" lIns="0" tIns="0" rIns="0" bIns="0" rtlCol="0" anchor="ctr"/>
          <a:lstStyle/>
          <a:p>
            <a:pPr indent="0" marL="0">
              <a:lnSpc>
                <a:spcPct val="95000"/>
              </a:lnSpc>
              <a:buNone/>
            </a:pPr>
            <a:r>
              <a:rPr lang="en-US" sz="1250" b="1" dirty="0">
                <a:solidFill>
                  <a:srgbClr val="1B2A4A"/>
                </a:solidFill>
                <a:latin typeface="Calibri" pitchFamily="34" charset="0"/>
                <a:ea typeface="Calibri" pitchFamily="34" charset="-122"/>
                <a:cs typeface="Calibri" pitchFamily="34" charset="-120"/>
              </a:rPr>
              <a:t>Inpatient MS-DRG</a:t>
            </a:r>
            <a:endParaRPr lang="en-US" sz="1250" dirty="0"/>
          </a:p>
        </p:txBody>
      </p:sp>
      <p:sp>
        <p:nvSpPr>
          <p:cNvPr id="17" name="Text 15"/>
          <p:cNvSpPr/>
          <p:nvPr/>
        </p:nvSpPr>
        <p:spPr>
          <a:xfrm>
            <a:off x="2894076" y="3154680"/>
            <a:ext cx="1865376" cy="1554480"/>
          </a:xfrm>
          <a:prstGeom prst="rect">
            <a:avLst/>
          </a:prstGeom>
          <a:noFill/>
          <a:ln/>
        </p:spPr>
        <p:txBody>
          <a:bodyPr wrap="square" lIns="0" tIns="0" rIns="0" bIns="0" rtlCol="0" anchor="t"/>
          <a:lstStyle/>
          <a:p>
            <a:pPr indent="0" marL="0">
              <a:lnSpc>
                <a:spcPct val="100000"/>
              </a:lnSpc>
              <a:buNone/>
            </a:pPr>
            <a:r>
              <a:rPr lang="en-US" sz="980" dirty="0">
                <a:solidFill>
                  <a:srgbClr val="6B7A8D"/>
                </a:solidFill>
                <a:latin typeface="Calibri" pitchFamily="34" charset="0"/>
                <a:ea typeface="Calibri" pitchFamily="34" charset="-122"/>
                <a:cs typeface="Calibri" pitchFamily="34" charset="-120"/>
              </a:rPr>
              <a:t>ICD-10-PCS procedures and a real grouper: principal dx → MDC → surgical or medical → CC/MCC severity → DRG and weight.</a:t>
            </a:r>
            <a:endParaRPr lang="en-US" sz="980" dirty="0"/>
          </a:p>
        </p:txBody>
      </p:sp>
      <p:sp>
        <p:nvSpPr>
          <p:cNvPr id="18" name="Shape 16"/>
          <p:cNvSpPr/>
          <p:nvPr/>
        </p:nvSpPr>
        <p:spPr>
          <a:xfrm>
            <a:off x="5001768" y="1783080"/>
            <a:ext cx="2194560" cy="3017520"/>
          </a:xfrm>
          <a:prstGeom prst="roundRect">
            <a:avLst>
              <a:gd name="adj" fmla="val 2917"/>
            </a:avLst>
          </a:prstGeom>
          <a:solidFill>
            <a:srgbClr val="FFFFFF"/>
          </a:solidFill>
          <a:ln w="12700">
            <a:solidFill>
              <a:srgbClr val="D8E1EC"/>
            </a:solidFill>
            <a:prstDash val="solid"/>
          </a:ln>
          <a:effectLst>
            <a:outerShdw sx="100000" sy="100000" kx="0" ky="0" algn="bl" rotWithShape="0" blurRad="88900" dist="38100" dir="8100000">
              <a:srgbClr val="1B2A4A">
                <a:alpha val="12000"/>
              </a:srgbClr>
            </a:outerShdw>
          </a:effectLst>
        </p:spPr>
      </p:sp>
      <p:sp>
        <p:nvSpPr>
          <p:cNvPr id="19" name="Shape 17"/>
          <p:cNvSpPr/>
          <p:nvPr/>
        </p:nvSpPr>
        <p:spPr>
          <a:xfrm>
            <a:off x="5001768" y="1783080"/>
            <a:ext cx="2194560" cy="109728"/>
          </a:xfrm>
          <a:prstGeom prst="rect">
            <a:avLst/>
          </a:prstGeom>
          <a:solidFill>
            <a:srgbClr val="13B5A6"/>
          </a:solidFill>
          <a:ln/>
        </p:spPr>
      </p:sp>
      <p:sp>
        <p:nvSpPr>
          <p:cNvPr id="20" name="Text 18"/>
          <p:cNvSpPr/>
          <p:nvPr/>
        </p:nvSpPr>
        <p:spPr>
          <a:xfrm>
            <a:off x="5166360" y="2057400"/>
            <a:ext cx="640080" cy="502920"/>
          </a:xfrm>
          <a:prstGeom prst="rect">
            <a:avLst/>
          </a:prstGeom>
          <a:noFill/>
          <a:ln/>
        </p:spPr>
        <p:txBody>
          <a:bodyPr wrap="square" lIns="0" tIns="0" rIns="0" bIns="0" rtlCol="0" anchor="ctr"/>
          <a:lstStyle/>
          <a:p>
            <a:pPr indent="0" marL="0">
              <a:buNone/>
            </a:pPr>
            <a:r>
              <a:rPr lang="en-US" sz="2100" b="1" dirty="0">
                <a:solidFill>
                  <a:srgbClr val="13B5A6"/>
                </a:solidFill>
                <a:latin typeface="Georgia" pitchFamily="34" charset="0"/>
                <a:ea typeface="Georgia" pitchFamily="34" charset="-122"/>
                <a:cs typeface="Georgia" pitchFamily="34" charset="-120"/>
              </a:rPr>
              <a:t>3</a:t>
            </a:r>
            <a:endParaRPr lang="en-US" sz="2100" dirty="0"/>
          </a:p>
        </p:txBody>
      </p:sp>
      <p:sp>
        <p:nvSpPr>
          <p:cNvPr id="21" name="Text 19"/>
          <p:cNvSpPr/>
          <p:nvPr/>
        </p:nvSpPr>
        <p:spPr>
          <a:xfrm>
            <a:off x="5166360" y="2560320"/>
            <a:ext cx="1865376" cy="594360"/>
          </a:xfrm>
          <a:prstGeom prst="rect">
            <a:avLst/>
          </a:prstGeom>
          <a:noFill/>
          <a:ln/>
        </p:spPr>
        <p:txBody>
          <a:bodyPr wrap="square" lIns="0" tIns="0" rIns="0" bIns="0" rtlCol="0" anchor="ctr"/>
          <a:lstStyle/>
          <a:p>
            <a:pPr indent="0" marL="0">
              <a:lnSpc>
                <a:spcPct val="95000"/>
              </a:lnSpc>
              <a:buNone/>
            </a:pPr>
            <a:r>
              <a:rPr lang="en-US" sz="1250" b="1" dirty="0">
                <a:solidFill>
                  <a:srgbClr val="1B2A4A"/>
                </a:solidFill>
                <a:latin typeface="Calibri" pitchFamily="34" charset="0"/>
                <a:ea typeface="Calibri" pitchFamily="34" charset="-122"/>
                <a:cs typeface="Calibri" pitchFamily="34" charset="-120"/>
              </a:rPr>
              <a:t>HCC risk adjustment</a:t>
            </a:r>
            <a:endParaRPr lang="en-US" sz="1250" dirty="0"/>
          </a:p>
        </p:txBody>
      </p:sp>
      <p:sp>
        <p:nvSpPr>
          <p:cNvPr id="22" name="Text 20"/>
          <p:cNvSpPr/>
          <p:nvPr/>
        </p:nvSpPr>
        <p:spPr>
          <a:xfrm>
            <a:off x="5166360" y="3154680"/>
            <a:ext cx="1865376" cy="1554480"/>
          </a:xfrm>
          <a:prstGeom prst="rect">
            <a:avLst/>
          </a:prstGeom>
          <a:noFill/>
          <a:ln/>
        </p:spPr>
        <p:txBody>
          <a:bodyPr wrap="square" lIns="0" tIns="0" rIns="0" bIns="0" rtlCol="0" anchor="t"/>
          <a:lstStyle/>
          <a:p>
            <a:pPr indent="0" marL="0">
              <a:lnSpc>
                <a:spcPct val="100000"/>
              </a:lnSpc>
              <a:buNone/>
            </a:pPr>
            <a:r>
              <a:rPr lang="en-US" sz="980" dirty="0">
                <a:solidFill>
                  <a:srgbClr val="6B7A8D"/>
                </a:solidFill>
                <a:latin typeface="Calibri" pitchFamily="34" charset="0"/>
                <a:ea typeface="Calibri" pitchFamily="34" charset="-122"/>
                <a:cs typeface="Calibri" pitchFamily="34" charset="-120"/>
              </a:rPr>
              <a:t>Diagnoses map to HCCs, hierarchies resolve, RAF = demographics + coefficients. A natural extension of RevCap.</a:t>
            </a:r>
            <a:endParaRPr lang="en-US" sz="980" dirty="0"/>
          </a:p>
        </p:txBody>
      </p:sp>
      <p:sp>
        <p:nvSpPr>
          <p:cNvPr id="23" name="Shape 21"/>
          <p:cNvSpPr/>
          <p:nvPr/>
        </p:nvSpPr>
        <p:spPr>
          <a:xfrm>
            <a:off x="7274052" y="1783080"/>
            <a:ext cx="2194560" cy="3017520"/>
          </a:xfrm>
          <a:prstGeom prst="roundRect">
            <a:avLst>
              <a:gd name="adj" fmla="val 2917"/>
            </a:avLst>
          </a:prstGeom>
          <a:solidFill>
            <a:srgbClr val="FFFFFF"/>
          </a:solidFill>
          <a:ln w="12700">
            <a:solidFill>
              <a:srgbClr val="D8E1EC"/>
            </a:solidFill>
            <a:prstDash val="solid"/>
          </a:ln>
          <a:effectLst>
            <a:outerShdw sx="100000" sy="100000" kx="0" ky="0" algn="bl" rotWithShape="0" blurRad="88900" dist="38100" dir="8100000">
              <a:srgbClr val="1B2A4A">
                <a:alpha val="12000"/>
              </a:srgbClr>
            </a:outerShdw>
          </a:effectLst>
        </p:spPr>
      </p:sp>
      <p:sp>
        <p:nvSpPr>
          <p:cNvPr id="24" name="Shape 22"/>
          <p:cNvSpPr/>
          <p:nvPr/>
        </p:nvSpPr>
        <p:spPr>
          <a:xfrm>
            <a:off x="7274052" y="1783080"/>
            <a:ext cx="2194560" cy="109728"/>
          </a:xfrm>
          <a:prstGeom prst="rect">
            <a:avLst/>
          </a:prstGeom>
          <a:solidFill>
            <a:srgbClr val="24365C"/>
          </a:solidFill>
          <a:ln/>
        </p:spPr>
      </p:sp>
      <p:sp>
        <p:nvSpPr>
          <p:cNvPr id="25" name="Text 23"/>
          <p:cNvSpPr/>
          <p:nvPr/>
        </p:nvSpPr>
        <p:spPr>
          <a:xfrm>
            <a:off x="7438644" y="2057400"/>
            <a:ext cx="640080" cy="502920"/>
          </a:xfrm>
          <a:prstGeom prst="rect">
            <a:avLst/>
          </a:prstGeom>
          <a:noFill/>
          <a:ln/>
        </p:spPr>
        <p:txBody>
          <a:bodyPr wrap="square" lIns="0" tIns="0" rIns="0" bIns="0" rtlCol="0" anchor="ctr"/>
          <a:lstStyle/>
          <a:p>
            <a:pPr indent="0" marL="0">
              <a:buNone/>
            </a:pPr>
            <a:r>
              <a:rPr lang="en-US" sz="2100" b="1" dirty="0">
                <a:solidFill>
                  <a:srgbClr val="24365C"/>
                </a:solidFill>
                <a:latin typeface="Georgia" pitchFamily="34" charset="0"/>
                <a:ea typeface="Georgia" pitchFamily="34" charset="-122"/>
                <a:cs typeface="Georgia" pitchFamily="34" charset="-120"/>
              </a:rPr>
              <a:t>4</a:t>
            </a:r>
            <a:endParaRPr lang="en-US" sz="2100" dirty="0"/>
          </a:p>
        </p:txBody>
      </p:sp>
      <p:sp>
        <p:nvSpPr>
          <p:cNvPr id="26" name="Text 24"/>
          <p:cNvSpPr/>
          <p:nvPr/>
        </p:nvSpPr>
        <p:spPr>
          <a:xfrm>
            <a:off x="7438644" y="2560320"/>
            <a:ext cx="1865376" cy="594360"/>
          </a:xfrm>
          <a:prstGeom prst="rect">
            <a:avLst/>
          </a:prstGeom>
          <a:noFill/>
          <a:ln/>
        </p:spPr>
        <p:txBody>
          <a:bodyPr wrap="square" lIns="0" tIns="0" rIns="0" bIns="0" rtlCol="0" anchor="ctr"/>
          <a:lstStyle/>
          <a:p>
            <a:pPr indent="0" marL="0">
              <a:lnSpc>
                <a:spcPct val="95000"/>
              </a:lnSpc>
              <a:buNone/>
            </a:pPr>
            <a:r>
              <a:rPr lang="en-US" sz="1250" b="1" dirty="0">
                <a:solidFill>
                  <a:srgbClr val="1B2A4A"/>
                </a:solidFill>
                <a:latin typeface="Calibri" pitchFamily="34" charset="0"/>
                <a:ea typeface="Calibri" pitchFamily="34" charset="-122"/>
                <a:cs typeface="Calibri" pitchFamily="34" charset="-120"/>
              </a:rPr>
              <a:t>Anesthesia units</a:t>
            </a:r>
            <a:endParaRPr lang="en-US" sz="1250" dirty="0"/>
          </a:p>
        </p:txBody>
      </p:sp>
      <p:sp>
        <p:nvSpPr>
          <p:cNvPr id="27" name="Text 25"/>
          <p:cNvSpPr/>
          <p:nvPr/>
        </p:nvSpPr>
        <p:spPr>
          <a:xfrm>
            <a:off x="7438644" y="3154680"/>
            <a:ext cx="1865376" cy="1554480"/>
          </a:xfrm>
          <a:prstGeom prst="rect">
            <a:avLst/>
          </a:prstGeom>
          <a:noFill/>
          <a:ln/>
        </p:spPr>
        <p:txBody>
          <a:bodyPr wrap="square" lIns="0" tIns="0" rIns="0" bIns="0" rtlCol="0" anchor="t"/>
          <a:lstStyle/>
          <a:p>
            <a:pPr indent="0" marL="0">
              <a:lnSpc>
                <a:spcPct val="100000"/>
              </a:lnSpc>
              <a:buNone/>
            </a:pPr>
            <a:r>
              <a:rPr lang="en-US" sz="980" dirty="0">
                <a:solidFill>
                  <a:srgbClr val="6B7A8D"/>
                </a:solidFill>
                <a:latin typeface="Calibri" pitchFamily="34" charset="0"/>
                <a:ea typeface="Calibri" pitchFamily="34" charset="-122"/>
                <a:cs typeface="Calibri" pitchFamily="34" charset="-120"/>
              </a:rPr>
              <a:t>(Base + time + modifying units) × conversion factor — time read from the documented start and stop, never estimated.</a:t>
            </a:r>
            <a:endParaRPr lang="en-US" sz="980" dirty="0"/>
          </a:p>
        </p:txBody>
      </p:sp>
      <p:sp>
        <p:nvSpPr>
          <p:cNvPr id="28" name="Shape 26"/>
          <p:cNvSpPr/>
          <p:nvPr/>
        </p:nvSpPr>
        <p:spPr>
          <a:xfrm>
            <a:off x="9546336" y="1783080"/>
            <a:ext cx="2194560" cy="3017520"/>
          </a:xfrm>
          <a:prstGeom prst="roundRect">
            <a:avLst>
              <a:gd name="adj" fmla="val 2917"/>
            </a:avLst>
          </a:prstGeom>
          <a:solidFill>
            <a:srgbClr val="FFFFFF"/>
          </a:solidFill>
          <a:ln w="12700">
            <a:solidFill>
              <a:srgbClr val="D8E1EC"/>
            </a:solidFill>
            <a:prstDash val="solid"/>
          </a:ln>
          <a:effectLst>
            <a:outerShdw sx="100000" sy="100000" kx="0" ky="0" algn="bl" rotWithShape="0" blurRad="88900" dist="38100" dir="8100000">
              <a:srgbClr val="1B2A4A">
                <a:alpha val="12000"/>
              </a:srgbClr>
            </a:outerShdw>
          </a:effectLst>
        </p:spPr>
      </p:sp>
      <p:sp>
        <p:nvSpPr>
          <p:cNvPr id="29" name="Shape 27"/>
          <p:cNvSpPr/>
          <p:nvPr/>
        </p:nvSpPr>
        <p:spPr>
          <a:xfrm>
            <a:off x="9546336" y="1783080"/>
            <a:ext cx="2194560" cy="109728"/>
          </a:xfrm>
          <a:prstGeom prst="rect">
            <a:avLst/>
          </a:prstGeom>
          <a:solidFill>
            <a:srgbClr val="64748B"/>
          </a:solidFill>
          <a:ln/>
        </p:spPr>
      </p:sp>
      <p:sp>
        <p:nvSpPr>
          <p:cNvPr id="30" name="Text 28"/>
          <p:cNvSpPr/>
          <p:nvPr/>
        </p:nvSpPr>
        <p:spPr>
          <a:xfrm>
            <a:off x="9710928" y="2057400"/>
            <a:ext cx="640080" cy="502920"/>
          </a:xfrm>
          <a:prstGeom prst="rect">
            <a:avLst/>
          </a:prstGeom>
          <a:noFill/>
          <a:ln/>
        </p:spPr>
        <p:txBody>
          <a:bodyPr wrap="square" lIns="0" tIns="0" rIns="0" bIns="0" rtlCol="0" anchor="ctr"/>
          <a:lstStyle/>
          <a:p>
            <a:pPr indent="0" marL="0">
              <a:buNone/>
            </a:pPr>
            <a:r>
              <a:rPr lang="en-US" sz="2100" b="1" dirty="0">
                <a:solidFill>
                  <a:srgbClr val="64748B"/>
                </a:solidFill>
                <a:latin typeface="Georgia" pitchFamily="34" charset="0"/>
                <a:ea typeface="Georgia" pitchFamily="34" charset="-122"/>
                <a:cs typeface="Georgia" pitchFamily="34" charset="-120"/>
              </a:rPr>
              <a:t>5</a:t>
            </a:r>
            <a:endParaRPr lang="en-US" sz="2100" dirty="0"/>
          </a:p>
        </p:txBody>
      </p:sp>
      <p:sp>
        <p:nvSpPr>
          <p:cNvPr id="31" name="Text 29"/>
          <p:cNvSpPr/>
          <p:nvPr/>
        </p:nvSpPr>
        <p:spPr>
          <a:xfrm>
            <a:off x="9710928" y="2560320"/>
            <a:ext cx="1865376" cy="594360"/>
          </a:xfrm>
          <a:prstGeom prst="rect">
            <a:avLst/>
          </a:prstGeom>
          <a:noFill/>
          <a:ln/>
        </p:spPr>
        <p:txBody>
          <a:bodyPr wrap="square" lIns="0" tIns="0" rIns="0" bIns="0" rtlCol="0" anchor="ctr"/>
          <a:lstStyle/>
          <a:p>
            <a:pPr indent="0" marL="0">
              <a:lnSpc>
                <a:spcPct val="95000"/>
              </a:lnSpc>
              <a:buNone/>
            </a:pPr>
            <a:r>
              <a:rPr lang="en-US" sz="1250" b="1" dirty="0">
                <a:solidFill>
                  <a:srgbClr val="1B2A4A"/>
                </a:solidFill>
                <a:latin typeface="Calibri" pitchFamily="34" charset="0"/>
                <a:ea typeface="Calibri" pitchFamily="34" charset="-122"/>
                <a:cs typeface="Calibri" pitchFamily="34" charset="-120"/>
              </a:rPr>
              <a:t>Facility APC / OPPS</a:t>
            </a:r>
            <a:endParaRPr lang="en-US" sz="1250" dirty="0"/>
          </a:p>
        </p:txBody>
      </p:sp>
      <p:sp>
        <p:nvSpPr>
          <p:cNvPr id="32" name="Text 30"/>
          <p:cNvSpPr/>
          <p:nvPr/>
        </p:nvSpPr>
        <p:spPr>
          <a:xfrm>
            <a:off x="9710928" y="3154680"/>
            <a:ext cx="1865376" cy="1554480"/>
          </a:xfrm>
          <a:prstGeom prst="rect">
            <a:avLst/>
          </a:prstGeom>
          <a:noFill/>
          <a:ln/>
        </p:spPr>
        <p:txBody>
          <a:bodyPr wrap="square" lIns="0" tIns="0" rIns="0" bIns="0" rtlCol="0" anchor="t"/>
          <a:lstStyle/>
          <a:p>
            <a:pPr indent="0" marL="0">
              <a:lnSpc>
                <a:spcPct val="100000"/>
              </a:lnSpc>
              <a:buNone/>
            </a:pPr>
            <a:r>
              <a:rPr lang="en-US" sz="980" dirty="0">
                <a:solidFill>
                  <a:srgbClr val="6B7A8D"/>
                </a:solidFill>
                <a:latin typeface="Calibri" pitchFamily="34" charset="0"/>
                <a:ea typeface="Calibri" pitchFamily="34" charset="-122"/>
                <a:cs typeface="Calibri" pitchFamily="34" charset="-120"/>
              </a:rPr>
              <a:t>The same chart, two claims: the physician's fee and the facility fee — status indicators, packaging, comprehensive APCs.</a:t>
            </a:r>
            <a:endParaRPr lang="en-US" sz="980" dirty="0"/>
          </a:p>
        </p:txBody>
      </p:sp>
      <p:sp>
        <p:nvSpPr>
          <p:cNvPr id="33" name="Shape 31"/>
          <p:cNvSpPr/>
          <p:nvPr/>
        </p:nvSpPr>
        <p:spPr>
          <a:xfrm>
            <a:off x="457200" y="5029200"/>
            <a:ext cx="11274552" cy="1188720"/>
          </a:xfrm>
          <a:prstGeom prst="roundRect">
            <a:avLst>
              <a:gd name="adj" fmla="val 4615"/>
            </a:avLst>
          </a:prstGeom>
          <a:solidFill>
            <a:srgbClr val="1B2A4A"/>
          </a:solidFill>
          <a:ln/>
        </p:spPr>
      </p:sp>
      <p:sp>
        <p:nvSpPr>
          <p:cNvPr id="34" name="Text 32"/>
          <p:cNvSpPr/>
          <p:nvPr/>
        </p:nvSpPr>
        <p:spPr>
          <a:xfrm>
            <a:off x="713232" y="5029200"/>
            <a:ext cx="10789920" cy="1188720"/>
          </a:xfrm>
          <a:prstGeom prst="rect">
            <a:avLst/>
          </a:prstGeom>
          <a:noFill/>
          <a:ln/>
        </p:spPr>
        <p:txBody>
          <a:bodyPr wrap="square" lIns="0" tIns="0" rIns="0" bIns="0" rtlCol="0" anchor="ctr"/>
          <a:lstStyle/>
          <a:p>
            <a:pPr indent="0" marL="0">
              <a:lnSpc>
                <a:spcPct val="102000"/>
              </a:lnSpc>
              <a:buNone/>
            </a:pPr>
            <a:r>
              <a:rPr lang="en-US" sz="1150" b="1" dirty="0">
                <a:solidFill>
                  <a:srgbClr val="FFFFFF"/>
                </a:solidFill>
                <a:latin typeface="Calibri" pitchFamily="34" charset="0"/>
                <a:ea typeface="Calibri" pitchFamily="34" charset="-122"/>
                <a:cs typeface="Calibri" pitchFamily="34" charset="-120"/>
              </a:rPr>
              <a:t>All on public CMS artifacts.  </a:t>
            </a:r>
            <a:pPr indent="0" marL="0">
              <a:lnSpc>
                <a:spcPct val="102000"/>
              </a:lnSpc>
              <a:buNone/>
            </a:pPr>
            <a:r>
              <a:rPr lang="en-US" sz="1150" dirty="0">
                <a:solidFill>
                  <a:srgbClr val="CADCFC"/>
                </a:solidFill>
                <a:latin typeface="Calibri" pitchFamily="34" charset="0"/>
                <a:ea typeface="Calibri" pitchFamily="34" charset="-122"/>
                <a:cs typeface="Calibri" pitchFamily="34" charset="-120"/>
              </a:rPr>
              <a:t>DRG weights, the HCC model, anesthesia base units and Addendum B are published by CMS — so the inpatient and payment engines are even easier to defend than CPT. The evaluation harness scores DRG, RAF, unit and facility accuracy alongside code accuracy. And when an engine can't resolve a payment, the chart goes to a person — it never guesses.</a:t>
            </a:r>
            <a:endParaRPr lang="en-US" sz="1150" dirty="0"/>
          </a:p>
        </p:txBody>
      </p:sp>
      <p:sp>
        <p:nvSpPr>
          <p:cNvPr id="35" name="Shape 33"/>
          <p:cNvSpPr/>
          <p:nvPr/>
        </p:nvSpPr>
        <p:spPr>
          <a:xfrm>
            <a:off x="0" y="6565392"/>
            <a:ext cx="12188952" cy="292608"/>
          </a:xfrm>
          <a:prstGeom prst="rect">
            <a:avLst/>
          </a:prstGeom>
          <a:solidFill>
            <a:srgbClr val="0E1B33"/>
          </a:solidFill>
          <a:ln/>
        </p:spPr>
      </p:sp>
      <p:sp>
        <p:nvSpPr>
          <p:cNvPr id="36" name="Text 34"/>
          <p:cNvSpPr/>
          <p:nvPr/>
        </p:nvSpPr>
        <p:spPr>
          <a:xfrm>
            <a:off x="457200" y="6565392"/>
            <a:ext cx="5486400" cy="292608"/>
          </a:xfrm>
          <a:prstGeom prst="rect">
            <a:avLst/>
          </a:prstGeom>
          <a:noFill/>
          <a:ln/>
        </p:spPr>
        <p:txBody>
          <a:bodyPr wrap="square" lIns="0" tIns="0" rIns="0" bIns="0" rtlCol="0" anchor="ctr"/>
          <a:lstStyle/>
          <a:p>
            <a:pPr indent="0" marL="0">
              <a:buNone/>
            </a:pPr>
            <a:r>
              <a:rPr lang="en-US" sz="850" dirty="0">
                <a:solidFill>
                  <a:srgbClr val="9FB0C7"/>
                </a:solidFill>
                <a:latin typeface="Calibri" pitchFamily="34" charset="0"/>
                <a:ea typeface="Calibri" pitchFamily="34" charset="-122"/>
                <a:cs typeface="Calibri" pitchFamily="34" charset="-120"/>
              </a:rPr>
              <a:t>ACE · Autonomous Coding Engine</a:t>
            </a:r>
            <a:endParaRPr lang="en-US" sz="850" dirty="0"/>
          </a:p>
        </p:txBody>
      </p:sp>
      <p:sp>
        <p:nvSpPr>
          <p:cNvPr id="37" name="Text 35"/>
          <p:cNvSpPr/>
          <p:nvPr/>
        </p:nvSpPr>
        <p:spPr>
          <a:xfrm>
            <a:off x="6245352" y="6565392"/>
            <a:ext cx="5486400" cy="292608"/>
          </a:xfrm>
          <a:prstGeom prst="rect">
            <a:avLst/>
          </a:prstGeom>
          <a:noFill/>
          <a:ln/>
        </p:spPr>
        <p:txBody>
          <a:bodyPr wrap="square" lIns="0" tIns="0" rIns="0" bIns="0" rtlCol="0" anchor="ctr"/>
          <a:lstStyle/>
          <a:p>
            <a:pPr algn="r" indent="0" marL="0">
              <a:buNone/>
            </a:pPr>
            <a:r>
              <a:rPr lang="en-US" sz="850" dirty="0">
                <a:solidFill>
                  <a:srgbClr val="9FB0C7"/>
                </a:solidFill>
                <a:latin typeface="Calibri" pitchFamily="34" charset="0"/>
                <a:ea typeface="Calibri" pitchFamily="34" charset="-122"/>
                <a:cs typeface="Calibri" pitchFamily="34" charset="-120"/>
              </a:rPr>
              <a:t>Nous Infosystems  ·  for Vee Healthtek  ·  Confidential</a:t>
            </a:r>
            <a:endParaRPr lang="en-US" sz="850" dirty="0"/>
          </a:p>
        </p:txBody>
      </p:sp>
      <p:sp>
        <p:nvSpPr>
          <p:cNvPr id="38" name="Text 36"/>
          <p:cNvSpPr/>
          <p:nvPr/>
        </p:nvSpPr>
        <p:spPr>
          <a:xfrm>
            <a:off x="11686032" y="6565392"/>
            <a:ext cx="365760" cy="292608"/>
          </a:xfrm>
          <a:prstGeom prst="rect">
            <a:avLst/>
          </a:prstGeom>
          <a:noFill/>
          <a:ln/>
        </p:spPr>
        <p:txBody>
          <a:bodyPr wrap="square" lIns="0" tIns="0" rIns="0" bIns="0" rtlCol="0" anchor="ctr"/>
          <a:lstStyle/>
          <a:p>
            <a:pPr algn="r" indent="0" marL="0">
              <a:buNone/>
            </a:pPr>
            <a:r>
              <a:rPr lang="en-US" sz="850" b="1" dirty="0">
                <a:solidFill>
                  <a:srgbClr val="13B5A6"/>
                </a:solidFill>
                <a:latin typeface="Calibri" pitchFamily="34" charset="0"/>
                <a:ea typeface="Calibri" pitchFamily="34" charset="-122"/>
                <a:cs typeface="Calibri" pitchFamily="34" charset="-120"/>
              </a:rPr>
              <a:t>11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8FC"/>
        </a:solidFill>
      </p:bgPr>
    </p:bg>
    <p:spTree>
      <p:nvGrpSpPr>
        <p:cNvPr id="1" name=""/>
        <p:cNvGrpSpPr/>
        <p:nvPr/>
      </p:nvGrpSpPr>
      <p:grpSpPr>
        <a:xfrm>
          <a:off x="0" y="0"/>
          <a:ext cx="0" cy="0"/>
          <a:chOff x="0" y="0"/>
          <a:chExt cx="0" cy="0"/>
        </a:xfrm>
      </p:grpSpPr>
      <p:sp>
        <p:nvSpPr>
          <p:cNvPr id="2" name="Shape 0"/>
          <p:cNvSpPr/>
          <p:nvPr/>
        </p:nvSpPr>
        <p:spPr>
          <a:xfrm>
            <a:off x="0" y="0"/>
            <a:ext cx="12188952" cy="1078992"/>
          </a:xfrm>
          <a:prstGeom prst="rect">
            <a:avLst/>
          </a:prstGeom>
          <a:solidFill>
            <a:srgbClr val="FFFFFF"/>
          </a:solidFill>
          <a:ln/>
        </p:spPr>
      </p:sp>
      <p:sp>
        <p:nvSpPr>
          <p:cNvPr id="3" name="Shape 1"/>
          <p:cNvSpPr/>
          <p:nvPr/>
        </p:nvSpPr>
        <p:spPr>
          <a:xfrm>
            <a:off x="0" y="1078992"/>
            <a:ext cx="12188952" cy="27432"/>
          </a:xfrm>
          <a:prstGeom prst="rect">
            <a:avLst/>
          </a:prstGeom>
          <a:solidFill>
            <a:srgbClr val="D8E1EC"/>
          </a:solidFill>
          <a:ln/>
        </p:spPr>
      </p:sp>
      <p:sp>
        <p:nvSpPr>
          <p:cNvPr id="4" name="Shape 2"/>
          <p:cNvSpPr/>
          <p:nvPr/>
        </p:nvSpPr>
        <p:spPr>
          <a:xfrm>
            <a:off x="457200" y="310896"/>
            <a:ext cx="109728" cy="512064"/>
          </a:xfrm>
          <a:prstGeom prst="rect">
            <a:avLst/>
          </a:prstGeom>
          <a:solidFill>
            <a:srgbClr val="13B5A6"/>
          </a:solidFill>
          <a:ln/>
        </p:spPr>
      </p:sp>
      <p:sp>
        <p:nvSpPr>
          <p:cNvPr id="5" name="Text 3"/>
          <p:cNvSpPr/>
          <p:nvPr/>
        </p:nvSpPr>
        <p:spPr>
          <a:xfrm>
            <a:off x="713232" y="274320"/>
            <a:ext cx="10058400" cy="237744"/>
          </a:xfrm>
          <a:prstGeom prst="rect">
            <a:avLst/>
          </a:prstGeom>
          <a:noFill/>
          <a:ln/>
        </p:spPr>
        <p:txBody>
          <a:bodyPr wrap="square" lIns="0" tIns="0" rIns="0" bIns="0" rtlCol="0" anchor="ctr"/>
          <a:lstStyle/>
          <a:p>
            <a:pPr indent="0" marL="0">
              <a:buNone/>
            </a:pPr>
            <a:r>
              <a:rPr lang="en-US" sz="1100" b="1" spc="200" kern="0" dirty="0">
                <a:solidFill>
                  <a:srgbClr val="13B5A6"/>
                </a:solidFill>
                <a:latin typeface="Calibri" pitchFamily="34" charset="0"/>
                <a:ea typeface="Calibri" pitchFamily="34" charset="-122"/>
                <a:cs typeface="Calibri" pitchFamily="34" charset="-120"/>
              </a:rPr>
              <a:t>TRUST BY DESIGN</a:t>
            </a:r>
            <a:endParaRPr lang="en-US" sz="1100" dirty="0"/>
          </a:p>
        </p:txBody>
      </p:sp>
      <p:sp>
        <p:nvSpPr>
          <p:cNvPr id="6" name="Text 4"/>
          <p:cNvSpPr/>
          <p:nvPr/>
        </p:nvSpPr>
        <p:spPr>
          <a:xfrm>
            <a:off x="713232" y="475488"/>
            <a:ext cx="11155680" cy="457200"/>
          </a:xfrm>
          <a:prstGeom prst="rect">
            <a:avLst/>
          </a:prstGeom>
          <a:noFill/>
          <a:ln/>
        </p:spPr>
        <p:txBody>
          <a:bodyPr wrap="square" lIns="0" tIns="0" rIns="0" bIns="0" rtlCol="0" anchor="ctr"/>
          <a:lstStyle/>
          <a:p>
            <a:pPr indent="0" marL="0">
              <a:buNone/>
            </a:pPr>
            <a:r>
              <a:rPr lang="en-US" sz="2300" b="1" dirty="0">
                <a:solidFill>
                  <a:srgbClr val="1B2A4A"/>
                </a:solidFill>
                <a:latin typeface="Georgia" pitchFamily="34" charset="0"/>
                <a:ea typeface="Georgia" pitchFamily="34" charset="-122"/>
                <a:cs typeface="Georgia" pitchFamily="34" charset="-120"/>
              </a:rPr>
              <a:t>Why every claim can be explained and defended</a:t>
            </a:r>
            <a:endParaRPr lang="en-US" sz="2300" dirty="0"/>
          </a:p>
        </p:txBody>
      </p:sp>
      <p:sp>
        <p:nvSpPr>
          <p:cNvPr id="7" name="Shape 5"/>
          <p:cNvSpPr/>
          <p:nvPr/>
        </p:nvSpPr>
        <p:spPr>
          <a:xfrm>
            <a:off x="457200" y="1417320"/>
            <a:ext cx="5541264" cy="1371600"/>
          </a:xfrm>
          <a:prstGeom prst="roundRect">
            <a:avLst>
              <a:gd name="adj" fmla="val 4667"/>
            </a:avLst>
          </a:prstGeom>
          <a:solidFill>
            <a:srgbClr val="FFFFFF"/>
          </a:solidFill>
          <a:ln w="12700">
            <a:solidFill>
              <a:srgbClr val="D8E1EC"/>
            </a:solidFill>
            <a:prstDash val="solid"/>
          </a:ln>
          <a:effectLst>
            <a:outerShdw sx="100000" sy="100000" kx="0" ky="0" algn="bl" rotWithShape="0" blurRad="88900" dist="38100" dir="8100000">
              <a:srgbClr val="1B2A4A">
                <a:alpha val="12000"/>
              </a:srgbClr>
            </a:outerShdw>
          </a:effectLst>
        </p:spPr>
      </p:sp>
      <p:sp>
        <p:nvSpPr>
          <p:cNvPr id="8" name="Shape 6"/>
          <p:cNvSpPr/>
          <p:nvPr/>
        </p:nvSpPr>
        <p:spPr>
          <a:xfrm>
            <a:off x="457200" y="1417320"/>
            <a:ext cx="118872" cy="1371600"/>
          </a:xfrm>
          <a:prstGeom prst="rect">
            <a:avLst/>
          </a:prstGeom>
          <a:solidFill>
            <a:srgbClr val="13B5A6"/>
          </a:solidFill>
          <a:ln/>
        </p:spPr>
      </p:sp>
      <p:sp>
        <p:nvSpPr>
          <p:cNvPr id="9" name="Text 7"/>
          <p:cNvSpPr/>
          <p:nvPr/>
        </p:nvSpPr>
        <p:spPr>
          <a:xfrm>
            <a:off x="777240" y="1600200"/>
            <a:ext cx="4992624" cy="365760"/>
          </a:xfrm>
          <a:prstGeom prst="rect">
            <a:avLst/>
          </a:prstGeom>
          <a:noFill/>
          <a:ln/>
        </p:spPr>
        <p:txBody>
          <a:bodyPr wrap="square" lIns="0" tIns="0" rIns="0" bIns="0" rtlCol="0" anchor="ctr"/>
          <a:lstStyle/>
          <a:p>
            <a:pPr indent="0" marL="0">
              <a:buNone/>
            </a:pPr>
            <a:r>
              <a:rPr lang="en-US" sz="1400" b="1" dirty="0">
                <a:solidFill>
                  <a:srgbClr val="1B2A4A"/>
                </a:solidFill>
                <a:latin typeface="Calibri" pitchFamily="34" charset="0"/>
                <a:ea typeface="Calibri" pitchFamily="34" charset="-122"/>
                <a:cs typeface="Calibri" pitchFamily="34" charset="-120"/>
              </a:rPr>
              <a:t>Every code is cited</a:t>
            </a:r>
            <a:endParaRPr lang="en-US" sz="1400" dirty="0"/>
          </a:p>
        </p:txBody>
      </p:sp>
      <p:sp>
        <p:nvSpPr>
          <p:cNvPr id="10" name="Text 8"/>
          <p:cNvSpPr/>
          <p:nvPr/>
        </p:nvSpPr>
        <p:spPr>
          <a:xfrm>
            <a:off x="777240" y="1984248"/>
            <a:ext cx="4992624" cy="731520"/>
          </a:xfrm>
          <a:prstGeom prst="rect">
            <a:avLst/>
          </a:prstGeom>
          <a:noFill/>
          <a:ln/>
        </p:spPr>
        <p:txBody>
          <a:bodyPr wrap="square" lIns="0" tIns="0" rIns="0" bIns="0" rtlCol="0" anchor="t"/>
          <a:lstStyle/>
          <a:p>
            <a:pPr indent="0" marL="0">
              <a:lnSpc>
                <a:spcPct val="100000"/>
              </a:lnSpc>
              <a:buNone/>
            </a:pPr>
            <a:r>
              <a:rPr lang="en-US" sz="1150" dirty="0">
                <a:solidFill>
                  <a:srgbClr val="6B7A8D"/>
                </a:solidFill>
                <a:latin typeface="Calibri" pitchFamily="34" charset="0"/>
                <a:ea typeface="Calibri" pitchFamily="34" charset="-122"/>
                <a:cs typeface="Calibri" pitchFamily="34" charset="-120"/>
              </a:rPr>
              <a:t>Each accepted code links back to the chart line and the guideline that justify it — coders see the why.</a:t>
            </a:r>
            <a:endParaRPr lang="en-US" sz="1150" dirty="0"/>
          </a:p>
        </p:txBody>
      </p:sp>
      <p:sp>
        <p:nvSpPr>
          <p:cNvPr id="11" name="Shape 9"/>
          <p:cNvSpPr/>
          <p:nvPr/>
        </p:nvSpPr>
        <p:spPr>
          <a:xfrm>
            <a:off x="6190488" y="1417320"/>
            <a:ext cx="5541264" cy="1371600"/>
          </a:xfrm>
          <a:prstGeom prst="roundRect">
            <a:avLst>
              <a:gd name="adj" fmla="val 4667"/>
            </a:avLst>
          </a:prstGeom>
          <a:solidFill>
            <a:srgbClr val="FFFFFF"/>
          </a:solidFill>
          <a:ln w="12700">
            <a:solidFill>
              <a:srgbClr val="D8E1EC"/>
            </a:solidFill>
            <a:prstDash val="solid"/>
          </a:ln>
          <a:effectLst>
            <a:outerShdw sx="100000" sy="100000" kx="0" ky="0" algn="bl" rotWithShape="0" blurRad="88900" dist="38100" dir="8100000">
              <a:srgbClr val="1B2A4A">
                <a:alpha val="12000"/>
              </a:srgbClr>
            </a:outerShdw>
          </a:effectLst>
        </p:spPr>
      </p:sp>
      <p:sp>
        <p:nvSpPr>
          <p:cNvPr id="12" name="Shape 10"/>
          <p:cNvSpPr/>
          <p:nvPr/>
        </p:nvSpPr>
        <p:spPr>
          <a:xfrm>
            <a:off x="6190488" y="1417320"/>
            <a:ext cx="118872" cy="1371600"/>
          </a:xfrm>
          <a:prstGeom prst="rect">
            <a:avLst/>
          </a:prstGeom>
          <a:solidFill>
            <a:srgbClr val="13B5A6"/>
          </a:solidFill>
          <a:ln/>
        </p:spPr>
      </p:sp>
      <p:sp>
        <p:nvSpPr>
          <p:cNvPr id="13" name="Text 11"/>
          <p:cNvSpPr/>
          <p:nvPr/>
        </p:nvSpPr>
        <p:spPr>
          <a:xfrm>
            <a:off x="6510528" y="1600200"/>
            <a:ext cx="4992624" cy="365760"/>
          </a:xfrm>
          <a:prstGeom prst="rect">
            <a:avLst/>
          </a:prstGeom>
          <a:noFill/>
          <a:ln/>
        </p:spPr>
        <p:txBody>
          <a:bodyPr wrap="square" lIns="0" tIns="0" rIns="0" bIns="0" rtlCol="0" anchor="ctr"/>
          <a:lstStyle/>
          <a:p>
            <a:pPr indent="0" marL="0">
              <a:buNone/>
            </a:pPr>
            <a:r>
              <a:rPr lang="en-US" sz="1400" b="1" dirty="0">
                <a:solidFill>
                  <a:srgbClr val="1B2A4A"/>
                </a:solidFill>
                <a:latin typeface="Calibri" pitchFamily="34" charset="0"/>
                <a:ea typeface="Calibri" pitchFamily="34" charset="-122"/>
                <a:cs typeface="Calibri" pitchFamily="34" charset="-120"/>
              </a:rPr>
              <a:t>A complete audit trail</a:t>
            </a:r>
            <a:endParaRPr lang="en-US" sz="1400" dirty="0"/>
          </a:p>
        </p:txBody>
      </p:sp>
      <p:sp>
        <p:nvSpPr>
          <p:cNvPr id="14" name="Text 12"/>
          <p:cNvSpPr/>
          <p:nvPr/>
        </p:nvSpPr>
        <p:spPr>
          <a:xfrm>
            <a:off x="6510528" y="1984248"/>
            <a:ext cx="4992624" cy="731520"/>
          </a:xfrm>
          <a:prstGeom prst="rect">
            <a:avLst/>
          </a:prstGeom>
          <a:noFill/>
          <a:ln/>
        </p:spPr>
        <p:txBody>
          <a:bodyPr wrap="square" lIns="0" tIns="0" rIns="0" bIns="0" rtlCol="0" anchor="t"/>
          <a:lstStyle/>
          <a:p>
            <a:pPr indent="0" marL="0">
              <a:lnSpc>
                <a:spcPct val="100000"/>
              </a:lnSpc>
              <a:buNone/>
            </a:pPr>
            <a:r>
              <a:rPr lang="en-US" sz="1150" dirty="0">
                <a:solidFill>
                  <a:srgbClr val="6B7A8D"/>
                </a:solidFill>
                <a:latin typeface="Calibri" pitchFamily="34" charset="0"/>
                <a:ea typeface="Calibri" pitchFamily="34" charset="-122"/>
                <a:cs typeface="Calibri" pitchFamily="34" charset="-120"/>
              </a:rPr>
              <a:t>Each step, who did it, which model and when — and one Audit Log screen that merges coding and governance events into a single, filterable timeline.</a:t>
            </a:r>
            <a:endParaRPr lang="en-US" sz="1150" dirty="0"/>
          </a:p>
        </p:txBody>
      </p:sp>
      <p:sp>
        <p:nvSpPr>
          <p:cNvPr id="15" name="Shape 13"/>
          <p:cNvSpPr/>
          <p:nvPr/>
        </p:nvSpPr>
        <p:spPr>
          <a:xfrm>
            <a:off x="457200" y="2953512"/>
            <a:ext cx="5541264" cy="1371600"/>
          </a:xfrm>
          <a:prstGeom prst="roundRect">
            <a:avLst>
              <a:gd name="adj" fmla="val 4667"/>
            </a:avLst>
          </a:prstGeom>
          <a:solidFill>
            <a:srgbClr val="FFFFFF"/>
          </a:solidFill>
          <a:ln w="12700">
            <a:solidFill>
              <a:srgbClr val="D8E1EC"/>
            </a:solidFill>
            <a:prstDash val="solid"/>
          </a:ln>
          <a:effectLst>
            <a:outerShdw sx="100000" sy="100000" kx="0" ky="0" algn="bl" rotWithShape="0" blurRad="88900" dist="38100" dir="8100000">
              <a:srgbClr val="1B2A4A">
                <a:alpha val="12000"/>
              </a:srgbClr>
            </a:outerShdw>
          </a:effectLst>
        </p:spPr>
      </p:sp>
      <p:sp>
        <p:nvSpPr>
          <p:cNvPr id="16" name="Shape 14"/>
          <p:cNvSpPr/>
          <p:nvPr/>
        </p:nvSpPr>
        <p:spPr>
          <a:xfrm>
            <a:off x="457200" y="2953512"/>
            <a:ext cx="118872" cy="1371600"/>
          </a:xfrm>
          <a:prstGeom prst="rect">
            <a:avLst/>
          </a:prstGeom>
          <a:solidFill>
            <a:srgbClr val="13B5A6"/>
          </a:solidFill>
          <a:ln/>
        </p:spPr>
      </p:sp>
      <p:sp>
        <p:nvSpPr>
          <p:cNvPr id="17" name="Text 15"/>
          <p:cNvSpPr/>
          <p:nvPr/>
        </p:nvSpPr>
        <p:spPr>
          <a:xfrm>
            <a:off x="777240" y="3136392"/>
            <a:ext cx="4992624" cy="365760"/>
          </a:xfrm>
          <a:prstGeom prst="rect">
            <a:avLst/>
          </a:prstGeom>
          <a:noFill/>
          <a:ln/>
        </p:spPr>
        <p:txBody>
          <a:bodyPr wrap="square" lIns="0" tIns="0" rIns="0" bIns="0" rtlCol="0" anchor="ctr"/>
          <a:lstStyle/>
          <a:p>
            <a:pPr indent="0" marL="0">
              <a:buNone/>
            </a:pPr>
            <a:r>
              <a:rPr lang="en-US" sz="1400" b="1" dirty="0">
                <a:solidFill>
                  <a:srgbClr val="1B2A4A"/>
                </a:solidFill>
                <a:latin typeface="Calibri" pitchFamily="34" charset="0"/>
                <a:ea typeface="Calibri" pitchFamily="34" charset="-122"/>
                <a:cs typeface="Calibri" pitchFamily="34" charset="-120"/>
              </a:rPr>
              <a:t>Every admin change is logged</a:t>
            </a:r>
            <a:endParaRPr lang="en-US" sz="1400" dirty="0"/>
          </a:p>
        </p:txBody>
      </p:sp>
      <p:sp>
        <p:nvSpPr>
          <p:cNvPr id="18" name="Text 16"/>
          <p:cNvSpPr/>
          <p:nvPr/>
        </p:nvSpPr>
        <p:spPr>
          <a:xfrm>
            <a:off x="777240" y="3520440"/>
            <a:ext cx="4992624" cy="731520"/>
          </a:xfrm>
          <a:prstGeom prst="rect">
            <a:avLst/>
          </a:prstGeom>
          <a:noFill/>
          <a:ln/>
        </p:spPr>
        <p:txBody>
          <a:bodyPr wrap="square" lIns="0" tIns="0" rIns="0" bIns="0" rtlCol="0" anchor="t"/>
          <a:lstStyle/>
          <a:p>
            <a:pPr indent="0" marL="0">
              <a:lnSpc>
                <a:spcPct val="100000"/>
              </a:lnSpc>
              <a:buNone/>
            </a:pPr>
            <a:r>
              <a:rPr lang="en-US" sz="1150" dirty="0">
                <a:solidFill>
                  <a:srgbClr val="6B7A8D"/>
                </a:solidFill>
                <a:latin typeface="Calibri" pitchFamily="34" charset="0"/>
                <a:ea typeface="Calibri" pitchFamily="34" charset="-122"/>
                <a:cs typeface="Calibri" pitchFamily="34" charset="-120"/>
              </a:rPr>
              <a:t>Config, policy, knowledge-graph, reference-data and gold-set edits — all recorded with who changed what, and when.</a:t>
            </a:r>
            <a:endParaRPr lang="en-US" sz="1150" dirty="0"/>
          </a:p>
        </p:txBody>
      </p:sp>
      <p:sp>
        <p:nvSpPr>
          <p:cNvPr id="19" name="Shape 17"/>
          <p:cNvSpPr/>
          <p:nvPr/>
        </p:nvSpPr>
        <p:spPr>
          <a:xfrm>
            <a:off x="6190488" y="2953512"/>
            <a:ext cx="5541264" cy="1371600"/>
          </a:xfrm>
          <a:prstGeom prst="roundRect">
            <a:avLst>
              <a:gd name="adj" fmla="val 4667"/>
            </a:avLst>
          </a:prstGeom>
          <a:solidFill>
            <a:srgbClr val="FFFFFF"/>
          </a:solidFill>
          <a:ln w="12700">
            <a:solidFill>
              <a:srgbClr val="D8E1EC"/>
            </a:solidFill>
            <a:prstDash val="solid"/>
          </a:ln>
          <a:effectLst>
            <a:outerShdw sx="100000" sy="100000" kx="0" ky="0" algn="bl" rotWithShape="0" blurRad="88900" dist="38100" dir="8100000">
              <a:srgbClr val="1B2A4A">
                <a:alpha val="12000"/>
              </a:srgbClr>
            </a:outerShdw>
          </a:effectLst>
        </p:spPr>
      </p:sp>
      <p:sp>
        <p:nvSpPr>
          <p:cNvPr id="20" name="Shape 18"/>
          <p:cNvSpPr/>
          <p:nvPr/>
        </p:nvSpPr>
        <p:spPr>
          <a:xfrm>
            <a:off x="6190488" y="2953512"/>
            <a:ext cx="118872" cy="1371600"/>
          </a:xfrm>
          <a:prstGeom prst="rect">
            <a:avLst/>
          </a:prstGeom>
          <a:solidFill>
            <a:srgbClr val="13B5A6"/>
          </a:solidFill>
          <a:ln/>
        </p:spPr>
      </p:sp>
      <p:sp>
        <p:nvSpPr>
          <p:cNvPr id="21" name="Text 19"/>
          <p:cNvSpPr/>
          <p:nvPr/>
        </p:nvSpPr>
        <p:spPr>
          <a:xfrm>
            <a:off x="6510528" y="3136392"/>
            <a:ext cx="4992624" cy="365760"/>
          </a:xfrm>
          <a:prstGeom prst="rect">
            <a:avLst/>
          </a:prstGeom>
          <a:noFill/>
          <a:ln/>
        </p:spPr>
        <p:txBody>
          <a:bodyPr wrap="square" lIns="0" tIns="0" rIns="0" bIns="0" rtlCol="0" anchor="ctr"/>
          <a:lstStyle/>
          <a:p>
            <a:pPr indent="0" marL="0">
              <a:buNone/>
            </a:pPr>
            <a:r>
              <a:rPr lang="en-US" sz="1400" b="1" dirty="0">
                <a:solidFill>
                  <a:srgbClr val="1B2A4A"/>
                </a:solidFill>
                <a:latin typeface="Calibri" pitchFamily="34" charset="0"/>
                <a:ea typeface="Calibri" pitchFamily="34" charset="-122"/>
                <a:cs typeface="Calibri" pitchFamily="34" charset="-120"/>
              </a:rPr>
              <a:t>Honest accuracy numbers</a:t>
            </a:r>
            <a:endParaRPr lang="en-US" sz="1400" dirty="0"/>
          </a:p>
        </p:txBody>
      </p:sp>
      <p:sp>
        <p:nvSpPr>
          <p:cNvPr id="22" name="Text 20"/>
          <p:cNvSpPr/>
          <p:nvPr/>
        </p:nvSpPr>
        <p:spPr>
          <a:xfrm>
            <a:off x="6510528" y="3520440"/>
            <a:ext cx="4992624" cy="731520"/>
          </a:xfrm>
          <a:prstGeom prst="rect">
            <a:avLst/>
          </a:prstGeom>
          <a:noFill/>
          <a:ln/>
        </p:spPr>
        <p:txBody>
          <a:bodyPr wrap="square" lIns="0" tIns="0" rIns="0" bIns="0" rtlCol="0" anchor="t"/>
          <a:lstStyle/>
          <a:p>
            <a:pPr indent="0" marL="0">
              <a:lnSpc>
                <a:spcPct val="100000"/>
              </a:lnSpc>
              <a:buNone/>
            </a:pPr>
            <a:r>
              <a:rPr lang="en-US" sz="1150" dirty="0">
                <a:solidFill>
                  <a:srgbClr val="6B7A8D"/>
                </a:solidFill>
                <a:latin typeface="Calibri" pitchFamily="34" charset="0"/>
                <a:ea typeface="Calibri" pitchFamily="34" charset="-122"/>
                <a:cs typeface="Calibri" pitchFamily="34" charset="-120"/>
              </a:rPr>
              <a:t>Measured against adjudicated consensus — plus live per-model metrics (tokens, latency, override rate), so drift shows up when you switch models.</a:t>
            </a:r>
            <a:endParaRPr lang="en-US" sz="1150" dirty="0"/>
          </a:p>
        </p:txBody>
      </p:sp>
      <p:sp>
        <p:nvSpPr>
          <p:cNvPr id="23" name="Shape 21"/>
          <p:cNvSpPr/>
          <p:nvPr/>
        </p:nvSpPr>
        <p:spPr>
          <a:xfrm>
            <a:off x="457200" y="4489704"/>
            <a:ext cx="5541264" cy="1371600"/>
          </a:xfrm>
          <a:prstGeom prst="roundRect">
            <a:avLst>
              <a:gd name="adj" fmla="val 4667"/>
            </a:avLst>
          </a:prstGeom>
          <a:solidFill>
            <a:srgbClr val="FFFFFF"/>
          </a:solidFill>
          <a:ln w="12700">
            <a:solidFill>
              <a:srgbClr val="D8E1EC"/>
            </a:solidFill>
            <a:prstDash val="solid"/>
          </a:ln>
          <a:effectLst>
            <a:outerShdw sx="100000" sy="100000" kx="0" ky="0" algn="bl" rotWithShape="0" blurRad="88900" dist="38100" dir="8100000">
              <a:srgbClr val="1B2A4A">
                <a:alpha val="12000"/>
              </a:srgbClr>
            </a:outerShdw>
          </a:effectLst>
        </p:spPr>
      </p:sp>
      <p:sp>
        <p:nvSpPr>
          <p:cNvPr id="24" name="Shape 22"/>
          <p:cNvSpPr/>
          <p:nvPr/>
        </p:nvSpPr>
        <p:spPr>
          <a:xfrm>
            <a:off x="457200" y="4489704"/>
            <a:ext cx="118872" cy="1371600"/>
          </a:xfrm>
          <a:prstGeom prst="rect">
            <a:avLst/>
          </a:prstGeom>
          <a:solidFill>
            <a:srgbClr val="13B5A6"/>
          </a:solidFill>
          <a:ln/>
        </p:spPr>
      </p:sp>
      <p:sp>
        <p:nvSpPr>
          <p:cNvPr id="25" name="Text 23"/>
          <p:cNvSpPr/>
          <p:nvPr/>
        </p:nvSpPr>
        <p:spPr>
          <a:xfrm>
            <a:off x="777240" y="4672584"/>
            <a:ext cx="4992624" cy="365760"/>
          </a:xfrm>
          <a:prstGeom prst="rect">
            <a:avLst/>
          </a:prstGeom>
          <a:noFill/>
          <a:ln/>
        </p:spPr>
        <p:txBody>
          <a:bodyPr wrap="square" lIns="0" tIns="0" rIns="0" bIns="0" rtlCol="0" anchor="ctr"/>
          <a:lstStyle/>
          <a:p>
            <a:pPr indent="0" marL="0">
              <a:buNone/>
            </a:pPr>
            <a:r>
              <a:rPr lang="en-US" sz="1400" b="1" dirty="0">
                <a:solidFill>
                  <a:srgbClr val="1B2A4A"/>
                </a:solidFill>
                <a:latin typeface="Calibri" pitchFamily="34" charset="0"/>
                <a:ea typeface="Calibri" pitchFamily="34" charset="-122"/>
                <a:cs typeface="Calibri" pitchFamily="34" charset="-120"/>
              </a:rPr>
              <a:t>Overrides keep the reason</a:t>
            </a:r>
            <a:endParaRPr lang="en-US" sz="1400" dirty="0"/>
          </a:p>
        </p:txBody>
      </p:sp>
      <p:sp>
        <p:nvSpPr>
          <p:cNvPr id="26" name="Text 24"/>
          <p:cNvSpPr/>
          <p:nvPr/>
        </p:nvSpPr>
        <p:spPr>
          <a:xfrm>
            <a:off x="777240" y="5056632"/>
            <a:ext cx="4992624" cy="731520"/>
          </a:xfrm>
          <a:prstGeom prst="rect">
            <a:avLst/>
          </a:prstGeom>
          <a:noFill/>
          <a:ln/>
        </p:spPr>
        <p:txBody>
          <a:bodyPr wrap="square" lIns="0" tIns="0" rIns="0" bIns="0" rtlCol="0" anchor="t"/>
          <a:lstStyle/>
          <a:p>
            <a:pPr indent="0" marL="0">
              <a:lnSpc>
                <a:spcPct val="100000"/>
              </a:lnSpc>
              <a:buNone/>
            </a:pPr>
            <a:r>
              <a:rPr lang="en-US" sz="1150" dirty="0">
                <a:solidFill>
                  <a:srgbClr val="6B7A8D"/>
                </a:solidFill>
                <a:latin typeface="Calibri" pitchFamily="34" charset="0"/>
                <a:ea typeface="Calibri" pitchFamily="34" charset="-122"/>
                <a:cs typeface="Calibri" pitchFamily="34" charset="-120"/>
              </a:rPr>
              <a:t>When a coder changes a code, the rationale is captured — feeding both the audit trail and the learning loop.</a:t>
            </a:r>
            <a:endParaRPr lang="en-US" sz="1150" dirty="0"/>
          </a:p>
        </p:txBody>
      </p:sp>
      <p:sp>
        <p:nvSpPr>
          <p:cNvPr id="27" name="Shape 25"/>
          <p:cNvSpPr/>
          <p:nvPr/>
        </p:nvSpPr>
        <p:spPr>
          <a:xfrm>
            <a:off x="6190488" y="4489704"/>
            <a:ext cx="5541264" cy="1371600"/>
          </a:xfrm>
          <a:prstGeom prst="roundRect">
            <a:avLst>
              <a:gd name="adj" fmla="val 4667"/>
            </a:avLst>
          </a:prstGeom>
          <a:solidFill>
            <a:srgbClr val="FFFFFF"/>
          </a:solidFill>
          <a:ln w="12700">
            <a:solidFill>
              <a:srgbClr val="D8E1EC"/>
            </a:solidFill>
            <a:prstDash val="solid"/>
          </a:ln>
          <a:effectLst>
            <a:outerShdw sx="100000" sy="100000" kx="0" ky="0" algn="bl" rotWithShape="0" blurRad="88900" dist="38100" dir="8100000">
              <a:srgbClr val="1B2A4A">
                <a:alpha val="12000"/>
              </a:srgbClr>
            </a:outerShdw>
          </a:effectLst>
        </p:spPr>
      </p:sp>
      <p:sp>
        <p:nvSpPr>
          <p:cNvPr id="28" name="Shape 26"/>
          <p:cNvSpPr/>
          <p:nvPr/>
        </p:nvSpPr>
        <p:spPr>
          <a:xfrm>
            <a:off x="6190488" y="4489704"/>
            <a:ext cx="118872" cy="1371600"/>
          </a:xfrm>
          <a:prstGeom prst="rect">
            <a:avLst/>
          </a:prstGeom>
          <a:solidFill>
            <a:srgbClr val="13B5A6"/>
          </a:solidFill>
          <a:ln/>
        </p:spPr>
      </p:sp>
      <p:sp>
        <p:nvSpPr>
          <p:cNvPr id="29" name="Text 27"/>
          <p:cNvSpPr/>
          <p:nvPr/>
        </p:nvSpPr>
        <p:spPr>
          <a:xfrm>
            <a:off x="6510528" y="4672584"/>
            <a:ext cx="4992624" cy="365760"/>
          </a:xfrm>
          <a:prstGeom prst="rect">
            <a:avLst/>
          </a:prstGeom>
          <a:noFill/>
          <a:ln/>
        </p:spPr>
        <p:txBody>
          <a:bodyPr wrap="square" lIns="0" tIns="0" rIns="0" bIns="0" rtlCol="0" anchor="ctr"/>
          <a:lstStyle/>
          <a:p>
            <a:pPr indent="0" marL="0">
              <a:buNone/>
            </a:pPr>
            <a:r>
              <a:rPr lang="en-US" sz="1400" b="1" dirty="0">
                <a:solidFill>
                  <a:srgbClr val="1B2A4A"/>
                </a:solidFill>
                <a:latin typeface="Calibri" pitchFamily="34" charset="0"/>
                <a:ea typeface="Calibri" pitchFamily="34" charset="-122"/>
                <a:cs typeface="Calibri" pitchFamily="34" charset="-120"/>
              </a:rPr>
              <a:t>Roles control who can do what</a:t>
            </a:r>
            <a:endParaRPr lang="en-US" sz="1400" dirty="0"/>
          </a:p>
        </p:txBody>
      </p:sp>
      <p:sp>
        <p:nvSpPr>
          <p:cNvPr id="30" name="Text 28"/>
          <p:cNvSpPr/>
          <p:nvPr/>
        </p:nvSpPr>
        <p:spPr>
          <a:xfrm>
            <a:off x="6510528" y="5056632"/>
            <a:ext cx="4992624" cy="731520"/>
          </a:xfrm>
          <a:prstGeom prst="rect">
            <a:avLst/>
          </a:prstGeom>
          <a:noFill/>
          <a:ln/>
        </p:spPr>
        <p:txBody>
          <a:bodyPr wrap="square" lIns="0" tIns="0" rIns="0" bIns="0" rtlCol="0" anchor="t"/>
          <a:lstStyle/>
          <a:p>
            <a:pPr indent="0" marL="0">
              <a:lnSpc>
                <a:spcPct val="100000"/>
              </a:lnSpc>
              <a:buNone/>
            </a:pPr>
            <a:r>
              <a:rPr lang="en-US" sz="1150" dirty="0">
                <a:solidFill>
                  <a:srgbClr val="6B7A8D"/>
                </a:solidFill>
                <a:latin typeface="Calibri" pitchFamily="34" charset="0"/>
                <a:ea typeface="Calibri" pitchFamily="34" charset="-122"/>
                <a:cs typeface="Calibri" pitchFamily="34" charset="-120"/>
              </a:rPr>
              <a:t>Admin, coder, QA, CDI, supervisor — both the menus and the buttons; maps to your SSO in production.</a:t>
            </a:r>
            <a:endParaRPr lang="en-US" sz="1150" dirty="0"/>
          </a:p>
        </p:txBody>
      </p:sp>
      <p:sp>
        <p:nvSpPr>
          <p:cNvPr id="31" name="Shape 29"/>
          <p:cNvSpPr/>
          <p:nvPr/>
        </p:nvSpPr>
        <p:spPr>
          <a:xfrm>
            <a:off x="0" y="6565392"/>
            <a:ext cx="12188952" cy="292608"/>
          </a:xfrm>
          <a:prstGeom prst="rect">
            <a:avLst/>
          </a:prstGeom>
          <a:solidFill>
            <a:srgbClr val="0E1B33"/>
          </a:solidFill>
          <a:ln/>
        </p:spPr>
      </p:sp>
      <p:sp>
        <p:nvSpPr>
          <p:cNvPr id="32" name="Text 30"/>
          <p:cNvSpPr/>
          <p:nvPr/>
        </p:nvSpPr>
        <p:spPr>
          <a:xfrm>
            <a:off x="457200" y="6565392"/>
            <a:ext cx="5486400" cy="292608"/>
          </a:xfrm>
          <a:prstGeom prst="rect">
            <a:avLst/>
          </a:prstGeom>
          <a:noFill/>
          <a:ln/>
        </p:spPr>
        <p:txBody>
          <a:bodyPr wrap="square" lIns="0" tIns="0" rIns="0" bIns="0" rtlCol="0" anchor="ctr"/>
          <a:lstStyle/>
          <a:p>
            <a:pPr indent="0" marL="0">
              <a:buNone/>
            </a:pPr>
            <a:r>
              <a:rPr lang="en-US" sz="850" dirty="0">
                <a:solidFill>
                  <a:srgbClr val="9FB0C7"/>
                </a:solidFill>
                <a:latin typeface="Calibri" pitchFamily="34" charset="0"/>
                <a:ea typeface="Calibri" pitchFamily="34" charset="-122"/>
                <a:cs typeface="Calibri" pitchFamily="34" charset="-120"/>
              </a:rPr>
              <a:t>ACE · Autonomous Coding Engine</a:t>
            </a:r>
            <a:endParaRPr lang="en-US" sz="850" dirty="0"/>
          </a:p>
        </p:txBody>
      </p:sp>
      <p:sp>
        <p:nvSpPr>
          <p:cNvPr id="33" name="Text 31"/>
          <p:cNvSpPr/>
          <p:nvPr/>
        </p:nvSpPr>
        <p:spPr>
          <a:xfrm>
            <a:off x="6245352" y="6565392"/>
            <a:ext cx="5486400" cy="292608"/>
          </a:xfrm>
          <a:prstGeom prst="rect">
            <a:avLst/>
          </a:prstGeom>
          <a:noFill/>
          <a:ln/>
        </p:spPr>
        <p:txBody>
          <a:bodyPr wrap="square" lIns="0" tIns="0" rIns="0" bIns="0" rtlCol="0" anchor="ctr"/>
          <a:lstStyle/>
          <a:p>
            <a:pPr algn="r" indent="0" marL="0">
              <a:buNone/>
            </a:pPr>
            <a:r>
              <a:rPr lang="en-US" sz="850" dirty="0">
                <a:solidFill>
                  <a:srgbClr val="9FB0C7"/>
                </a:solidFill>
                <a:latin typeface="Calibri" pitchFamily="34" charset="0"/>
                <a:ea typeface="Calibri" pitchFamily="34" charset="-122"/>
                <a:cs typeface="Calibri" pitchFamily="34" charset="-120"/>
              </a:rPr>
              <a:t>Nous Infosystems  ·  for Vee Healthtek  ·  Confidential</a:t>
            </a:r>
            <a:endParaRPr lang="en-US" sz="850" dirty="0"/>
          </a:p>
        </p:txBody>
      </p:sp>
      <p:sp>
        <p:nvSpPr>
          <p:cNvPr id="34" name="Text 32"/>
          <p:cNvSpPr/>
          <p:nvPr/>
        </p:nvSpPr>
        <p:spPr>
          <a:xfrm>
            <a:off x="11686032" y="6565392"/>
            <a:ext cx="365760" cy="292608"/>
          </a:xfrm>
          <a:prstGeom prst="rect">
            <a:avLst/>
          </a:prstGeom>
          <a:noFill/>
          <a:ln/>
        </p:spPr>
        <p:txBody>
          <a:bodyPr wrap="square" lIns="0" tIns="0" rIns="0" bIns="0" rtlCol="0" anchor="ctr"/>
          <a:lstStyle/>
          <a:p>
            <a:pPr algn="r" indent="0" marL="0">
              <a:buNone/>
            </a:pPr>
            <a:r>
              <a:rPr lang="en-US" sz="850" b="1" dirty="0">
                <a:solidFill>
                  <a:srgbClr val="13B5A6"/>
                </a:solidFill>
                <a:latin typeface="Calibri" pitchFamily="34" charset="0"/>
                <a:ea typeface="Calibri" pitchFamily="34" charset="-122"/>
                <a:cs typeface="Calibri" pitchFamily="34" charset="-120"/>
              </a:rPr>
              <a:t>12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8FC"/>
        </a:solidFill>
      </p:bgPr>
    </p:bg>
    <p:spTree>
      <p:nvGrpSpPr>
        <p:cNvPr id="1" name=""/>
        <p:cNvGrpSpPr/>
        <p:nvPr/>
      </p:nvGrpSpPr>
      <p:grpSpPr>
        <a:xfrm>
          <a:off x="0" y="0"/>
          <a:ext cx="0" cy="0"/>
          <a:chOff x="0" y="0"/>
          <a:chExt cx="0" cy="0"/>
        </a:xfrm>
      </p:grpSpPr>
      <p:sp>
        <p:nvSpPr>
          <p:cNvPr id="2" name="Shape 0"/>
          <p:cNvSpPr/>
          <p:nvPr/>
        </p:nvSpPr>
        <p:spPr>
          <a:xfrm>
            <a:off x="0" y="0"/>
            <a:ext cx="12188952" cy="1078992"/>
          </a:xfrm>
          <a:prstGeom prst="rect">
            <a:avLst/>
          </a:prstGeom>
          <a:solidFill>
            <a:srgbClr val="FFFFFF"/>
          </a:solidFill>
          <a:ln/>
        </p:spPr>
      </p:sp>
      <p:sp>
        <p:nvSpPr>
          <p:cNvPr id="3" name="Shape 1"/>
          <p:cNvSpPr/>
          <p:nvPr/>
        </p:nvSpPr>
        <p:spPr>
          <a:xfrm>
            <a:off x="0" y="1078992"/>
            <a:ext cx="12188952" cy="27432"/>
          </a:xfrm>
          <a:prstGeom prst="rect">
            <a:avLst/>
          </a:prstGeom>
          <a:solidFill>
            <a:srgbClr val="D8E1EC"/>
          </a:solidFill>
          <a:ln/>
        </p:spPr>
      </p:sp>
      <p:sp>
        <p:nvSpPr>
          <p:cNvPr id="4" name="Shape 2"/>
          <p:cNvSpPr/>
          <p:nvPr/>
        </p:nvSpPr>
        <p:spPr>
          <a:xfrm>
            <a:off x="457200" y="310896"/>
            <a:ext cx="109728" cy="512064"/>
          </a:xfrm>
          <a:prstGeom prst="rect">
            <a:avLst/>
          </a:prstGeom>
          <a:solidFill>
            <a:srgbClr val="13B5A6"/>
          </a:solidFill>
          <a:ln/>
        </p:spPr>
      </p:sp>
      <p:sp>
        <p:nvSpPr>
          <p:cNvPr id="5" name="Text 3"/>
          <p:cNvSpPr/>
          <p:nvPr/>
        </p:nvSpPr>
        <p:spPr>
          <a:xfrm>
            <a:off x="713232" y="274320"/>
            <a:ext cx="10058400" cy="237744"/>
          </a:xfrm>
          <a:prstGeom prst="rect">
            <a:avLst/>
          </a:prstGeom>
          <a:noFill/>
          <a:ln/>
        </p:spPr>
        <p:txBody>
          <a:bodyPr wrap="square" lIns="0" tIns="0" rIns="0" bIns="0" rtlCol="0" anchor="ctr"/>
          <a:lstStyle/>
          <a:p>
            <a:pPr indent="0" marL="0">
              <a:buNone/>
            </a:pPr>
            <a:r>
              <a:rPr lang="en-US" sz="1100" b="1" spc="200" kern="0" dirty="0">
                <a:solidFill>
                  <a:srgbClr val="13B5A6"/>
                </a:solidFill>
                <a:latin typeface="Calibri" pitchFamily="34" charset="0"/>
                <a:ea typeface="Calibri" pitchFamily="34" charset="-122"/>
                <a:cs typeface="Calibri" pitchFamily="34" charset="-120"/>
              </a:rPr>
              <a:t>DESIGN RATIONALE</a:t>
            </a:r>
            <a:endParaRPr lang="en-US" sz="1100" dirty="0"/>
          </a:p>
        </p:txBody>
      </p:sp>
      <p:sp>
        <p:nvSpPr>
          <p:cNvPr id="6" name="Text 4"/>
          <p:cNvSpPr/>
          <p:nvPr/>
        </p:nvSpPr>
        <p:spPr>
          <a:xfrm>
            <a:off x="713232" y="475488"/>
            <a:ext cx="11155680" cy="457200"/>
          </a:xfrm>
          <a:prstGeom prst="rect">
            <a:avLst/>
          </a:prstGeom>
          <a:noFill/>
          <a:ln/>
        </p:spPr>
        <p:txBody>
          <a:bodyPr wrap="square" lIns="0" tIns="0" rIns="0" bIns="0" rtlCol="0" anchor="ctr"/>
          <a:lstStyle/>
          <a:p>
            <a:pPr indent="0" marL="0">
              <a:buNone/>
            </a:pPr>
            <a:r>
              <a:rPr lang="en-US" sz="2300" b="1" dirty="0">
                <a:solidFill>
                  <a:srgbClr val="1B2A4A"/>
                </a:solidFill>
                <a:latin typeface="Georgia" pitchFamily="34" charset="0"/>
                <a:ea typeface="Georgia" pitchFamily="34" charset="-122"/>
                <a:cs typeface="Georgia" pitchFamily="34" charset="-120"/>
              </a:rPr>
              <a:t>The big choices — what we weighed, and why we landed where we did</a:t>
            </a:r>
            <a:endParaRPr lang="en-US" sz="2300" dirty="0"/>
          </a:p>
        </p:txBody>
      </p:sp>
      <p:sp>
        <p:nvSpPr>
          <p:cNvPr id="7" name="Shape 5"/>
          <p:cNvSpPr/>
          <p:nvPr/>
        </p:nvSpPr>
        <p:spPr>
          <a:xfrm>
            <a:off x="457200" y="1325880"/>
            <a:ext cx="11274552" cy="384048"/>
          </a:xfrm>
          <a:prstGeom prst="rect">
            <a:avLst/>
          </a:prstGeom>
          <a:solidFill>
            <a:srgbClr val="1B2A4A"/>
          </a:solidFill>
          <a:ln/>
        </p:spPr>
      </p:sp>
      <p:sp>
        <p:nvSpPr>
          <p:cNvPr id="8" name="Text 6"/>
          <p:cNvSpPr/>
          <p:nvPr/>
        </p:nvSpPr>
        <p:spPr>
          <a:xfrm>
            <a:off x="594360" y="1325880"/>
            <a:ext cx="2194560"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The decision</a:t>
            </a:r>
            <a:endParaRPr lang="en-US" sz="1150" dirty="0"/>
          </a:p>
        </p:txBody>
      </p:sp>
      <p:sp>
        <p:nvSpPr>
          <p:cNvPr id="9" name="Text 7"/>
          <p:cNvSpPr/>
          <p:nvPr/>
        </p:nvSpPr>
        <p:spPr>
          <a:xfrm>
            <a:off x="2971800" y="1325880"/>
            <a:ext cx="3840480"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we considered</a:t>
            </a:r>
            <a:endParaRPr lang="en-US" sz="1150" dirty="0"/>
          </a:p>
        </p:txBody>
      </p:sp>
      <p:sp>
        <p:nvSpPr>
          <p:cNvPr id="10" name="Text 8"/>
          <p:cNvSpPr/>
          <p:nvPr/>
        </p:nvSpPr>
        <p:spPr>
          <a:xfrm>
            <a:off x="6995160" y="1325880"/>
            <a:ext cx="4690872"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Where we landed — and why</a:t>
            </a:r>
            <a:endParaRPr lang="en-US" sz="1150" dirty="0"/>
          </a:p>
        </p:txBody>
      </p:sp>
      <p:sp>
        <p:nvSpPr>
          <p:cNvPr id="11" name="Shape 9"/>
          <p:cNvSpPr/>
          <p:nvPr/>
        </p:nvSpPr>
        <p:spPr>
          <a:xfrm>
            <a:off x="457200" y="1709928"/>
            <a:ext cx="11274552" cy="548640"/>
          </a:xfrm>
          <a:prstGeom prst="rect">
            <a:avLst/>
          </a:prstGeom>
          <a:solidFill>
            <a:srgbClr val="EFF4FA"/>
          </a:solidFill>
          <a:ln w="9525">
            <a:solidFill>
              <a:srgbClr val="D8E1EC"/>
            </a:solidFill>
            <a:prstDash val="solid"/>
          </a:ln>
        </p:spPr>
      </p:sp>
      <p:sp>
        <p:nvSpPr>
          <p:cNvPr id="12" name="Text 10"/>
          <p:cNvSpPr/>
          <p:nvPr/>
        </p:nvSpPr>
        <p:spPr>
          <a:xfrm>
            <a:off x="594360" y="1709928"/>
            <a:ext cx="2194560" cy="54864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The reasoning engine</a:t>
            </a:r>
            <a:endParaRPr lang="en-US" sz="1100" dirty="0"/>
          </a:p>
        </p:txBody>
      </p:sp>
      <p:sp>
        <p:nvSpPr>
          <p:cNvPr id="13" name="Text 11"/>
          <p:cNvSpPr/>
          <p:nvPr/>
        </p:nvSpPr>
        <p:spPr>
          <a:xfrm>
            <a:off x="2971800" y="1709928"/>
            <a:ext cx="3794760" cy="548640"/>
          </a:xfrm>
          <a:prstGeom prst="rect">
            <a:avLst/>
          </a:prstGeom>
          <a:noFill/>
          <a:ln/>
        </p:spPr>
        <p:txBody>
          <a:bodyPr wrap="square" lIns="0" tIns="0" rIns="0" bIns="0" rtlCol="0" anchor="ctr"/>
          <a:lstStyle/>
          <a:p>
            <a:pPr indent="0" marL="0">
              <a:lnSpc>
                <a:spcPct val="92000"/>
              </a:lnSpc>
              <a:buNone/>
            </a:pPr>
            <a:r>
              <a:rPr lang="en-US" sz="1000" dirty="0">
                <a:solidFill>
                  <a:srgbClr val="475569"/>
                </a:solidFill>
                <a:latin typeface="Calibri" pitchFamily="34" charset="0"/>
                <a:ea typeface="Calibri" pitchFamily="34" charset="-122"/>
                <a:cs typeface="Calibri" pitchFamily="34" charset="-120"/>
              </a:rPr>
              <a:t>in-house NLP / small models  ·  a frontier LLM  ·  a mix</a:t>
            </a:r>
            <a:endParaRPr lang="en-US" sz="1000" dirty="0"/>
          </a:p>
        </p:txBody>
      </p:sp>
      <p:sp>
        <p:nvSpPr>
          <p:cNvPr id="14" name="Text 12"/>
          <p:cNvSpPr/>
          <p:nvPr/>
        </p:nvSpPr>
        <p:spPr>
          <a:xfrm>
            <a:off x="6995160" y="1709928"/>
            <a:ext cx="4645152" cy="548640"/>
          </a:xfrm>
          <a:prstGeom prst="rect">
            <a:avLst/>
          </a:prstGeom>
          <a:noFill/>
          <a:ln/>
        </p:spPr>
        <p:txBody>
          <a:bodyPr wrap="square" lIns="0" tIns="0" rIns="0" bIns="0" rtlCol="0" anchor="ctr"/>
          <a:lstStyle/>
          <a:p>
            <a:pPr indent="0" marL="0">
              <a:lnSpc>
                <a:spcPct val="92000"/>
              </a:lnSpc>
              <a:buNone/>
            </a:pPr>
            <a:r>
              <a:rPr lang="en-US" sz="1000" dirty="0">
                <a:solidFill>
                  <a:srgbClr val="27313F"/>
                </a:solidFill>
                <a:latin typeface="Calibri" pitchFamily="34" charset="0"/>
                <a:ea typeface="Calibri" pitchFamily="34" charset="-122"/>
                <a:cs typeface="Calibri" pitchFamily="34" charset="-120"/>
              </a:rPr>
              <a:t>Frontier Claude now, for accuracy and clean citations — with a clear path to smaller US-region models for cost and latency.</a:t>
            </a:r>
            <a:endParaRPr lang="en-US" sz="1000" dirty="0"/>
          </a:p>
        </p:txBody>
      </p:sp>
      <p:sp>
        <p:nvSpPr>
          <p:cNvPr id="15" name="Shape 13"/>
          <p:cNvSpPr/>
          <p:nvPr/>
        </p:nvSpPr>
        <p:spPr>
          <a:xfrm>
            <a:off x="457200" y="2258568"/>
            <a:ext cx="11274552" cy="548640"/>
          </a:xfrm>
          <a:prstGeom prst="rect">
            <a:avLst/>
          </a:prstGeom>
          <a:solidFill>
            <a:srgbClr val="FFFFFF"/>
          </a:solidFill>
          <a:ln w="9525">
            <a:solidFill>
              <a:srgbClr val="D8E1EC"/>
            </a:solidFill>
            <a:prstDash val="solid"/>
          </a:ln>
        </p:spPr>
      </p:sp>
      <p:sp>
        <p:nvSpPr>
          <p:cNvPr id="16" name="Text 14"/>
          <p:cNvSpPr/>
          <p:nvPr/>
        </p:nvSpPr>
        <p:spPr>
          <a:xfrm>
            <a:off x="594360" y="2258568"/>
            <a:ext cx="2194560" cy="54864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Stopping hallucination</a:t>
            </a:r>
            <a:endParaRPr lang="en-US" sz="1100" dirty="0"/>
          </a:p>
        </p:txBody>
      </p:sp>
      <p:sp>
        <p:nvSpPr>
          <p:cNvPr id="17" name="Text 15"/>
          <p:cNvSpPr/>
          <p:nvPr/>
        </p:nvSpPr>
        <p:spPr>
          <a:xfrm>
            <a:off x="2971800" y="2258568"/>
            <a:ext cx="3794760" cy="548640"/>
          </a:xfrm>
          <a:prstGeom prst="rect">
            <a:avLst/>
          </a:prstGeom>
          <a:noFill/>
          <a:ln/>
        </p:spPr>
        <p:txBody>
          <a:bodyPr wrap="square" lIns="0" tIns="0" rIns="0" bIns="0" rtlCol="0" anchor="ctr"/>
          <a:lstStyle/>
          <a:p>
            <a:pPr indent="0" marL="0">
              <a:lnSpc>
                <a:spcPct val="92000"/>
              </a:lnSpc>
              <a:buNone/>
            </a:pPr>
            <a:r>
              <a:rPr lang="en-US" sz="1000" dirty="0">
                <a:solidFill>
                  <a:srgbClr val="475569"/>
                </a:solidFill>
                <a:latin typeface="Calibri" pitchFamily="34" charset="0"/>
                <a:ea typeface="Calibri" pitchFamily="34" charset="-122"/>
                <a:cs typeface="Calibri" pitchFamily="34" charset="-120"/>
              </a:rPr>
              <a:t>careful prompting  ·  plain RAG  ·  Graph-RAG + rule checks</a:t>
            </a:r>
            <a:endParaRPr lang="en-US" sz="1000" dirty="0"/>
          </a:p>
        </p:txBody>
      </p:sp>
      <p:sp>
        <p:nvSpPr>
          <p:cNvPr id="18" name="Text 16"/>
          <p:cNvSpPr/>
          <p:nvPr/>
        </p:nvSpPr>
        <p:spPr>
          <a:xfrm>
            <a:off x="6995160" y="2258568"/>
            <a:ext cx="4645152" cy="548640"/>
          </a:xfrm>
          <a:prstGeom prst="rect">
            <a:avLst/>
          </a:prstGeom>
          <a:noFill/>
          <a:ln/>
        </p:spPr>
        <p:txBody>
          <a:bodyPr wrap="square" lIns="0" tIns="0" rIns="0" bIns="0" rtlCol="0" anchor="ctr"/>
          <a:lstStyle/>
          <a:p>
            <a:pPr indent="0" marL="0">
              <a:lnSpc>
                <a:spcPct val="92000"/>
              </a:lnSpc>
              <a:buNone/>
            </a:pPr>
            <a:r>
              <a:rPr lang="en-US" sz="1000" dirty="0">
                <a:solidFill>
                  <a:srgbClr val="27313F"/>
                </a:solidFill>
                <a:latin typeface="Calibri" pitchFamily="34" charset="0"/>
                <a:ea typeface="Calibri" pitchFamily="34" charset="-122"/>
                <a:cs typeface="Calibri" pitchFamily="34" charset="-120"/>
              </a:rPr>
              <a:t>Ground it in retrieval and check it with rules. The agent can only use codes it was given — not a prompt we hope holds.</a:t>
            </a:r>
            <a:endParaRPr lang="en-US" sz="1000" dirty="0"/>
          </a:p>
        </p:txBody>
      </p:sp>
      <p:sp>
        <p:nvSpPr>
          <p:cNvPr id="19" name="Shape 17"/>
          <p:cNvSpPr/>
          <p:nvPr/>
        </p:nvSpPr>
        <p:spPr>
          <a:xfrm>
            <a:off x="457200" y="2807208"/>
            <a:ext cx="11274552" cy="548640"/>
          </a:xfrm>
          <a:prstGeom prst="rect">
            <a:avLst/>
          </a:prstGeom>
          <a:solidFill>
            <a:srgbClr val="EFF4FA"/>
          </a:solidFill>
          <a:ln w="9525">
            <a:solidFill>
              <a:srgbClr val="D8E1EC"/>
            </a:solidFill>
            <a:prstDash val="solid"/>
          </a:ln>
        </p:spPr>
      </p:sp>
      <p:sp>
        <p:nvSpPr>
          <p:cNvPr id="20" name="Text 18"/>
          <p:cNvSpPr/>
          <p:nvPr/>
        </p:nvSpPr>
        <p:spPr>
          <a:xfrm>
            <a:off x="594360" y="2807208"/>
            <a:ext cx="2194560" cy="54864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Deciding what to auto-bill</a:t>
            </a:r>
            <a:endParaRPr lang="en-US" sz="1100" dirty="0"/>
          </a:p>
        </p:txBody>
      </p:sp>
      <p:sp>
        <p:nvSpPr>
          <p:cNvPr id="21" name="Text 19"/>
          <p:cNvSpPr/>
          <p:nvPr/>
        </p:nvSpPr>
        <p:spPr>
          <a:xfrm>
            <a:off x="2971800" y="2807208"/>
            <a:ext cx="3794760" cy="548640"/>
          </a:xfrm>
          <a:prstGeom prst="rect">
            <a:avLst/>
          </a:prstGeom>
          <a:noFill/>
          <a:ln/>
        </p:spPr>
        <p:txBody>
          <a:bodyPr wrap="square" lIns="0" tIns="0" rIns="0" bIns="0" rtlCol="0" anchor="ctr"/>
          <a:lstStyle/>
          <a:p>
            <a:pPr indent="0" marL="0">
              <a:lnSpc>
                <a:spcPct val="92000"/>
              </a:lnSpc>
              <a:buNone/>
            </a:pPr>
            <a:r>
              <a:rPr lang="en-US" sz="1000" dirty="0">
                <a:solidFill>
                  <a:srgbClr val="475569"/>
                </a:solidFill>
                <a:latin typeface="Calibri" pitchFamily="34" charset="0"/>
                <a:ea typeface="Calibri" pitchFamily="34" charset="-122"/>
                <a:cs typeface="Calibri" pitchFamily="34" charset="-120"/>
              </a:rPr>
              <a:t>the model's raw % ·  a blended, calibrated score</a:t>
            </a:r>
            <a:endParaRPr lang="en-US" sz="1000" dirty="0"/>
          </a:p>
        </p:txBody>
      </p:sp>
      <p:sp>
        <p:nvSpPr>
          <p:cNvPr id="22" name="Text 20"/>
          <p:cNvSpPr/>
          <p:nvPr/>
        </p:nvSpPr>
        <p:spPr>
          <a:xfrm>
            <a:off x="6995160" y="2807208"/>
            <a:ext cx="4645152" cy="548640"/>
          </a:xfrm>
          <a:prstGeom prst="rect">
            <a:avLst/>
          </a:prstGeom>
          <a:noFill/>
          <a:ln/>
        </p:spPr>
        <p:txBody>
          <a:bodyPr wrap="square" lIns="0" tIns="0" rIns="0" bIns="0" rtlCol="0" anchor="ctr"/>
          <a:lstStyle/>
          <a:p>
            <a:pPr indent="0" marL="0">
              <a:lnSpc>
                <a:spcPct val="92000"/>
              </a:lnSpc>
              <a:buNone/>
            </a:pPr>
            <a:r>
              <a:rPr lang="en-US" sz="1000" dirty="0">
                <a:solidFill>
                  <a:srgbClr val="27313F"/>
                </a:solidFill>
                <a:latin typeface="Calibri" pitchFamily="34" charset="0"/>
                <a:ea typeface="Calibri" pitchFamily="34" charset="-122"/>
                <a:cs typeface="Calibri" pitchFamily="34" charset="-120"/>
              </a:rPr>
              <a:t>A blended score you can trust, so the auto-bill / QA / coder line is one the business actually sets.</a:t>
            </a:r>
            <a:endParaRPr lang="en-US" sz="1000" dirty="0"/>
          </a:p>
        </p:txBody>
      </p:sp>
      <p:sp>
        <p:nvSpPr>
          <p:cNvPr id="23" name="Shape 21"/>
          <p:cNvSpPr/>
          <p:nvPr/>
        </p:nvSpPr>
        <p:spPr>
          <a:xfrm>
            <a:off x="457200" y="3355848"/>
            <a:ext cx="11274552" cy="548640"/>
          </a:xfrm>
          <a:prstGeom prst="rect">
            <a:avLst/>
          </a:prstGeom>
          <a:solidFill>
            <a:srgbClr val="FFFFFF"/>
          </a:solidFill>
          <a:ln w="9525">
            <a:solidFill>
              <a:srgbClr val="D8E1EC"/>
            </a:solidFill>
            <a:prstDash val="solid"/>
          </a:ln>
        </p:spPr>
      </p:sp>
      <p:sp>
        <p:nvSpPr>
          <p:cNvPr id="24" name="Text 22"/>
          <p:cNvSpPr/>
          <p:nvPr/>
        </p:nvSpPr>
        <p:spPr>
          <a:xfrm>
            <a:off x="594360" y="3355848"/>
            <a:ext cx="2194560" cy="54864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Checking the codes</a:t>
            </a:r>
            <a:endParaRPr lang="en-US" sz="1100" dirty="0"/>
          </a:p>
        </p:txBody>
      </p:sp>
      <p:sp>
        <p:nvSpPr>
          <p:cNvPr id="25" name="Text 23"/>
          <p:cNvSpPr/>
          <p:nvPr/>
        </p:nvSpPr>
        <p:spPr>
          <a:xfrm>
            <a:off x="2971800" y="3355848"/>
            <a:ext cx="3794760" cy="548640"/>
          </a:xfrm>
          <a:prstGeom prst="rect">
            <a:avLst/>
          </a:prstGeom>
          <a:noFill/>
          <a:ln/>
        </p:spPr>
        <p:txBody>
          <a:bodyPr wrap="square" lIns="0" tIns="0" rIns="0" bIns="0" rtlCol="0" anchor="ctr"/>
          <a:lstStyle/>
          <a:p>
            <a:pPr indent="0" marL="0">
              <a:lnSpc>
                <a:spcPct val="92000"/>
              </a:lnSpc>
              <a:buNone/>
            </a:pPr>
            <a:r>
              <a:rPr lang="en-US" sz="1000" dirty="0">
                <a:solidFill>
                  <a:srgbClr val="475569"/>
                </a:solidFill>
                <a:latin typeface="Calibri" pitchFamily="34" charset="0"/>
                <a:ea typeface="Calibri" pitchFamily="34" charset="-122"/>
                <a:cs typeface="Calibri" pitchFamily="34" charset="-120"/>
              </a:rPr>
              <a:t>let the model check itself  ·  a real rule engine</a:t>
            </a:r>
            <a:endParaRPr lang="en-US" sz="1000" dirty="0"/>
          </a:p>
        </p:txBody>
      </p:sp>
      <p:sp>
        <p:nvSpPr>
          <p:cNvPr id="26" name="Text 24"/>
          <p:cNvSpPr/>
          <p:nvPr/>
        </p:nvSpPr>
        <p:spPr>
          <a:xfrm>
            <a:off x="6995160" y="3355848"/>
            <a:ext cx="4645152" cy="548640"/>
          </a:xfrm>
          <a:prstGeom prst="rect">
            <a:avLst/>
          </a:prstGeom>
          <a:noFill/>
          <a:ln/>
        </p:spPr>
        <p:txBody>
          <a:bodyPr wrap="square" lIns="0" tIns="0" rIns="0" bIns="0" rtlCol="0" anchor="ctr"/>
          <a:lstStyle/>
          <a:p>
            <a:pPr indent="0" marL="0">
              <a:lnSpc>
                <a:spcPct val="92000"/>
              </a:lnSpc>
              <a:buNone/>
            </a:pPr>
            <a:r>
              <a:rPr lang="en-US" sz="1000" dirty="0">
                <a:solidFill>
                  <a:srgbClr val="27313F"/>
                </a:solidFill>
                <a:latin typeface="Calibri" pitchFamily="34" charset="0"/>
                <a:ea typeface="Calibri" pitchFamily="34" charset="-122"/>
                <a:cs typeface="Calibri" pitchFamily="34" charset="-120"/>
              </a:rPr>
              <a:t>Plain, deterministic rules — NCCI, MUE, modifiers, payer — so every check can be inspected and defended.</a:t>
            </a:r>
            <a:endParaRPr lang="en-US" sz="1000" dirty="0"/>
          </a:p>
        </p:txBody>
      </p:sp>
      <p:sp>
        <p:nvSpPr>
          <p:cNvPr id="27" name="Shape 25"/>
          <p:cNvSpPr/>
          <p:nvPr/>
        </p:nvSpPr>
        <p:spPr>
          <a:xfrm>
            <a:off x="457200" y="3904488"/>
            <a:ext cx="11274552" cy="548640"/>
          </a:xfrm>
          <a:prstGeom prst="rect">
            <a:avLst/>
          </a:prstGeom>
          <a:solidFill>
            <a:srgbClr val="EFF4FA"/>
          </a:solidFill>
          <a:ln w="9525">
            <a:solidFill>
              <a:srgbClr val="D8E1EC"/>
            </a:solidFill>
            <a:prstDash val="solid"/>
          </a:ln>
        </p:spPr>
      </p:sp>
      <p:sp>
        <p:nvSpPr>
          <p:cNvPr id="28" name="Text 26"/>
          <p:cNvSpPr/>
          <p:nvPr/>
        </p:nvSpPr>
        <p:spPr>
          <a:xfrm>
            <a:off x="594360" y="3904488"/>
            <a:ext cx="2194560" cy="54864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Where knowledge lives</a:t>
            </a:r>
            <a:endParaRPr lang="en-US" sz="1100" dirty="0"/>
          </a:p>
        </p:txBody>
      </p:sp>
      <p:sp>
        <p:nvSpPr>
          <p:cNvPr id="29" name="Text 27"/>
          <p:cNvSpPr/>
          <p:nvPr/>
        </p:nvSpPr>
        <p:spPr>
          <a:xfrm>
            <a:off x="2971800" y="3904488"/>
            <a:ext cx="3794760" cy="548640"/>
          </a:xfrm>
          <a:prstGeom prst="rect">
            <a:avLst/>
          </a:prstGeom>
          <a:noFill/>
          <a:ln/>
        </p:spPr>
        <p:txBody>
          <a:bodyPr wrap="square" lIns="0" tIns="0" rIns="0" bIns="0" rtlCol="0" anchor="ctr"/>
          <a:lstStyle/>
          <a:p>
            <a:pPr indent="0" marL="0">
              <a:lnSpc>
                <a:spcPct val="92000"/>
              </a:lnSpc>
              <a:buNone/>
            </a:pPr>
            <a:r>
              <a:rPr lang="en-US" sz="1000" dirty="0">
                <a:solidFill>
                  <a:srgbClr val="475569"/>
                </a:solidFill>
                <a:latin typeface="Calibri" pitchFamily="34" charset="0"/>
                <a:ea typeface="Calibri" pitchFamily="34" charset="-122"/>
                <a:cs typeface="Calibri" pitchFamily="34" charset="-120"/>
              </a:rPr>
              <a:t>a separate vector database  ·  Postgres + pgvector</a:t>
            </a:r>
            <a:endParaRPr lang="en-US" sz="1000" dirty="0"/>
          </a:p>
        </p:txBody>
      </p:sp>
      <p:sp>
        <p:nvSpPr>
          <p:cNvPr id="30" name="Text 28"/>
          <p:cNvSpPr/>
          <p:nvPr/>
        </p:nvSpPr>
        <p:spPr>
          <a:xfrm>
            <a:off x="6995160" y="3904488"/>
            <a:ext cx="4645152" cy="548640"/>
          </a:xfrm>
          <a:prstGeom prst="rect">
            <a:avLst/>
          </a:prstGeom>
          <a:noFill/>
          <a:ln/>
        </p:spPr>
        <p:txBody>
          <a:bodyPr wrap="square" lIns="0" tIns="0" rIns="0" bIns="0" rtlCol="0" anchor="ctr"/>
          <a:lstStyle/>
          <a:p>
            <a:pPr indent="0" marL="0">
              <a:lnSpc>
                <a:spcPct val="92000"/>
              </a:lnSpc>
              <a:buNone/>
            </a:pPr>
            <a:r>
              <a:rPr lang="en-US" sz="1000" dirty="0">
                <a:solidFill>
                  <a:srgbClr val="27313F"/>
                </a:solidFill>
                <a:latin typeface="Calibri" pitchFamily="34" charset="0"/>
                <a:ea typeface="Calibri" pitchFamily="34" charset="-122"/>
                <a:cs typeface="Calibri" pitchFamily="34" charset="-120"/>
              </a:rPr>
              <a:t>One database, fewer moving parts, easier to run — and pgvector is there when we turn on embedding search.</a:t>
            </a:r>
            <a:endParaRPr lang="en-US" sz="1000" dirty="0"/>
          </a:p>
        </p:txBody>
      </p:sp>
      <p:sp>
        <p:nvSpPr>
          <p:cNvPr id="31" name="Shape 29"/>
          <p:cNvSpPr/>
          <p:nvPr/>
        </p:nvSpPr>
        <p:spPr>
          <a:xfrm>
            <a:off x="457200" y="4453128"/>
            <a:ext cx="11274552" cy="548640"/>
          </a:xfrm>
          <a:prstGeom prst="rect">
            <a:avLst/>
          </a:prstGeom>
          <a:solidFill>
            <a:srgbClr val="FFFFFF"/>
          </a:solidFill>
          <a:ln w="9525">
            <a:solidFill>
              <a:srgbClr val="D8E1EC"/>
            </a:solidFill>
            <a:prstDash val="solid"/>
          </a:ln>
        </p:spPr>
      </p:sp>
      <p:sp>
        <p:nvSpPr>
          <p:cNvPr id="32" name="Text 30"/>
          <p:cNvSpPr/>
          <p:nvPr/>
        </p:nvSpPr>
        <p:spPr>
          <a:xfrm>
            <a:off x="594360" y="4453128"/>
            <a:ext cx="2194560" cy="54864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How much to automate</a:t>
            </a:r>
            <a:endParaRPr lang="en-US" sz="1100" dirty="0"/>
          </a:p>
        </p:txBody>
      </p:sp>
      <p:sp>
        <p:nvSpPr>
          <p:cNvPr id="33" name="Text 31"/>
          <p:cNvSpPr/>
          <p:nvPr/>
        </p:nvSpPr>
        <p:spPr>
          <a:xfrm>
            <a:off x="2971800" y="4453128"/>
            <a:ext cx="3794760" cy="548640"/>
          </a:xfrm>
          <a:prstGeom prst="rect">
            <a:avLst/>
          </a:prstGeom>
          <a:noFill/>
          <a:ln/>
        </p:spPr>
        <p:txBody>
          <a:bodyPr wrap="square" lIns="0" tIns="0" rIns="0" bIns="0" rtlCol="0" anchor="ctr"/>
          <a:lstStyle/>
          <a:p>
            <a:pPr indent="0" marL="0">
              <a:lnSpc>
                <a:spcPct val="92000"/>
              </a:lnSpc>
              <a:buNone/>
            </a:pPr>
            <a:r>
              <a:rPr lang="en-US" sz="1000" dirty="0">
                <a:solidFill>
                  <a:srgbClr val="475569"/>
                </a:solidFill>
                <a:latin typeface="Calibri" pitchFamily="34" charset="0"/>
                <a:ea typeface="Calibri" pitchFamily="34" charset="-122"/>
                <a:cs typeface="Calibri" pitchFamily="34" charset="-120"/>
              </a:rPr>
              <a:t>full auto  ·  human-in-the-loop  ·  bounded autonomy</a:t>
            </a:r>
            <a:endParaRPr lang="en-US" sz="1000" dirty="0"/>
          </a:p>
        </p:txBody>
      </p:sp>
      <p:sp>
        <p:nvSpPr>
          <p:cNvPr id="34" name="Text 32"/>
          <p:cNvSpPr/>
          <p:nvPr/>
        </p:nvSpPr>
        <p:spPr>
          <a:xfrm>
            <a:off x="6995160" y="4453128"/>
            <a:ext cx="4645152" cy="548640"/>
          </a:xfrm>
          <a:prstGeom prst="rect">
            <a:avLst/>
          </a:prstGeom>
          <a:noFill/>
          <a:ln/>
        </p:spPr>
        <p:txBody>
          <a:bodyPr wrap="square" lIns="0" tIns="0" rIns="0" bIns="0" rtlCol="0" anchor="ctr"/>
          <a:lstStyle/>
          <a:p>
            <a:pPr indent="0" marL="0">
              <a:lnSpc>
                <a:spcPct val="92000"/>
              </a:lnSpc>
              <a:buNone/>
            </a:pPr>
            <a:r>
              <a:rPr lang="en-US" sz="1000" dirty="0">
                <a:solidFill>
                  <a:srgbClr val="27313F"/>
                </a:solidFill>
                <a:latin typeface="Calibri" pitchFamily="34" charset="0"/>
                <a:ea typeface="Calibri" pitchFamily="34" charset="-122"/>
                <a:cs typeface="Calibri" pitchFamily="34" charset="-120"/>
              </a:rPr>
              <a:t>Automate the easy calls, but keep hard limits that always route the risky ones to a person.</a:t>
            </a:r>
            <a:endParaRPr lang="en-US" sz="1000" dirty="0"/>
          </a:p>
        </p:txBody>
      </p:sp>
      <p:sp>
        <p:nvSpPr>
          <p:cNvPr id="35" name="Shape 33"/>
          <p:cNvSpPr/>
          <p:nvPr/>
        </p:nvSpPr>
        <p:spPr>
          <a:xfrm>
            <a:off x="457200" y="5001768"/>
            <a:ext cx="11274552" cy="548640"/>
          </a:xfrm>
          <a:prstGeom prst="rect">
            <a:avLst/>
          </a:prstGeom>
          <a:solidFill>
            <a:srgbClr val="EFF4FA"/>
          </a:solidFill>
          <a:ln w="9525">
            <a:solidFill>
              <a:srgbClr val="D8E1EC"/>
            </a:solidFill>
            <a:prstDash val="solid"/>
          </a:ln>
        </p:spPr>
      </p:sp>
      <p:sp>
        <p:nvSpPr>
          <p:cNvPr id="36" name="Text 34"/>
          <p:cNvSpPr/>
          <p:nvPr/>
        </p:nvSpPr>
        <p:spPr>
          <a:xfrm>
            <a:off x="594360" y="5001768"/>
            <a:ext cx="2194560" cy="54864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Keeping it configurable</a:t>
            </a:r>
            <a:endParaRPr lang="en-US" sz="1100" dirty="0"/>
          </a:p>
        </p:txBody>
      </p:sp>
      <p:sp>
        <p:nvSpPr>
          <p:cNvPr id="37" name="Text 35"/>
          <p:cNvSpPr/>
          <p:nvPr/>
        </p:nvSpPr>
        <p:spPr>
          <a:xfrm>
            <a:off x="2971800" y="5001768"/>
            <a:ext cx="3794760" cy="548640"/>
          </a:xfrm>
          <a:prstGeom prst="rect">
            <a:avLst/>
          </a:prstGeom>
          <a:noFill/>
          <a:ln/>
        </p:spPr>
        <p:txBody>
          <a:bodyPr wrap="square" lIns="0" tIns="0" rIns="0" bIns="0" rtlCol="0" anchor="ctr"/>
          <a:lstStyle/>
          <a:p>
            <a:pPr indent="0" marL="0">
              <a:lnSpc>
                <a:spcPct val="92000"/>
              </a:lnSpc>
              <a:buNone/>
            </a:pPr>
            <a:r>
              <a:rPr lang="en-US" sz="1000" dirty="0">
                <a:solidFill>
                  <a:srgbClr val="475569"/>
                </a:solidFill>
                <a:latin typeface="Calibri" pitchFamily="34" charset="0"/>
                <a:ea typeface="Calibri" pitchFamily="34" charset="-122"/>
                <a:cs typeface="Calibri" pitchFamily="34" charset="-120"/>
              </a:rPr>
              <a:t>settings baked into code  ·  settings in the database</a:t>
            </a:r>
            <a:endParaRPr lang="en-US" sz="1000" dirty="0"/>
          </a:p>
        </p:txBody>
      </p:sp>
      <p:sp>
        <p:nvSpPr>
          <p:cNvPr id="38" name="Text 36"/>
          <p:cNvSpPr/>
          <p:nvPr/>
        </p:nvSpPr>
        <p:spPr>
          <a:xfrm>
            <a:off x="6995160" y="5001768"/>
            <a:ext cx="4645152" cy="548640"/>
          </a:xfrm>
          <a:prstGeom prst="rect">
            <a:avLst/>
          </a:prstGeom>
          <a:noFill/>
          <a:ln/>
        </p:spPr>
        <p:txBody>
          <a:bodyPr wrap="square" lIns="0" tIns="0" rIns="0" bIns="0" rtlCol="0" anchor="ctr"/>
          <a:lstStyle/>
          <a:p>
            <a:pPr indent="0" marL="0">
              <a:lnSpc>
                <a:spcPct val="92000"/>
              </a:lnSpc>
              <a:buNone/>
            </a:pPr>
            <a:r>
              <a:rPr lang="en-US" sz="1000" dirty="0">
                <a:solidFill>
                  <a:srgbClr val="27313F"/>
                </a:solidFill>
                <a:latin typeface="Calibri" pitchFamily="34" charset="0"/>
                <a:ea typeface="Calibri" pitchFamily="34" charset="-122"/>
                <a:cs typeface="Calibri" pitchFamily="34" charset="-120"/>
              </a:rPr>
              <a:t>Thresholds, rules, SLAs, the knowledge graph and roles all change at runtime — no redeploy, no waiting on us.</a:t>
            </a:r>
            <a:endParaRPr lang="en-US" sz="1000" dirty="0"/>
          </a:p>
        </p:txBody>
      </p:sp>
      <p:sp>
        <p:nvSpPr>
          <p:cNvPr id="39" name="Shape 37"/>
          <p:cNvSpPr/>
          <p:nvPr/>
        </p:nvSpPr>
        <p:spPr>
          <a:xfrm>
            <a:off x="457200" y="5550408"/>
            <a:ext cx="11274552" cy="548640"/>
          </a:xfrm>
          <a:prstGeom prst="rect">
            <a:avLst/>
          </a:prstGeom>
          <a:solidFill>
            <a:srgbClr val="FFFFFF"/>
          </a:solidFill>
          <a:ln w="9525">
            <a:solidFill>
              <a:srgbClr val="D8E1EC"/>
            </a:solidFill>
            <a:prstDash val="solid"/>
          </a:ln>
        </p:spPr>
      </p:sp>
      <p:sp>
        <p:nvSpPr>
          <p:cNvPr id="40" name="Text 38"/>
          <p:cNvSpPr/>
          <p:nvPr/>
        </p:nvSpPr>
        <p:spPr>
          <a:xfrm>
            <a:off x="594360" y="5550408"/>
            <a:ext cx="2194560" cy="54864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Spending on the hard charts</a:t>
            </a:r>
            <a:endParaRPr lang="en-US" sz="1100" dirty="0"/>
          </a:p>
        </p:txBody>
      </p:sp>
      <p:sp>
        <p:nvSpPr>
          <p:cNvPr id="41" name="Text 39"/>
          <p:cNvSpPr/>
          <p:nvPr/>
        </p:nvSpPr>
        <p:spPr>
          <a:xfrm>
            <a:off x="2971800" y="5550408"/>
            <a:ext cx="3794760" cy="548640"/>
          </a:xfrm>
          <a:prstGeom prst="rect">
            <a:avLst/>
          </a:prstGeom>
          <a:noFill/>
          <a:ln/>
        </p:spPr>
        <p:txBody>
          <a:bodyPr wrap="square" lIns="0" tIns="0" rIns="0" bIns="0" rtlCol="0" anchor="ctr"/>
          <a:lstStyle/>
          <a:p>
            <a:pPr indent="0" marL="0">
              <a:lnSpc>
                <a:spcPct val="92000"/>
              </a:lnSpc>
              <a:buNone/>
            </a:pPr>
            <a:r>
              <a:rPr lang="en-US" sz="1000" dirty="0">
                <a:solidFill>
                  <a:srgbClr val="475569"/>
                </a:solidFill>
                <a:latin typeface="Calibri" pitchFamily="34" charset="0"/>
                <a:ea typeface="Calibri" pitchFamily="34" charset="-122"/>
                <a:cs typeface="Calibri" pitchFamily="34" charset="-120"/>
              </a:rPr>
              <a:t>double-check everything  ·  never  ·  only when it's hard</a:t>
            </a:r>
            <a:endParaRPr lang="en-US" sz="1000" dirty="0"/>
          </a:p>
        </p:txBody>
      </p:sp>
      <p:sp>
        <p:nvSpPr>
          <p:cNvPr id="42" name="Text 40"/>
          <p:cNvSpPr/>
          <p:nvPr/>
        </p:nvSpPr>
        <p:spPr>
          <a:xfrm>
            <a:off x="6995160" y="5550408"/>
            <a:ext cx="4645152" cy="548640"/>
          </a:xfrm>
          <a:prstGeom prst="rect">
            <a:avLst/>
          </a:prstGeom>
          <a:noFill/>
          <a:ln/>
        </p:spPr>
        <p:txBody>
          <a:bodyPr wrap="square" lIns="0" tIns="0" rIns="0" bIns="0" rtlCol="0" anchor="ctr"/>
          <a:lstStyle/>
          <a:p>
            <a:pPr indent="0" marL="0">
              <a:lnSpc>
                <a:spcPct val="92000"/>
              </a:lnSpc>
              <a:buNone/>
            </a:pPr>
            <a:r>
              <a:rPr lang="en-US" sz="1000" dirty="0">
                <a:solidFill>
                  <a:srgbClr val="27313F"/>
                </a:solidFill>
                <a:latin typeface="Calibri" pitchFamily="34" charset="0"/>
                <a:ea typeface="Calibri" pitchFamily="34" charset="-122"/>
                <a:cs typeface="Calibri" pitchFamily="34" charset="-120"/>
              </a:rPr>
              <a:t>Spend the extra effort only where it pays off — the ambiguous and multi-procedure charts.</a:t>
            </a:r>
            <a:endParaRPr lang="en-US" sz="1000" dirty="0"/>
          </a:p>
        </p:txBody>
      </p:sp>
      <p:sp>
        <p:nvSpPr>
          <p:cNvPr id="43" name="Shape 41"/>
          <p:cNvSpPr/>
          <p:nvPr/>
        </p:nvSpPr>
        <p:spPr>
          <a:xfrm>
            <a:off x="0" y="6565392"/>
            <a:ext cx="12188952" cy="292608"/>
          </a:xfrm>
          <a:prstGeom prst="rect">
            <a:avLst/>
          </a:prstGeom>
          <a:solidFill>
            <a:srgbClr val="0E1B33"/>
          </a:solidFill>
          <a:ln/>
        </p:spPr>
      </p:sp>
      <p:sp>
        <p:nvSpPr>
          <p:cNvPr id="44" name="Text 42"/>
          <p:cNvSpPr/>
          <p:nvPr/>
        </p:nvSpPr>
        <p:spPr>
          <a:xfrm>
            <a:off x="457200" y="6565392"/>
            <a:ext cx="5486400" cy="292608"/>
          </a:xfrm>
          <a:prstGeom prst="rect">
            <a:avLst/>
          </a:prstGeom>
          <a:noFill/>
          <a:ln/>
        </p:spPr>
        <p:txBody>
          <a:bodyPr wrap="square" lIns="0" tIns="0" rIns="0" bIns="0" rtlCol="0" anchor="ctr"/>
          <a:lstStyle/>
          <a:p>
            <a:pPr indent="0" marL="0">
              <a:buNone/>
            </a:pPr>
            <a:r>
              <a:rPr lang="en-US" sz="850" dirty="0">
                <a:solidFill>
                  <a:srgbClr val="9FB0C7"/>
                </a:solidFill>
                <a:latin typeface="Calibri" pitchFamily="34" charset="0"/>
                <a:ea typeface="Calibri" pitchFamily="34" charset="-122"/>
                <a:cs typeface="Calibri" pitchFamily="34" charset="-120"/>
              </a:rPr>
              <a:t>ACE · Autonomous Coding Engine</a:t>
            </a:r>
            <a:endParaRPr lang="en-US" sz="850" dirty="0"/>
          </a:p>
        </p:txBody>
      </p:sp>
      <p:sp>
        <p:nvSpPr>
          <p:cNvPr id="45" name="Text 43"/>
          <p:cNvSpPr/>
          <p:nvPr/>
        </p:nvSpPr>
        <p:spPr>
          <a:xfrm>
            <a:off x="6245352" y="6565392"/>
            <a:ext cx="5486400" cy="292608"/>
          </a:xfrm>
          <a:prstGeom prst="rect">
            <a:avLst/>
          </a:prstGeom>
          <a:noFill/>
          <a:ln/>
        </p:spPr>
        <p:txBody>
          <a:bodyPr wrap="square" lIns="0" tIns="0" rIns="0" bIns="0" rtlCol="0" anchor="ctr"/>
          <a:lstStyle/>
          <a:p>
            <a:pPr algn="r" indent="0" marL="0">
              <a:buNone/>
            </a:pPr>
            <a:r>
              <a:rPr lang="en-US" sz="850" dirty="0">
                <a:solidFill>
                  <a:srgbClr val="9FB0C7"/>
                </a:solidFill>
                <a:latin typeface="Calibri" pitchFamily="34" charset="0"/>
                <a:ea typeface="Calibri" pitchFamily="34" charset="-122"/>
                <a:cs typeface="Calibri" pitchFamily="34" charset="-120"/>
              </a:rPr>
              <a:t>Nous Infosystems  ·  for Vee Healthtek  ·  Confidential</a:t>
            </a:r>
            <a:endParaRPr lang="en-US" sz="850" dirty="0"/>
          </a:p>
        </p:txBody>
      </p:sp>
      <p:sp>
        <p:nvSpPr>
          <p:cNvPr id="46" name="Text 44"/>
          <p:cNvSpPr/>
          <p:nvPr/>
        </p:nvSpPr>
        <p:spPr>
          <a:xfrm>
            <a:off x="11686032" y="6565392"/>
            <a:ext cx="365760" cy="292608"/>
          </a:xfrm>
          <a:prstGeom prst="rect">
            <a:avLst/>
          </a:prstGeom>
          <a:noFill/>
          <a:ln/>
        </p:spPr>
        <p:txBody>
          <a:bodyPr wrap="square" lIns="0" tIns="0" rIns="0" bIns="0" rtlCol="0" anchor="ctr"/>
          <a:lstStyle/>
          <a:p>
            <a:pPr algn="r" indent="0" marL="0">
              <a:buNone/>
            </a:pPr>
            <a:r>
              <a:rPr lang="en-US" sz="850" b="1" dirty="0">
                <a:solidFill>
                  <a:srgbClr val="13B5A6"/>
                </a:solidFill>
                <a:latin typeface="Calibri" pitchFamily="34" charset="0"/>
                <a:ea typeface="Calibri" pitchFamily="34" charset="-122"/>
                <a:cs typeface="Calibri" pitchFamily="34" charset="-120"/>
              </a:rPr>
              <a:t>13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8FC"/>
        </a:solidFill>
      </p:bgPr>
    </p:bg>
    <p:spTree>
      <p:nvGrpSpPr>
        <p:cNvPr id="1" name=""/>
        <p:cNvGrpSpPr/>
        <p:nvPr/>
      </p:nvGrpSpPr>
      <p:grpSpPr>
        <a:xfrm>
          <a:off x="0" y="0"/>
          <a:ext cx="0" cy="0"/>
          <a:chOff x="0" y="0"/>
          <a:chExt cx="0" cy="0"/>
        </a:xfrm>
      </p:grpSpPr>
      <p:sp>
        <p:nvSpPr>
          <p:cNvPr id="2" name="Shape 0"/>
          <p:cNvSpPr/>
          <p:nvPr/>
        </p:nvSpPr>
        <p:spPr>
          <a:xfrm>
            <a:off x="0" y="0"/>
            <a:ext cx="12188952" cy="1078992"/>
          </a:xfrm>
          <a:prstGeom prst="rect">
            <a:avLst/>
          </a:prstGeom>
          <a:solidFill>
            <a:srgbClr val="FFFFFF"/>
          </a:solidFill>
          <a:ln/>
        </p:spPr>
      </p:sp>
      <p:sp>
        <p:nvSpPr>
          <p:cNvPr id="3" name="Shape 1"/>
          <p:cNvSpPr/>
          <p:nvPr/>
        </p:nvSpPr>
        <p:spPr>
          <a:xfrm>
            <a:off x="0" y="1078992"/>
            <a:ext cx="12188952" cy="27432"/>
          </a:xfrm>
          <a:prstGeom prst="rect">
            <a:avLst/>
          </a:prstGeom>
          <a:solidFill>
            <a:srgbClr val="D8E1EC"/>
          </a:solidFill>
          <a:ln/>
        </p:spPr>
      </p:sp>
      <p:sp>
        <p:nvSpPr>
          <p:cNvPr id="4" name="Shape 2"/>
          <p:cNvSpPr/>
          <p:nvPr/>
        </p:nvSpPr>
        <p:spPr>
          <a:xfrm>
            <a:off x="457200" y="310896"/>
            <a:ext cx="109728" cy="512064"/>
          </a:xfrm>
          <a:prstGeom prst="rect">
            <a:avLst/>
          </a:prstGeom>
          <a:solidFill>
            <a:srgbClr val="13B5A6"/>
          </a:solidFill>
          <a:ln/>
        </p:spPr>
      </p:sp>
      <p:sp>
        <p:nvSpPr>
          <p:cNvPr id="5" name="Text 3"/>
          <p:cNvSpPr/>
          <p:nvPr/>
        </p:nvSpPr>
        <p:spPr>
          <a:xfrm>
            <a:off x="713232" y="274320"/>
            <a:ext cx="10058400" cy="237744"/>
          </a:xfrm>
          <a:prstGeom prst="rect">
            <a:avLst/>
          </a:prstGeom>
          <a:noFill/>
          <a:ln/>
        </p:spPr>
        <p:txBody>
          <a:bodyPr wrap="square" lIns="0" tIns="0" rIns="0" bIns="0" rtlCol="0" anchor="ctr"/>
          <a:lstStyle/>
          <a:p>
            <a:pPr indent="0" marL="0">
              <a:buNone/>
            </a:pPr>
            <a:r>
              <a:rPr lang="en-US" sz="1100" b="1" spc="200" kern="0" dirty="0">
                <a:solidFill>
                  <a:srgbClr val="13B5A6"/>
                </a:solidFill>
                <a:latin typeface="Calibri" pitchFamily="34" charset="0"/>
                <a:ea typeface="Calibri" pitchFamily="34" charset="-122"/>
                <a:cs typeface="Calibri" pitchFamily="34" charset="-120"/>
              </a:rPr>
              <a:t>SECURITY, DEPLOYMENT &amp; DATA</a:t>
            </a:r>
            <a:endParaRPr lang="en-US" sz="1100" dirty="0"/>
          </a:p>
        </p:txBody>
      </p:sp>
      <p:sp>
        <p:nvSpPr>
          <p:cNvPr id="6" name="Text 4"/>
          <p:cNvSpPr/>
          <p:nvPr/>
        </p:nvSpPr>
        <p:spPr>
          <a:xfrm>
            <a:off x="713232" y="475488"/>
            <a:ext cx="11155680" cy="457200"/>
          </a:xfrm>
          <a:prstGeom prst="rect">
            <a:avLst/>
          </a:prstGeom>
          <a:noFill/>
          <a:ln/>
        </p:spPr>
        <p:txBody>
          <a:bodyPr wrap="square" lIns="0" tIns="0" rIns="0" bIns="0" rtlCol="0" anchor="ctr"/>
          <a:lstStyle/>
          <a:p>
            <a:pPr indent="0" marL="0">
              <a:buNone/>
            </a:pPr>
            <a:r>
              <a:rPr lang="en-US" sz="2300" b="1" dirty="0">
                <a:solidFill>
                  <a:srgbClr val="1B2A4A"/>
                </a:solidFill>
                <a:latin typeface="Georgia" pitchFamily="34" charset="0"/>
                <a:ea typeface="Georgia" pitchFamily="34" charset="-122"/>
                <a:cs typeface="Georgia" pitchFamily="34" charset="-120"/>
              </a:rPr>
              <a:t>Where it runs, what it protects, and the licensing reality</a:t>
            </a:r>
            <a:endParaRPr lang="en-US" sz="2300" dirty="0"/>
          </a:p>
        </p:txBody>
      </p:sp>
      <p:sp>
        <p:nvSpPr>
          <p:cNvPr id="7" name="Shape 5"/>
          <p:cNvSpPr/>
          <p:nvPr/>
        </p:nvSpPr>
        <p:spPr>
          <a:xfrm>
            <a:off x="457200" y="1463040"/>
            <a:ext cx="3630168" cy="4023360"/>
          </a:xfrm>
          <a:prstGeom prst="roundRect">
            <a:avLst>
              <a:gd name="adj" fmla="val 1763"/>
            </a:avLst>
          </a:prstGeom>
          <a:solidFill>
            <a:srgbClr val="FFFFFF"/>
          </a:solidFill>
          <a:ln w="12700">
            <a:solidFill>
              <a:srgbClr val="D8E1EC"/>
            </a:solidFill>
            <a:prstDash val="solid"/>
          </a:ln>
          <a:effectLst>
            <a:outerShdw sx="100000" sy="100000" kx="0" ky="0" algn="bl" rotWithShape="0" blurRad="88900" dist="38100" dir="8100000">
              <a:srgbClr val="1B2A4A">
                <a:alpha val="12000"/>
              </a:srgbClr>
            </a:outerShdw>
          </a:effectLst>
        </p:spPr>
      </p:sp>
      <p:sp>
        <p:nvSpPr>
          <p:cNvPr id="8" name="Shape 6"/>
          <p:cNvSpPr/>
          <p:nvPr/>
        </p:nvSpPr>
        <p:spPr>
          <a:xfrm>
            <a:off x="457200" y="1463040"/>
            <a:ext cx="3630168" cy="566928"/>
          </a:xfrm>
          <a:prstGeom prst="rect">
            <a:avLst/>
          </a:prstGeom>
          <a:solidFill>
            <a:srgbClr val="1B2A4A"/>
          </a:solidFill>
          <a:ln/>
        </p:spPr>
      </p:sp>
      <p:sp>
        <p:nvSpPr>
          <p:cNvPr id="9" name="Text 7"/>
          <p:cNvSpPr/>
          <p:nvPr/>
        </p:nvSpPr>
        <p:spPr>
          <a:xfrm>
            <a:off x="640080" y="1463040"/>
            <a:ext cx="3264408" cy="56692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Where it runs</a:t>
            </a:r>
            <a:endParaRPr lang="en-US" sz="1350" dirty="0"/>
          </a:p>
        </p:txBody>
      </p:sp>
      <p:sp>
        <p:nvSpPr>
          <p:cNvPr id="10" name="Shape 8"/>
          <p:cNvSpPr/>
          <p:nvPr/>
        </p:nvSpPr>
        <p:spPr>
          <a:xfrm>
            <a:off x="685800" y="2304288"/>
            <a:ext cx="118872" cy="118872"/>
          </a:xfrm>
          <a:prstGeom prst="ellipse">
            <a:avLst/>
          </a:prstGeom>
          <a:solidFill>
            <a:srgbClr val="1B2A4A"/>
          </a:solidFill>
          <a:ln/>
        </p:spPr>
      </p:sp>
      <p:sp>
        <p:nvSpPr>
          <p:cNvPr id="11" name="Text 9"/>
          <p:cNvSpPr/>
          <p:nvPr/>
        </p:nvSpPr>
        <p:spPr>
          <a:xfrm>
            <a:off x="914400" y="2240280"/>
            <a:ext cx="2971800" cy="713232"/>
          </a:xfrm>
          <a:prstGeom prst="rect">
            <a:avLst/>
          </a:prstGeom>
          <a:noFill/>
          <a:ln/>
        </p:spPr>
        <p:txBody>
          <a:bodyPr wrap="square" lIns="0" tIns="0" rIns="0" bIns="0" rtlCol="0" anchor="t"/>
          <a:lstStyle/>
          <a:p>
            <a:pPr indent="0" marL="0">
              <a:lnSpc>
                <a:spcPct val="98000"/>
              </a:lnSpc>
              <a:buNone/>
            </a:pPr>
            <a:r>
              <a:rPr lang="en-US" sz="1100" dirty="0">
                <a:solidFill>
                  <a:srgbClr val="6B7A8D"/>
                </a:solidFill>
                <a:latin typeface="Calibri" pitchFamily="34" charset="0"/>
                <a:ea typeface="Calibri" pitchFamily="34" charset="-122"/>
                <a:cs typeface="Calibri" pitchFamily="34" charset="-120"/>
              </a:rPr>
              <a:t>Azure + Azure AI Foundry, US-region</a:t>
            </a:r>
            <a:endParaRPr lang="en-US" sz="1100" dirty="0"/>
          </a:p>
        </p:txBody>
      </p:sp>
      <p:sp>
        <p:nvSpPr>
          <p:cNvPr id="12" name="Shape 10"/>
          <p:cNvSpPr/>
          <p:nvPr/>
        </p:nvSpPr>
        <p:spPr>
          <a:xfrm>
            <a:off x="685800" y="3054096"/>
            <a:ext cx="118872" cy="118872"/>
          </a:xfrm>
          <a:prstGeom prst="ellipse">
            <a:avLst/>
          </a:prstGeom>
          <a:solidFill>
            <a:srgbClr val="1B2A4A"/>
          </a:solidFill>
          <a:ln/>
        </p:spPr>
      </p:sp>
      <p:sp>
        <p:nvSpPr>
          <p:cNvPr id="13" name="Text 11"/>
          <p:cNvSpPr/>
          <p:nvPr/>
        </p:nvSpPr>
        <p:spPr>
          <a:xfrm>
            <a:off x="914400" y="2990088"/>
            <a:ext cx="2971800" cy="713232"/>
          </a:xfrm>
          <a:prstGeom prst="rect">
            <a:avLst/>
          </a:prstGeom>
          <a:noFill/>
          <a:ln/>
        </p:spPr>
        <p:txBody>
          <a:bodyPr wrap="square" lIns="0" tIns="0" rIns="0" bIns="0" rtlCol="0" anchor="t"/>
          <a:lstStyle/>
          <a:p>
            <a:pPr indent="0" marL="0">
              <a:lnSpc>
                <a:spcPct val="98000"/>
              </a:lnSpc>
              <a:buNone/>
            </a:pPr>
            <a:r>
              <a:rPr lang="en-US" sz="1100" dirty="0">
                <a:solidFill>
                  <a:srgbClr val="6B7A8D"/>
                </a:solidFill>
                <a:latin typeface="Calibri" pitchFamily="34" charset="0"/>
                <a:ea typeface="Calibri" pitchFamily="34" charset="-122"/>
                <a:cs typeface="Calibri" pitchFamily="34" charset="-120"/>
              </a:rPr>
              <a:t>Multi-tenant, with strict separation between clients</a:t>
            </a:r>
            <a:endParaRPr lang="en-US" sz="1100" dirty="0"/>
          </a:p>
        </p:txBody>
      </p:sp>
      <p:sp>
        <p:nvSpPr>
          <p:cNvPr id="14" name="Shape 12"/>
          <p:cNvSpPr/>
          <p:nvPr/>
        </p:nvSpPr>
        <p:spPr>
          <a:xfrm>
            <a:off x="685800" y="3803904"/>
            <a:ext cx="118872" cy="118872"/>
          </a:xfrm>
          <a:prstGeom prst="ellipse">
            <a:avLst/>
          </a:prstGeom>
          <a:solidFill>
            <a:srgbClr val="1B2A4A"/>
          </a:solidFill>
          <a:ln/>
        </p:spPr>
      </p:sp>
      <p:sp>
        <p:nvSpPr>
          <p:cNvPr id="15" name="Text 13"/>
          <p:cNvSpPr/>
          <p:nvPr/>
        </p:nvSpPr>
        <p:spPr>
          <a:xfrm>
            <a:off x="914400" y="3739896"/>
            <a:ext cx="2971800" cy="713232"/>
          </a:xfrm>
          <a:prstGeom prst="rect">
            <a:avLst/>
          </a:prstGeom>
          <a:noFill/>
          <a:ln/>
        </p:spPr>
        <p:txBody>
          <a:bodyPr wrap="square" lIns="0" tIns="0" rIns="0" bIns="0" rtlCol="0" anchor="t"/>
          <a:lstStyle/>
          <a:p>
            <a:pPr indent="0" marL="0">
              <a:lnSpc>
                <a:spcPct val="98000"/>
              </a:lnSpc>
              <a:buNone/>
            </a:pPr>
            <a:r>
              <a:rPr lang="en-US" sz="1100" dirty="0">
                <a:solidFill>
                  <a:srgbClr val="6B7A8D"/>
                </a:solidFill>
                <a:latin typeface="Calibri" pitchFamily="34" charset="0"/>
                <a:ea typeface="Calibri" pitchFamily="34" charset="-122"/>
                <a:cs typeface="Calibri" pitchFamily="34" charset="-120"/>
              </a:rPr>
              <a:t>Docker today → AKS / container apps in the cloud</a:t>
            </a:r>
            <a:endParaRPr lang="en-US" sz="1100" dirty="0"/>
          </a:p>
        </p:txBody>
      </p:sp>
      <p:sp>
        <p:nvSpPr>
          <p:cNvPr id="16" name="Shape 14"/>
          <p:cNvSpPr/>
          <p:nvPr/>
        </p:nvSpPr>
        <p:spPr>
          <a:xfrm>
            <a:off x="685800" y="4553712"/>
            <a:ext cx="118872" cy="118872"/>
          </a:xfrm>
          <a:prstGeom prst="ellipse">
            <a:avLst/>
          </a:prstGeom>
          <a:solidFill>
            <a:srgbClr val="1B2A4A"/>
          </a:solidFill>
          <a:ln/>
        </p:spPr>
      </p:sp>
      <p:sp>
        <p:nvSpPr>
          <p:cNvPr id="17" name="Text 15"/>
          <p:cNvSpPr/>
          <p:nvPr/>
        </p:nvSpPr>
        <p:spPr>
          <a:xfrm>
            <a:off x="914400" y="4489704"/>
            <a:ext cx="2971800" cy="713232"/>
          </a:xfrm>
          <a:prstGeom prst="rect">
            <a:avLst/>
          </a:prstGeom>
          <a:noFill/>
          <a:ln/>
        </p:spPr>
        <p:txBody>
          <a:bodyPr wrap="square" lIns="0" tIns="0" rIns="0" bIns="0" rtlCol="0" anchor="t"/>
          <a:lstStyle/>
          <a:p>
            <a:pPr indent="0" marL="0">
              <a:lnSpc>
                <a:spcPct val="98000"/>
              </a:lnSpc>
              <a:buNone/>
            </a:pPr>
            <a:r>
              <a:rPr lang="en-US" sz="1100" dirty="0">
                <a:solidFill>
                  <a:srgbClr val="6B7A8D"/>
                </a:solidFill>
                <a:latin typeface="Calibri" pitchFamily="34" charset="0"/>
                <a:ea typeface="Calibri" pitchFamily="34" charset="-122"/>
                <a:cs typeface="Calibri" pitchFamily="34" charset="-120"/>
              </a:rPr>
              <a:t>A path to smaller in-region models for cost &amp; residency</a:t>
            </a:r>
            <a:endParaRPr lang="en-US" sz="1100" dirty="0"/>
          </a:p>
        </p:txBody>
      </p:sp>
      <p:sp>
        <p:nvSpPr>
          <p:cNvPr id="18" name="Shape 16"/>
          <p:cNvSpPr/>
          <p:nvPr/>
        </p:nvSpPr>
        <p:spPr>
          <a:xfrm>
            <a:off x="4279392" y="1463040"/>
            <a:ext cx="3630168" cy="4023360"/>
          </a:xfrm>
          <a:prstGeom prst="roundRect">
            <a:avLst>
              <a:gd name="adj" fmla="val 1763"/>
            </a:avLst>
          </a:prstGeom>
          <a:solidFill>
            <a:srgbClr val="FFFFFF"/>
          </a:solidFill>
          <a:ln w="12700">
            <a:solidFill>
              <a:srgbClr val="D8E1EC"/>
            </a:solidFill>
            <a:prstDash val="solid"/>
          </a:ln>
          <a:effectLst>
            <a:outerShdw sx="100000" sy="100000" kx="0" ky="0" algn="bl" rotWithShape="0" blurRad="88900" dist="38100" dir="8100000">
              <a:srgbClr val="1B2A4A">
                <a:alpha val="12000"/>
              </a:srgbClr>
            </a:outerShdw>
          </a:effectLst>
        </p:spPr>
      </p:sp>
      <p:sp>
        <p:nvSpPr>
          <p:cNvPr id="19" name="Shape 17"/>
          <p:cNvSpPr/>
          <p:nvPr/>
        </p:nvSpPr>
        <p:spPr>
          <a:xfrm>
            <a:off x="4279392" y="1463040"/>
            <a:ext cx="3630168" cy="566928"/>
          </a:xfrm>
          <a:prstGeom prst="rect">
            <a:avLst/>
          </a:prstGeom>
          <a:solidFill>
            <a:srgbClr val="0E8C81"/>
          </a:solidFill>
          <a:ln/>
        </p:spPr>
      </p:sp>
      <p:sp>
        <p:nvSpPr>
          <p:cNvPr id="20" name="Text 18"/>
          <p:cNvSpPr/>
          <p:nvPr/>
        </p:nvSpPr>
        <p:spPr>
          <a:xfrm>
            <a:off x="4462272" y="1463040"/>
            <a:ext cx="3264408" cy="56692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What it protects</a:t>
            </a:r>
            <a:endParaRPr lang="en-US" sz="1350" dirty="0"/>
          </a:p>
        </p:txBody>
      </p:sp>
      <p:sp>
        <p:nvSpPr>
          <p:cNvPr id="21" name="Shape 19"/>
          <p:cNvSpPr/>
          <p:nvPr/>
        </p:nvSpPr>
        <p:spPr>
          <a:xfrm>
            <a:off x="4507992" y="2304288"/>
            <a:ext cx="118872" cy="118872"/>
          </a:xfrm>
          <a:prstGeom prst="ellipse">
            <a:avLst/>
          </a:prstGeom>
          <a:solidFill>
            <a:srgbClr val="0E8C81"/>
          </a:solidFill>
          <a:ln/>
        </p:spPr>
      </p:sp>
      <p:sp>
        <p:nvSpPr>
          <p:cNvPr id="22" name="Text 20"/>
          <p:cNvSpPr/>
          <p:nvPr/>
        </p:nvSpPr>
        <p:spPr>
          <a:xfrm>
            <a:off x="4736592" y="2240280"/>
            <a:ext cx="2971800" cy="713232"/>
          </a:xfrm>
          <a:prstGeom prst="rect">
            <a:avLst/>
          </a:prstGeom>
          <a:noFill/>
          <a:ln/>
        </p:spPr>
        <p:txBody>
          <a:bodyPr wrap="square" lIns="0" tIns="0" rIns="0" bIns="0" rtlCol="0" anchor="t"/>
          <a:lstStyle/>
          <a:p>
            <a:pPr indent="0" marL="0">
              <a:lnSpc>
                <a:spcPct val="98000"/>
              </a:lnSpc>
              <a:buNone/>
            </a:pPr>
            <a:r>
              <a:rPr lang="en-US" sz="1100" dirty="0">
                <a:solidFill>
                  <a:srgbClr val="6B7A8D"/>
                </a:solidFill>
                <a:latin typeface="Calibri" pitchFamily="34" charset="0"/>
                <a:ea typeface="Calibri" pitchFamily="34" charset="-122"/>
                <a:cs typeface="Calibri" pitchFamily="34" charset="-120"/>
              </a:rPr>
              <a:t>Demo data is synthetic — no real patient information</a:t>
            </a:r>
            <a:endParaRPr lang="en-US" sz="1100" dirty="0"/>
          </a:p>
        </p:txBody>
      </p:sp>
      <p:sp>
        <p:nvSpPr>
          <p:cNvPr id="23" name="Shape 21"/>
          <p:cNvSpPr/>
          <p:nvPr/>
        </p:nvSpPr>
        <p:spPr>
          <a:xfrm>
            <a:off x="4507992" y="3054096"/>
            <a:ext cx="118872" cy="118872"/>
          </a:xfrm>
          <a:prstGeom prst="ellipse">
            <a:avLst/>
          </a:prstGeom>
          <a:solidFill>
            <a:srgbClr val="0E8C81"/>
          </a:solidFill>
          <a:ln/>
        </p:spPr>
      </p:sp>
      <p:sp>
        <p:nvSpPr>
          <p:cNvPr id="24" name="Text 22"/>
          <p:cNvSpPr/>
          <p:nvPr/>
        </p:nvSpPr>
        <p:spPr>
          <a:xfrm>
            <a:off x="4736592" y="2990088"/>
            <a:ext cx="2971800" cy="713232"/>
          </a:xfrm>
          <a:prstGeom prst="rect">
            <a:avLst/>
          </a:prstGeom>
          <a:noFill/>
          <a:ln/>
        </p:spPr>
        <p:txBody>
          <a:bodyPr wrap="square" lIns="0" tIns="0" rIns="0" bIns="0" rtlCol="0" anchor="t"/>
          <a:lstStyle/>
          <a:p>
            <a:pPr indent="0" marL="0">
              <a:lnSpc>
                <a:spcPct val="98000"/>
              </a:lnSpc>
              <a:buNone/>
            </a:pPr>
            <a:r>
              <a:rPr lang="en-US" sz="1100" dirty="0">
                <a:solidFill>
                  <a:srgbClr val="6B7A8D"/>
                </a:solidFill>
                <a:latin typeface="Calibri" pitchFamily="34" charset="0"/>
                <a:ea typeface="Calibri" pitchFamily="34" charset="-122"/>
                <a:cs typeface="Calibri" pitchFamily="34" charset="-120"/>
              </a:rPr>
              <a:t>One secret (the model key), kept out of source control</a:t>
            </a:r>
            <a:endParaRPr lang="en-US" sz="1100" dirty="0"/>
          </a:p>
        </p:txBody>
      </p:sp>
      <p:sp>
        <p:nvSpPr>
          <p:cNvPr id="25" name="Shape 23"/>
          <p:cNvSpPr/>
          <p:nvPr/>
        </p:nvSpPr>
        <p:spPr>
          <a:xfrm>
            <a:off x="4507992" y="3803904"/>
            <a:ext cx="118872" cy="118872"/>
          </a:xfrm>
          <a:prstGeom prst="ellipse">
            <a:avLst/>
          </a:prstGeom>
          <a:solidFill>
            <a:srgbClr val="0E8C81"/>
          </a:solidFill>
          <a:ln/>
        </p:spPr>
      </p:sp>
      <p:sp>
        <p:nvSpPr>
          <p:cNvPr id="26" name="Text 24"/>
          <p:cNvSpPr/>
          <p:nvPr/>
        </p:nvSpPr>
        <p:spPr>
          <a:xfrm>
            <a:off x="4736592" y="3739896"/>
            <a:ext cx="2971800" cy="713232"/>
          </a:xfrm>
          <a:prstGeom prst="rect">
            <a:avLst/>
          </a:prstGeom>
          <a:noFill/>
          <a:ln/>
        </p:spPr>
        <p:txBody>
          <a:bodyPr wrap="square" lIns="0" tIns="0" rIns="0" bIns="0" rtlCol="0" anchor="t"/>
          <a:lstStyle/>
          <a:p>
            <a:pPr indent="0" marL="0">
              <a:lnSpc>
                <a:spcPct val="98000"/>
              </a:lnSpc>
              <a:buNone/>
            </a:pPr>
            <a:r>
              <a:rPr lang="en-US" sz="1100" dirty="0">
                <a:solidFill>
                  <a:srgbClr val="6B7A8D"/>
                </a:solidFill>
                <a:latin typeface="Calibri" pitchFamily="34" charset="0"/>
                <a:ea typeface="Calibri" pitchFamily="34" charset="-122"/>
                <a:cs typeface="Calibri" pitchFamily="34" charset="-120"/>
              </a:rPr>
              <a:t>A full audit trail and an admin change log</a:t>
            </a:r>
            <a:endParaRPr lang="en-US" sz="1100" dirty="0"/>
          </a:p>
        </p:txBody>
      </p:sp>
      <p:sp>
        <p:nvSpPr>
          <p:cNvPr id="27" name="Shape 25"/>
          <p:cNvSpPr/>
          <p:nvPr/>
        </p:nvSpPr>
        <p:spPr>
          <a:xfrm>
            <a:off x="4507992" y="4553712"/>
            <a:ext cx="118872" cy="118872"/>
          </a:xfrm>
          <a:prstGeom prst="ellipse">
            <a:avLst/>
          </a:prstGeom>
          <a:solidFill>
            <a:srgbClr val="0E8C81"/>
          </a:solidFill>
          <a:ln/>
        </p:spPr>
      </p:sp>
      <p:sp>
        <p:nvSpPr>
          <p:cNvPr id="28" name="Text 26"/>
          <p:cNvSpPr/>
          <p:nvPr/>
        </p:nvSpPr>
        <p:spPr>
          <a:xfrm>
            <a:off x="4736592" y="4489704"/>
            <a:ext cx="2971800" cy="713232"/>
          </a:xfrm>
          <a:prstGeom prst="rect">
            <a:avLst/>
          </a:prstGeom>
          <a:noFill/>
          <a:ln/>
        </p:spPr>
        <p:txBody>
          <a:bodyPr wrap="square" lIns="0" tIns="0" rIns="0" bIns="0" rtlCol="0" anchor="t"/>
          <a:lstStyle/>
          <a:p>
            <a:pPr indent="0" marL="0">
              <a:lnSpc>
                <a:spcPct val="98000"/>
              </a:lnSpc>
              <a:buNone/>
            </a:pPr>
            <a:r>
              <a:rPr lang="en-US" sz="1100" dirty="0">
                <a:solidFill>
                  <a:srgbClr val="6B7A8D"/>
                </a:solidFill>
                <a:latin typeface="Calibri" pitchFamily="34" charset="0"/>
                <a:ea typeface="Calibri" pitchFamily="34" charset="-122"/>
                <a:cs typeface="Calibri" pitchFamily="34" charset="-120"/>
              </a:rPr>
              <a:t>SOC 2 controls and encryption at deployment</a:t>
            </a:r>
            <a:endParaRPr lang="en-US" sz="1100" dirty="0"/>
          </a:p>
        </p:txBody>
      </p:sp>
      <p:sp>
        <p:nvSpPr>
          <p:cNvPr id="29" name="Shape 27"/>
          <p:cNvSpPr/>
          <p:nvPr/>
        </p:nvSpPr>
        <p:spPr>
          <a:xfrm>
            <a:off x="8101584" y="1463040"/>
            <a:ext cx="3630168" cy="4023360"/>
          </a:xfrm>
          <a:prstGeom prst="roundRect">
            <a:avLst>
              <a:gd name="adj" fmla="val 1763"/>
            </a:avLst>
          </a:prstGeom>
          <a:solidFill>
            <a:srgbClr val="FFFFFF"/>
          </a:solidFill>
          <a:ln w="12700">
            <a:solidFill>
              <a:srgbClr val="D8E1EC"/>
            </a:solidFill>
            <a:prstDash val="solid"/>
          </a:ln>
          <a:effectLst>
            <a:outerShdw sx="100000" sy="100000" kx="0" ky="0" algn="bl" rotWithShape="0" blurRad="88900" dist="38100" dir="8100000">
              <a:srgbClr val="1B2A4A">
                <a:alpha val="12000"/>
              </a:srgbClr>
            </a:outerShdw>
          </a:effectLst>
        </p:spPr>
      </p:sp>
      <p:sp>
        <p:nvSpPr>
          <p:cNvPr id="30" name="Shape 28"/>
          <p:cNvSpPr/>
          <p:nvPr/>
        </p:nvSpPr>
        <p:spPr>
          <a:xfrm>
            <a:off x="8101584" y="1463040"/>
            <a:ext cx="3630168" cy="566928"/>
          </a:xfrm>
          <a:prstGeom prst="rect">
            <a:avLst/>
          </a:prstGeom>
          <a:solidFill>
            <a:srgbClr val="13B5A6"/>
          </a:solidFill>
          <a:ln/>
        </p:spPr>
      </p:sp>
      <p:sp>
        <p:nvSpPr>
          <p:cNvPr id="31" name="Text 29"/>
          <p:cNvSpPr/>
          <p:nvPr/>
        </p:nvSpPr>
        <p:spPr>
          <a:xfrm>
            <a:off x="8284464" y="1463040"/>
            <a:ext cx="3264408" cy="56692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The licensing reality</a:t>
            </a:r>
            <a:endParaRPr lang="en-US" sz="1350" dirty="0"/>
          </a:p>
        </p:txBody>
      </p:sp>
      <p:sp>
        <p:nvSpPr>
          <p:cNvPr id="32" name="Shape 30"/>
          <p:cNvSpPr/>
          <p:nvPr/>
        </p:nvSpPr>
        <p:spPr>
          <a:xfrm>
            <a:off x="8330184" y="2304288"/>
            <a:ext cx="118872" cy="118872"/>
          </a:xfrm>
          <a:prstGeom prst="ellipse">
            <a:avLst/>
          </a:prstGeom>
          <a:solidFill>
            <a:srgbClr val="13B5A6"/>
          </a:solidFill>
          <a:ln/>
        </p:spPr>
      </p:sp>
      <p:sp>
        <p:nvSpPr>
          <p:cNvPr id="33" name="Text 31"/>
          <p:cNvSpPr/>
          <p:nvPr/>
        </p:nvSpPr>
        <p:spPr>
          <a:xfrm>
            <a:off x="8558784" y="2240280"/>
            <a:ext cx="2971800" cy="713232"/>
          </a:xfrm>
          <a:prstGeom prst="rect">
            <a:avLst/>
          </a:prstGeom>
          <a:noFill/>
          <a:ln/>
        </p:spPr>
        <p:txBody>
          <a:bodyPr wrap="square" lIns="0" tIns="0" rIns="0" bIns="0" rtlCol="0" anchor="t"/>
          <a:lstStyle/>
          <a:p>
            <a:pPr indent="0" marL="0">
              <a:lnSpc>
                <a:spcPct val="98000"/>
              </a:lnSpc>
              <a:buNone/>
            </a:pPr>
            <a:r>
              <a:rPr lang="en-US" sz="1100" dirty="0">
                <a:solidFill>
                  <a:srgbClr val="6B7A8D"/>
                </a:solidFill>
                <a:latin typeface="Calibri" pitchFamily="34" charset="0"/>
                <a:ea typeface="Calibri" pitchFamily="34" charset="-122"/>
                <a:cs typeface="Calibri" pitchFamily="34" charset="-120"/>
              </a:rPr>
              <a:t>Public now: ICD-10-CM, HCPCS, NCCI, MUE, guidelines</a:t>
            </a:r>
            <a:endParaRPr lang="en-US" sz="1100" dirty="0"/>
          </a:p>
        </p:txBody>
      </p:sp>
      <p:sp>
        <p:nvSpPr>
          <p:cNvPr id="34" name="Shape 32"/>
          <p:cNvSpPr/>
          <p:nvPr/>
        </p:nvSpPr>
        <p:spPr>
          <a:xfrm>
            <a:off x="8330184" y="3054096"/>
            <a:ext cx="118872" cy="118872"/>
          </a:xfrm>
          <a:prstGeom prst="ellipse">
            <a:avLst/>
          </a:prstGeom>
          <a:solidFill>
            <a:srgbClr val="13B5A6"/>
          </a:solidFill>
          <a:ln/>
        </p:spPr>
      </p:sp>
      <p:sp>
        <p:nvSpPr>
          <p:cNvPr id="35" name="Text 33"/>
          <p:cNvSpPr/>
          <p:nvPr/>
        </p:nvSpPr>
        <p:spPr>
          <a:xfrm>
            <a:off x="8558784" y="2990088"/>
            <a:ext cx="2971800" cy="713232"/>
          </a:xfrm>
          <a:prstGeom prst="rect">
            <a:avLst/>
          </a:prstGeom>
          <a:noFill/>
          <a:ln/>
        </p:spPr>
        <p:txBody>
          <a:bodyPr wrap="square" lIns="0" tIns="0" rIns="0" bIns="0" rtlCol="0" anchor="t"/>
          <a:lstStyle/>
          <a:p>
            <a:pPr indent="0" marL="0">
              <a:lnSpc>
                <a:spcPct val="98000"/>
              </a:lnSpc>
              <a:buNone/>
            </a:pPr>
            <a:r>
              <a:rPr lang="en-US" sz="1100" dirty="0">
                <a:solidFill>
                  <a:srgbClr val="6B7A8D"/>
                </a:solidFill>
                <a:latin typeface="Calibri" pitchFamily="34" charset="0"/>
                <a:ea typeface="Calibri" pitchFamily="34" charset="-122"/>
                <a:cs typeface="Calibri" pitchFamily="34" charset="-120"/>
              </a:rPr>
              <a:t>CPT (AMA) is a placeholder → your licence in production</a:t>
            </a:r>
            <a:endParaRPr lang="en-US" sz="1100" dirty="0"/>
          </a:p>
        </p:txBody>
      </p:sp>
      <p:sp>
        <p:nvSpPr>
          <p:cNvPr id="36" name="Shape 34"/>
          <p:cNvSpPr/>
          <p:nvPr/>
        </p:nvSpPr>
        <p:spPr>
          <a:xfrm>
            <a:off x="8330184" y="3803904"/>
            <a:ext cx="118872" cy="118872"/>
          </a:xfrm>
          <a:prstGeom prst="ellipse">
            <a:avLst/>
          </a:prstGeom>
          <a:solidFill>
            <a:srgbClr val="13B5A6"/>
          </a:solidFill>
          <a:ln/>
        </p:spPr>
      </p:sp>
      <p:sp>
        <p:nvSpPr>
          <p:cNvPr id="37" name="Text 35"/>
          <p:cNvSpPr/>
          <p:nvPr/>
        </p:nvSpPr>
        <p:spPr>
          <a:xfrm>
            <a:off x="8558784" y="3739896"/>
            <a:ext cx="2971800" cy="713232"/>
          </a:xfrm>
          <a:prstGeom prst="rect">
            <a:avLst/>
          </a:prstGeom>
          <a:noFill/>
          <a:ln/>
        </p:spPr>
        <p:txBody>
          <a:bodyPr wrap="square" lIns="0" tIns="0" rIns="0" bIns="0" rtlCol="0" anchor="t"/>
          <a:lstStyle/>
          <a:p>
            <a:pPr indent="0" marL="0">
              <a:lnSpc>
                <a:spcPct val="98000"/>
              </a:lnSpc>
              <a:buNone/>
            </a:pPr>
            <a:r>
              <a:rPr lang="en-US" sz="1100" dirty="0">
                <a:solidFill>
                  <a:srgbClr val="6B7A8D"/>
                </a:solidFill>
                <a:latin typeface="Calibri" pitchFamily="34" charset="0"/>
                <a:ea typeface="Calibri" pitchFamily="34" charset="-122"/>
                <a:cs typeface="Calibri" pitchFamily="34" charset="-120"/>
              </a:rPr>
              <a:t>Ontology: a demo set → licensed SNOMED CT / UMLS</a:t>
            </a:r>
            <a:endParaRPr lang="en-US" sz="1100" dirty="0"/>
          </a:p>
        </p:txBody>
      </p:sp>
      <p:sp>
        <p:nvSpPr>
          <p:cNvPr id="38" name="Shape 36"/>
          <p:cNvSpPr/>
          <p:nvPr/>
        </p:nvSpPr>
        <p:spPr>
          <a:xfrm>
            <a:off x="8330184" y="4553712"/>
            <a:ext cx="118872" cy="118872"/>
          </a:xfrm>
          <a:prstGeom prst="ellipse">
            <a:avLst/>
          </a:prstGeom>
          <a:solidFill>
            <a:srgbClr val="13B5A6"/>
          </a:solidFill>
          <a:ln/>
        </p:spPr>
      </p:sp>
      <p:sp>
        <p:nvSpPr>
          <p:cNvPr id="39" name="Text 37"/>
          <p:cNvSpPr/>
          <p:nvPr/>
        </p:nvSpPr>
        <p:spPr>
          <a:xfrm>
            <a:off x="8558784" y="4489704"/>
            <a:ext cx="2971800" cy="713232"/>
          </a:xfrm>
          <a:prstGeom prst="rect">
            <a:avLst/>
          </a:prstGeom>
          <a:noFill/>
          <a:ln/>
        </p:spPr>
        <p:txBody>
          <a:bodyPr wrap="square" lIns="0" tIns="0" rIns="0" bIns="0" rtlCol="0" anchor="t"/>
          <a:lstStyle/>
          <a:p>
            <a:pPr indent="0" marL="0">
              <a:lnSpc>
                <a:spcPct val="98000"/>
              </a:lnSpc>
              <a:buNone/>
            </a:pPr>
            <a:r>
              <a:rPr lang="en-US" sz="1100" dirty="0">
                <a:solidFill>
                  <a:srgbClr val="6B7A8D"/>
                </a:solidFill>
                <a:latin typeface="Calibri" pitchFamily="34" charset="0"/>
                <a:ea typeface="Calibri" pitchFamily="34" charset="-122"/>
                <a:cs typeface="Calibri" pitchFamily="34" charset="-120"/>
              </a:rPr>
              <a:t>Same shapes throughout — it's a swap, not a rebuild</a:t>
            </a:r>
            <a:endParaRPr lang="en-US" sz="1100" dirty="0"/>
          </a:p>
        </p:txBody>
      </p:sp>
      <p:sp>
        <p:nvSpPr>
          <p:cNvPr id="40" name="Shape 38"/>
          <p:cNvSpPr/>
          <p:nvPr/>
        </p:nvSpPr>
        <p:spPr>
          <a:xfrm>
            <a:off x="457200" y="5623560"/>
            <a:ext cx="11274552" cy="685800"/>
          </a:xfrm>
          <a:prstGeom prst="roundRect">
            <a:avLst>
              <a:gd name="adj" fmla="val 8000"/>
            </a:avLst>
          </a:prstGeom>
          <a:solidFill>
            <a:srgbClr val="EAF1F8"/>
          </a:solidFill>
          <a:ln/>
        </p:spPr>
      </p:sp>
      <p:sp>
        <p:nvSpPr>
          <p:cNvPr id="41" name="Text 39"/>
          <p:cNvSpPr/>
          <p:nvPr/>
        </p:nvSpPr>
        <p:spPr>
          <a:xfrm>
            <a:off x="685800" y="5623560"/>
            <a:ext cx="10881360" cy="685800"/>
          </a:xfrm>
          <a:prstGeom prst="rect">
            <a:avLst/>
          </a:prstGeom>
          <a:noFill/>
          <a:ln/>
        </p:spPr>
        <p:txBody>
          <a:bodyPr wrap="square" lIns="0" tIns="0" rIns="0" bIns="0" rtlCol="0" anchor="ctr"/>
          <a:lstStyle/>
          <a:p>
            <a:pPr indent="0" marL="0">
              <a:lnSpc>
                <a:spcPct val="98000"/>
              </a:lnSpc>
              <a:buNone/>
            </a:pPr>
            <a:r>
              <a:rPr lang="en-US" sz="1100" b="1" dirty="0">
                <a:solidFill>
                  <a:srgbClr val="1B2A4A"/>
                </a:solidFill>
                <a:latin typeface="Calibri" pitchFamily="34" charset="0"/>
                <a:ea typeface="Calibri" pitchFamily="34" charset="-122"/>
                <a:cs typeface="Calibri" pitchFamily="34" charset="-120"/>
              </a:rPr>
              <a:t>Straight about what's demo-scale:  </a:t>
            </a:r>
            <a:pPr indent="0" marL="0">
              <a:lnSpc>
                <a:spcPct val="98000"/>
              </a:lnSpc>
              <a:buNone/>
            </a:pPr>
            <a:r>
              <a:rPr lang="en-US" sz="1100" dirty="0">
                <a:solidFill>
                  <a:srgbClr val="27313F"/>
                </a:solidFill>
                <a:latin typeface="Calibri" pitchFamily="34" charset="0"/>
                <a:ea typeface="Calibri" pitchFamily="34" charset="-122"/>
                <a:cs typeface="Calibri" pitchFamily="34" charset="-120"/>
              </a:rPr>
              <a:t>the mechanisms are real; the volume of gold charts, the model retraining and denial-prevention grow after the demo. Nothing is faked, and if the model isn't available it routes to a person rather than guess.</a:t>
            </a:r>
            <a:endParaRPr lang="en-US" sz="1100" dirty="0"/>
          </a:p>
        </p:txBody>
      </p:sp>
      <p:sp>
        <p:nvSpPr>
          <p:cNvPr id="42" name="Shape 40"/>
          <p:cNvSpPr/>
          <p:nvPr/>
        </p:nvSpPr>
        <p:spPr>
          <a:xfrm>
            <a:off x="0" y="6565392"/>
            <a:ext cx="12188952" cy="292608"/>
          </a:xfrm>
          <a:prstGeom prst="rect">
            <a:avLst/>
          </a:prstGeom>
          <a:solidFill>
            <a:srgbClr val="0E1B33"/>
          </a:solidFill>
          <a:ln/>
        </p:spPr>
      </p:sp>
      <p:sp>
        <p:nvSpPr>
          <p:cNvPr id="43" name="Text 41"/>
          <p:cNvSpPr/>
          <p:nvPr/>
        </p:nvSpPr>
        <p:spPr>
          <a:xfrm>
            <a:off x="457200" y="6565392"/>
            <a:ext cx="5486400" cy="292608"/>
          </a:xfrm>
          <a:prstGeom prst="rect">
            <a:avLst/>
          </a:prstGeom>
          <a:noFill/>
          <a:ln/>
        </p:spPr>
        <p:txBody>
          <a:bodyPr wrap="square" lIns="0" tIns="0" rIns="0" bIns="0" rtlCol="0" anchor="ctr"/>
          <a:lstStyle/>
          <a:p>
            <a:pPr indent="0" marL="0">
              <a:buNone/>
            </a:pPr>
            <a:r>
              <a:rPr lang="en-US" sz="850" dirty="0">
                <a:solidFill>
                  <a:srgbClr val="9FB0C7"/>
                </a:solidFill>
                <a:latin typeface="Calibri" pitchFamily="34" charset="0"/>
                <a:ea typeface="Calibri" pitchFamily="34" charset="-122"/>
                <a:cs typeface="Calibri" pitchFamily="34" charset="-120"/>
              </a:rPr>
              <a:t>ACE · Autonomous Coding Engine</a:t>
            </a:r>
            <a:endParaRPr lang="en-US" sz="850" dirty="0"/>
          </a:p>
        </p:txBody>
      </p:sp>
      <p:sp>
        <p:nvSpPr>
          <p:cNvPr id="44" name="Text 42"/>
          <p:cNvSpPr/>
          <p:nvPr/>
        </p:nvSpPr>
        <p:spPr>
          <a:xfrm>
            <a:off x="6245352" y="6565392"/>
            <a:ext cx="5486400" cy="292608"/>
          </a:xfrm>
          <a:prstGeom prst="rect">
            <a:avLst/>
          </a:prstGeom>
          <a:noFill/>
          <a:ln/>
        </p:spPr>
        <p:txBody>
          <a:bodyPr wrap="square" lIns="0" tIns="0" rIns="0" bIns="0" rtlCol="0" anchor="ctr"/>
          <a:lstStyle/>
          <a:p>
            <a:pPr algn="r" indent="0" marL="0">
              <a:buNone/>
            </a:pPr>
            <a:r>
              <a:rPr lang="en-US" sz="850" dirty="0">
                <a:solidFill>
                  <a:srgbClr val="9FB0C7"/>
                </a:solidFill>
                <a:latin typeface="Calibri" pitchFamily="34" charset="0"/>
                <a:ea typeface="Calibri" pitchFamily="34" charset="-122"/>
                <a:cs typeface="Calibri" pitchFamily="34" charset="-120"/>
              </a:rPr>
              <a:t>Nous Infosystems  ·  for Vee Healthtek  ·  Confidential</a:t>
            </a:r>
            <a:endParaRPr lang="en-US" sz="850" dirty="0"/>
          </a:p>
        </p:txBody>
      </p:sp>
      <p:sp>
        <p:nvSpPr>
          <p:cNvPr id="45" name="Text 43"/>
          <p:cNvSpPr/>
          <p:nvPr/>
        </p:nvSpPr>
        <p:spPr>
          <a:xfrm>
            <a:off x="11686032" y="6565392"/>
            <a:ext cx="365760" cy="292608"/>
          </a:xfrm>
          <a:prstGeom prst="rect">
            <a:avLst/>
          </a:prstGeom>
          <a:noFill/>
          <a:ln/>
        </p:spPr>
        <p:txBody>
          <a:bodyPr wrap="square" lIns="0" tIns="0" rIns="0" bIns="0" rtlCol="0" anchor="ctr"/>
          <a:lstStyle/>
          <a:p>
            <a:pPr algn="r" indent="0" marL="0">
              <a:buNone/>
            </a:pPr>
            <a:r>
              <a:rPr lang="en-US" sz="850" b="1" dirty="0">
                <a:solidFill>
                  <a:srgbClr val="13B5A6"/>
                </a:solidFill>
                <a:latin typeface="Calibri" pitchFamily="34" charset="0"/>
                <a:ea typeface="Calibri" pitchFamily="34" charset="-122"/>
                <a:cs typeface="Calibri" pitchFamily="34" charset="-120"/>
              </a:rPr>
              <a:t>14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8FC"/>
        </a:solidFill>
      </p:bgPr>
    </p:bg>
    <p:spTree>
      <p:nvGrpSpPr>
        <p:cNvPr id="1" name=""/>
        <p:cNvGrpSpPr/>
        <p:nvPr/>
      </p:nvGrpSpPr>
      <p:grpSpPr>
        <a:xfrm>
          <a:off x="0" y="0"/>
          <a:ext cx="0" cy="0"/>
          <a:chOff x="0" y="0"/>
          <a:chExt cx="0" cy="0"/>
        </a:xfrm>
      </p:grpSpPr>
      <p:sp>
        <p:nvSpPr>
          <p:cNvPr id="2" name="Shape 0"/>
          <p:cNvSpPr/>
          <p:nvPr/>
        </p:nvSpPr>
        <p:spPr>
          <a:xfrm>
            <a:off x="0" y="0"/>
            <a:ext cx="12188952" cy="1078992"/>
          </a:xfrm>
          <a:prstGeom prst="rect">
            <a:avLst/>
          </a:prstGeom>
          <a:solidFill>
            <a:srgbClr val="FFFFFF"/>
          </a:solidFill>
          <a:ln/>
        </p:spPr>
      </p:sp>
      <p:sp>
        <p:nvSpPr>
          <p:cNvPr id="3" name="Shape 1"/>
          <p:cNvSpPr/>
          <p:nvPr/>
        </p:nvSpPr>
        <p:spPr>
          <a:xfrm>
            <a:off x="0" y="1078992"/>
            <a:ext cx="12188952" cy="27432"/>
          </a:xfrm>
          <a:prstGeom prst="rect">
            <a:avLst/>
          </a:prstGeom>
          <a:solidFill>
            <a:srgbClr val="D8E1EC"/>
          </a:solidFill>
          <a:ln/>
        </p:spPr>
      </p:sp>
      <p:sp>
        <p:nvSpPr>
          <p:cNvPr id="4" name="Shape 2"/>
          <p:cNvSpPr/>
          <p:nvPr/>
        </p:nvSpPr>
        <p:spPr>
          <a:xfrm>
            <a:off x="457200" y="310896"/>
            <a:ext cx="109728" cy="512064"/>
          </a:xfrm>
          <a:prstGeom prst="rect">
            <a:avLst/>
          </a:prstGeom>
          <a:solidFill>
            <a:srgbClr val="13B5A6"/>
          </a:solidFill>
          <a:ln/>
        </p:spPr>
      </p:sp>
      <p:sp>
        <p:nvSpPr>
          <p:cNvPr id="5" name="Text 3"/>
          <p:cNvSpPr/>
          <p:nvPr/>
        </p:nvSpPr>
        <p:spPr>
          <a:xfrm>
            <a:off x="713232" y="274320"/>
            <a:ext cx="10058400" cy="237744"/>
          </a:xfrm>
          <a:prstGeom prst="rect">
            <a:avLst/>
          </a:prstGeom>
          <a:noFill/>
          <a:ln/>
        </p:spPr>
        <p:txBody>
          <a:bodyPr wrap="square" lIns="0" tIns="0" rIns="0" bIns="0" rtlCol="0" anchor="ctr"/>
          <a:lstStyle/>
          <a:p>
            <a:pPr indent="0" marL="0">
              <a:buNone/>
            </a:pPr>
            <a:r>
              <a:rPr lang="en-US" sz="1100" b="1" spc="200" kern="0" dirty="0">
                <a:solidFill>
                  <a:srgbClr val="13B5A6"/>
                </a:solidFill>
                <a:latin typeface="Calibri" pitchFamily="34" charset="0"/>
                <a:ea typeface="Calibri" pitchFamily="34" charset="-122"/>
                <a:cs typeface="Calibri" pitchFamily="34" charset="-120"/>
              </a:rPr>
              <a:t>ADOPTION PATH</a:t>
            </a:r>
            <a:endParaRPr lang="en-US" sz="1100" dirty="0"/>
          </a:p>
        </p:txBody>
      </p:sp>
      <p:sp>
        <p:nvSpPr>
          <p:cNvPr id="6" name="Text 4"/>
          <p:cNvSpPr/>
          <p:nvPr/>
        </p:nvSpPr>
        <p:spPr>
          <a:xfrm>
            <a:off x="713232" y="475488"/>
            <a:ext cx="11155680" cy="457200"/>
          </a:xfrm>
          <a:prstGeom prst="rect">
            <a:avLst/>
          </a:prstGeom>
          <a:noFill/>
          <a:ln/>
        </p:spPr>
        <p:txBody>
          <a:bodyPr wrap="square" lIns="0" tIns="0" rIns="0" bIns="0" rtlCol="0" anchor="ctr"/>
          <a:lstStyle/>
          <a:p>
            <a:pPr indent="0" marL="0">
              <a:buNone/>
            </a:pPr>
            <a:r>
              <a:rPr lang="en-US" sz="2300" b="1" dirty="0">
                <a:solidFill>
                  <a:srgbClr val="1B2A4A"/>
                </a:solidFill>
                <a:latin typeface="Georgia" pitchFamily="34" charset="0"/>
                <a:ea typeface="Georgia" pitchFamily="34" charset="-122"/>
                <a:cs typeface="Georgia" pitchFamily="34" charset="-120"/>
              </a:rPr>
              <a:t>Earn autonomy — don't assume it</a:t>
            </a:r>
            <a:endParaRPr lang="en-US" sz="2300" dirty="0"/>
          </a:p>
        </p:txBody>
      </p:sp>
      <p:sp>
        <p:nvSpPr>
          <p:cNvPr id="7" name="Shape 5"/>
          <p:cNvSpPr/>
          <p:nvPr/>
        </p:nvSpPr>
        <p:spPr>
          <a:xfrm>
            <a:off x="594360" y="1828800"/>
            <a:ext cx="3520440" cy="2286000"/>
          </a:xfrm>
          <a:prstGeom prst="roundRect">
            <a:avLst>
              <a:gd name="adj" fmla="val 2800"/>
            </a:avLst>
          </a:prstGeom>
          <a:solidFill>
            <a:srgbClr val="FFFFFF"/>
          </a:solidFill>
          <a:ln w="12700">
            <a:solidFill>
              <a:srgbClr val="D8E1EC"/>
            </a:solidFill>
            <a:prstDash val="solid"/>
          </a:ln>
          <a:effectLst>
            <a:outerShdw sx="100000" sy="100000" kx="0" ky="0" algn="bl" rotWithShape="0" blurRad="88900" dist="38100" dir="8100000">
              <a:srgbClr val="1B2A4A">
                <a:alpha val="12000"/>
              </a:srgbClr>
            </a:outerShdw>
          </a:effectLst>
        </p:spPr>
      </p:sp>
      <p:sp>
        <p:nvSpPr>
          <p:cNvPr id="8" name="Shape 6"/>
          <p:cNvSpPr/>
          <p:nvPr/>
        </p:nvSpPr>
        <p:spPr>
          <a:xfrm>
            <a:off x="594360" y="1828800"/>
            <a:ext cx="3520440" cy="109728"/>
          </a:xfrm>
          <a:prstGeom prst="rect">
            <a:avLst/>
          </a:prstGeom>
          <a:solidFill>
            <a:srgbClr val="64748B"/>
          </a:solidFill>
          <a:ln/>
        </p:spPr>
      </p:sp>
      <p:sp>
        <p:nvSpPr>
          <p:cNvPr id="9" name="Shape 7"/>
          <p:cNvSpPr/>
          <p:nvPr/>
        </p:nvSpPr>
        <p:spPr>
          <a:xfrm>
            <a:off x="1943100" y="2194560"/>
            <a:ext cx="822960" cy="822960"/>
          </a:xfrm>
          <a:prstGeom prst="ellipse">
            <a:avLst/>
          </a:prstGeom>
          <a:solidFill>
            <a:srgbClr val="64748B"/>
          </a:solidFill>
          <a:ln/>
        </p:spPr>
      </p:sp>
      <p:sp>
        <p:nvSpPr>
          <p:cNvPr id="10" name="Text 8"/>
          <p:cNvSpPr/>
          <p:nvPr/>
        </p:nvSpPr>
        <p:spPr>
          <a:xfrm>
            <a:off x="1943100" y="2194560"/>
            <a:ext cx="822960" cy="822960"/>
          </a:xfrm>
          <a:prstGeom prst="rect">
            <a:avLst/>
          </a:prstGeom>
          <a:noFill/>
          <a:ln/>
        </p:spPr>
        <p:txBody>
          <a:bodyPr wrap="square" lIns="0" tIns="0" rIns="0" bIns="0" rtlCol="0" anchor="ctr"/>
          <a:lstStyle/>
          <a:p>
            <a:pPr algn="ctr" indent="0" marL="0">
              <a:buNone/>
            </a:pPr>
            <a:r>
              <a:rPr lang="en-US" sz="2600" b="1" dirty="0">
                <a:solidFill>
                  <a:srgbClr val="FFFFFF"/>
                </a:solidFill>
                <a:latin typeface="Georgia" pitchFamily="34" charset="0"/>
                <a:ea typeface="Georgia" pitchFamily="34" charset="-122"/>
                <a:cs typeface="Georgia" pitchFamily="34" charset="-120"/>
              </a:rPr>
              <a:t>1</a:t>
            </a:r>
            <a:endParaRPr lang="en-US" sz="2600" dirty="0"/>
          </a:p>
        </p:txBody>
      </p:sp>
      <p:sp>
        <p:nvSpPr>
          <p:cNvPr id="11" name="Text 9"/>
          <p:cNvSpPr/>
          <p:nvPr/>
        </p:nvSpPr>
        <p:spPr>
          <a:xfrm>
            <a:off x="777240" y="3108960"/>
            <a:ext cx="3154680" cy="365760"/>
          </a:xfrm>
          <a:prstGeom prst="rect">
            <a:avLst/>
          </a:prstGeom>
          <a:noFill/>
          <a:ln/>
        </p:spPr>
        <p:txBody>
          <a:bodyPr wrap="square" lIns="0" tIns="0" rIns="0" bIns="0" rtlCol="0" anchor="ctr"/>
          <a:lstStyle/>
          <a:p>
            <a:pPr algn="ctr" indent="0" marL="0">
              <a:buNone/>
            </a:pPr>
            <a:r>
              <a:rPr lang="en-US" sz="1600" b="1" dirty="0">
                <a:solidFill>
                  <a:srgbClr val="1B2A4A"/>
                </a:solidFill>
                <a:latin typeface="Calibri" pitchFamily="34" charset="0"/>
                <a:ea typeface="Calibri" pitchFamily="34" charset="-122"/>
                <a:cs typeface="Calibri" pitchFamily="34" charset="-120"/>
              </a:rPr>
              <a:t>Shadow</a:t>
            </a:r>
            <a:endParaRPr lang="en-US" sz="1600" dirty="0"/>
          </a:p>
        </p:txBody>
      </p:sp>
      <p:sp>
        <p:nvSpPr>
          <p:cNvPr id="12" name="Text 10"/>
          <p:cNvSpPr/>
          <p:nvPr/>
        </p:nvSpPr>
        <p:spPr>
          <a:xfrm>
            <a:off x="822960" y="3493008"/>
            <a:ext cx="3063240" cy="548640"/>
          </a:xfrm>
          <a:prstGeom prst="rect">
            <a:avLst/>
          </a:prstGeom>
          <a:noFill/>
          <a:ln/>
        </p:spPr>
        <p:txBody>
          <a:bodyPr wrap="square" lIns="0" tIns="0" rIns="0" bIns="0" rtlCol="0" anchor="t"/>
          <a:lstStyle/>
          <a:p>
            <a:pPr algn="ctr" indent="0" marL="0">
              <a:lnSpc>
                <a:spcPct val="100000"/>
              </a:lnSpc>
              <a:buNone/>
            </a:pPr>
            <a:r>
              <a:rPr lang="en-US" sz="1080" dirty="0">
                <a:solidFill>
                  <a:srgbClr val="6B7A8D"/>
                </a:solidFill>
                <a:latin typeface="Calibri" pitchFamily="34" charset="0"/>
                <a:ea typeface="Calibri" pitchFamily="34" charset="-122"/>
                <a:cs typeface="Calibri" pitchFamily="34" charset="-120"/>
              </a:rPr>
              <a:t>ACE codes next to your coders while humans check everything. We calibrate, build the gold set, and prove the accuracy.</a:t>
            </a:r>
            <a:endParaRPr lang="en-US" sz="1080" dirty="0"/>
          </a:p>
        </p:txBody>
      </p:sp>
      <p:sp>
        <p:nvSpPr>
          <p:cNvPr id="13" name="Shape 11"/>
          <p:cNvSpPr/>
          <p:nvPr/>
        </p:nvSpPr>
        <p:spPr>
          <a:xfrm>
            <a:off x="4178808" y="2971800"/>
            <a:ext cx="329184" cy="0"/>
          </a:xfrm>
          <a:prstGeom prst="line">
            <a:avLst/>
          </a:prstGeom>
          <a:noFill/>
          <a:ln w="27940">
            <a:solidFill>
              <a:srgbClr val="13B5A6"/>
            </a:solidFill>
            <a:prstDash val="solid"/>
            <a:tailEnd type="triangle"/>
          </a:ln>
        </p:spPr>
      </p:sp>
      <p:sp>
        <p:nvSpPr>
          <p:cNvPr id="14" name="Shape 12"/>
          <p:cNvSpPr/>
          <p:nvPr/>
        </p:nvSpPr>
        <p:spPr>
          <a:xfrm>
            <a:off x="4572000" y="1828800"/>
            <a:ext cx="3520440" cy="2286000"/>
          </a:xfrm>
          <a:prstGeom prst="roundRect">
            <a:avLst>
              <a:gd name="adj" fmla="val 2800"/>
            </a:avLst>
          </a:prstGeom>
          <a:solidFill>
            <a:srgbClr val="FFFFFF"/>
          </a:solidFill>
          <a:ln w="12700">
            <a:solidFill>
              <a:srgbClr val="D8E1EC"/>
            </a:solidFill>
            <a:prstDash val="solid"/>
          </a:ln>
          <a:effectLst>
            <a:outerShdw sx="100000" sy="100000" kx="0" ky="0" algn="bl" rotWithShape="0" blurRad="88900" dist="38100" dir="8100000">
              <a:srgbClr val="1B2A4A">
                <a:alpha val="12000"/>
              </a:srgbClr>
            </a:outerShdw>
          </a:effectLst>
        </p:spPr>
      </p:sp>
      <p:sp>
        <p:nvSpPr>
          <p:cNvPr id="15" name="Shape 13"/>
          <p:cNvSpPr/>
          <p:nvPr/>
        </p:nvSpPr>
        <p:spPr>
          <a:xfrm>
            <a:off x="4572000" y="1828800"/>
            <a:ext cx="3520440" cy="109728"/>
          </a:xfrm>
          <a:prstGeom prst="rect">
            <a:avLst/>
          </a:prstGeom>
          <a:solidFill>
            <a:srgbClr val="0E8C81"/>
          </a:solidFill>
          <a:ln/>
        </p:spPr>
      </p:sp>
      <p:sp>
        <p:nvSpPr>
          <p:cNvPr id="16" name="Shape 14"/>
          <p:cNvSpPr/>
          <p:nvPr/>
        </p:nvSpPr>
        <p:spPr>
          <a:xfrm>
            <a:off x="5920740" y="2194560"/>
            <a:ext cx="822960" cy="822960"/>
          </a:xfrm>
          <a:prstGeom prst="ellipse">
            <a:avLst/>
          </a:prstGeom>
          <a:solidFill>
            <a:srgbClr val="0E8C81"/>
          </a:solidFill>
          <a:ln/>
        </p:spPr>
      </p:sp>
      <p:sp>
        <p:nvSpPr>
          <p:cNvPr id="17" name="Text 15"/>
          <p:cNvSpPr/>
          <p:nvPr/>
        </p:nvSpPr>
        <p:spPr>
          <a:xfrm>
            <a:off x="5920740" y="2194560"/>
            <a:ext cx="822960" cy="822960"/>
          </a:xfrm>
          <a:prstGeom prst="rect">
            <a:avLst/>
          </a:prstGeom>
          <a:noFill/>
          <a:ln/>
        </p:spPr>
        <p:txBody>
          <a:bodyPr wrap="square" lIns="0" tIns="0" rIns="0" bIns="0" rtlCol="0" anchor="ctr"/>
          <a:lstStyle/>
          <a:p>
            <a:pPr algn="ctr" indent="0" marL="0">
              <a:buNone/>
            </a:pPr>
            <a:r>
              <a:rPr lang="en-US" sz="2600" b="1" dirty="0">
                <a:solidFill>
                  <a:srgbClr val="FFFFFF"/>
                </a:solidFill>
                <a:latin typeface="Georgia" pitchFamily="34" charset="0"/>
                <a:ea typeface="Georgia" pitchFamily="34" charset="-122"/>
                <a:cs typeface="Georgia" pitchFamily="34" charset="-120"/>
              </a:rPr>
              <a:t>2</a:t>
            </a:r>
            <a:endParaRPr lang="en-US" sz="2600" dirty="0"/>
          </a:p>
        </p:txBody>
      </p:sp>
      <p:sp>
        <p:nvSpPr>
          <p:cNvPr id="18" name="Text 16"/>
          <p:cNvSpPr/>
          <p:nvPr/>
        </p:nvSpPr>
        <p:spPr>
          <a:xfrm>
            <a:off x="4754880" y="3108960"/>
            <a:ext cx="3154680" cy="365760"/>
          </a:xfrm>
          <a:prstGeom prst="rect">
            <a:avLst/>
          </a:prstGeom>
          <a:noFill/>
          <a:ln/>
        </p:spPr>
        <p:txBody>
          <a:bodyPr wrap="square" lIns="0" tIns="0" rIns="0" bIns="0" rtlCol="0" anchor="ctr"/>
          <a:lstStyle/>
          <a:p>
            <a:pPr algn="ctr" indent="0" marL="0">
              <a:buNone/>
            </a:pPr>
            <a:r>
              <a:rPr lang="en-US" sz="1600" b="1" dirty="0">
                <a:solidFill>
                  <a:srgbClr val="1B2A4A"/>
                </a:solidFill>
                <a:latin typeface="Calibri" pitchFamily="34" charset="0"/>
                <a:ea typeface="Calibri" pitchFamily="34" charset="-122"/>
                <a:cs typeface="Calibri" pitchFamily="34" charset="-120"/>
              </a:rPr>
              <a:t>Pilot</a:t>
            </a:r>
            <a:endParaRPr lang="en-US" sz="1600" dirty="0"/>
          </a:p>
        </p:txBody>
      </p:sp>
      <p:sp>
        <p:nvSpPr>
          <p:cNvPr id="19" name="Text 17"/>
          <p:cNvSpPr/>
          <p:nvPr/>
        </p:nvSpPr>
        <p:spPr>
          <a:xfrm>
            <a:off x="4800600" y="3493008"/>
            <a:ext cx="3063240" cy="548640"/>
          </a:xfrm>
          <a:prstGeom prst="rect">
            <a:avLst/>
          </a:prstGeom>
          <a:noFill/>
          <a:ln/>
        </p:spPr>
        <p:txBody>
          <a:bodyPr wrap="square" lIns="0" tIns="0" rIns="0" bIns="0" rtlCol="0" anchor="t"/>
          <a:lstStyle/>
          <a:p>
            <a:pPr algn="ctr" indent="0" marL="0">
              <a:lnSpc>
                <a:spcPct val="100000"/>
              </a:lnSpc>
              <a:buNone/>
            </a:pPr>
            <a:r>
              <a:rPr lang="en-US" sz="1080" dirty="0">
                <a:solidFill>
                  <a:srgbClr val="6B7A8D"/>
                </a:solidFill>
                <a:latin typeface="Calibri" pitchFamily="34" charset="0"/>
                <a:ea typeface="Calibri" pitchFamily="34" charset="-122"/>
                <a:cs typeface="Calibri" pitchFamily="34" charset="-120"/>
              </a:rPr>
              <a:t>Turn on auto-billing for the high-confidence lane. QA sampling eases off as the model keeps holding its numbers.</a:t>
            </a:r>
            <a:endParaRPr lang="en-US" sz="1080" dirty="0"/>
          </a:p>
        </p:txBody>
      </p:sp>
      <p:sp>
        <p:nvSpPr>
          <p:cNvPr id="20" name="Shape 18"/>
          <p:cNvSpPr/>
          <p:nvPr/>
        </p:nvSpPr>
        <p:spPr>
          <a:xfrm>
            <a:off x="8156448" y="2971800"/>
            <a:ext cx="329184" cy="0"/>
          </a:xfrm>
          <a:prstGeom prst="line">
            <a:avLst/>
          </a:prstGeom>
          <a:noFill/>
          <a:ln w="27940">
            <a:solidFill>
              <a:srgbClr val="13B5A6"/>
            </a:solidFill>
            <a:prstDash val="solid"/>
            <a:tailEnd type="triangle"/>
          </a:ln>
        </p:spPr>
      </p:sp>
      <p:sp>
        <p:nvSpPr>
          <p:cNvPr id="21" name="Shape 19"/>
          <p:cNvSpPr/>
          <p:nvPr/>
        </p:nvSpPr>
        <p:spPr>
          <a:xfrm>
            <a:off x="8549640" y="1828800"/>
            <a:ext cx="3520440" cy="2286000"/>
          </a:xfrm>
          <a:prstGeom prst="roundRect">
            <a:avLst>
              <a:gd name="adj" fmla="val 2800"/>
            </a:avLst>
          </a:prstGeom>
          <a:solidFill>
            <a:srgbClr val="FFFFFF"/>
          </a:solidFill>
          <a:ln w="12700">
            <a:solidFill>
              <a:srgbClr val="D8E1EC"/>
            </a:solidFill>
            <a:prstDash val="solid"/>
          </a:ln>
          <a:effectLst>
            <a:outerShdw sx="100000" sy="100000" kx="0" ky="0" algn="bl" rotWithShape="0" blurRad="88900" dist="38100" dir="8100000">
              <a:srgbClr val="1B2A4A">
                <a:alpha val="12000"/>
              </a:srgbClr>
            </a:outerShdw>
          </a:effectLst>
        </p:spPr>
      </p:sp>
      <p:sp>
        <p:nvSpPr>
          <p:cNvPr id="22" name="Shape 20"/>
          <p:cNvSpPr/>
          <p:nvPr/>
        </p:nvSpPr>
        <p:spPr>
          <a:xfrm>
            <a:off x="8549640" y="1828800"/>
            <a:ext cx="3520440" cy="109728"/>
          </a:xfrm>
          <a:prstGeom prst="rect">
            <a:avLst/>
          </a:prstGeom>
          <a:solidFill>
            <a:srgbClr val="1B2A4A"/>
          </a:solidFill>
          <a:ln/>
        </p:spPr>
      </p:sp>
      <p:sp>
        <p:nvSpPr>
          <p:cNvPr id="23" name="Shape 21"/>
          <p:cNvSpPr/>
          <p:nvPr/>
        </p:nvSpPr>
        <p:spPr>
          <a:xfrm>
            <a:off x="9898380" y="2194560"/>
            <a:ext cx="822960" cy="822960"/>
          </a:xfrm>
          <a:prstGeom prst="ellipse">
            <a:avLst/>
          </a:prstGeom>
          <a:solidFill>
            <a:srgbClr val="1B2A4A"/>
          </a:solidFill>
          <a:ln/>
        </p:spPr>
      </p:sp>
      <p:sp>
        <p:nvSpPr>
          <p:cNvPr id="24" name="Text 22"/>
          <p:cNvSpPr/>
          <p:nvPr/>
        </p:nvSpPr>
        <p:spPr>
          <a:xfrm>
            <a:off x="9898380" y="2194560"/>
            <a:ext cx="822960" cy="822960"/>
          </a:xfrm>
          <a:prstGeom prst="rect">
            <a:avLst/>
          </a:prstGeom>
          <a:noFill/>
          <a:ln/>
        </p:spPr>
        <p:txBody>
          <a:bodyPr wrap="square" lIns="0" tIns="0" rIns="0" bIns="0" rtlCol="0" anchor="ctr"/>
          <a:lstStyle/>
          <a:p>
            <a:pPr algn="ctr" indent="0" marL="0">
              <a:buNone/>
            </a:pPr>
            <a:r>
              <a:rPr lang="en-US" sz="2600" b="1" dirty="0">
                <a:solidFill>
                  <a:srgbClr val="FFFFFF"/>
                </a:solidFill>
                <a:latin typeface="Georgia" pitchFamily="34" charset="0"/>
                <a:ea typeface="Georgia" pitchFamily="34" charset="-122"/>
                <a:cs typeface="Georgia" pitchFamily="34" charset="-120"/>
              </a:rPr>
              <a:t>3</a:t>
            </a:r>
            <a:endParaRPr lang="en-US" sz="2600" dirty="0"/>
          </a:p>
        </p:txBody>
      </p:sp>
      <p:sp>
        <p:nvSpPr>
          <p:cNvPr id="25" name="Text 23"/>
          <p:cNvSpPr/>
          <p:nvPr/>
        </p:nvSpPr>
        <p:spPr>
          <a:xfrm>
            <a:off x="8732520" y="3108960"/>
            <a:ext cx="3154680" cy="365760"/>
          </a:xfrm>
          <a:prstGeom prst="rect">
            <a:avLst/>
          </a:prstGeom>
          <a:noFill/>
          <a:ln/>
        </p:spPr>
        <p:txBody>
          <a:bodyPr wrap="square" lIns="0" tIns="0" rIns="0" bIns="0" rtlCol="0" anchor="ctr"/>
          <a:lstStyle/>
          <a:p>
            <a:pPr algn="ctr" indent="0" marL="0">
              <a:buNone/>
            </a:pPr>
            <a:r>
              <a:rPr lang="en-US" sz="1600" b="1" dirty="0">
                <a:solidFill>
                  <a:srgbClr val="1B2A4A"/>
                </a:solidFill>
                <a:latin typeface="Calibri" pitchFamily="34" charset="0"/>
                <a:ea typeface="Calibri" pitchFamily="34" charset="-122"/>
                <a:cs typeface="Calibri" pitchFamily="34" charset="-120"/>
              </a:rPr>
              <a:t>Scale</a:t>
            </a:r>
            <a:endParaRPr lang="en-US" sz="1600" dirty="0"/>
          </a:p>
        </p:txBody>
      </p:sp>
      <p:sp>
        <p:nvSpPr>
          <p:cNvPr id="26" name="Text 24"/>
          <p:cNvSpPr/>
          <p:nvPr/>
        </p:nvSpPr>
        <p:spPr>
          <a:xfrm>
            <a:off x="8778240" y="3493008"/>
            <a:ext cx="3063240" cy="548640"/>
          </a:xfrm>
          <a:prstGeom prst="rect">
            <a:avLst/>
          </a:prstGeom>
          <a:noFill/>
          <a:ln/>
        </p:spPr>
        <p:txBody>
          <a:bodyPr wrap="square" lIns="0" tIns="0" rIns="0" bIns="0" rtlCol="0" anchor="t"/>
          <a:lstStyle/>
          <a:p>
            <a:pPr algn="ctr" indent="0" marL="0">
              <a:lnSpc>
                <a:spcPct val="100000"/>
              </a:lnSpc>
              <a:buNone/>
            </a:pPr>
            <a:r>
              <a:rPr lang="en-US" sz="1080" dirty="0">
                <a:solidFill>
                  <a:srgbClr val="6B7A8D"/>
                </a:solidFill>
                <a:latin typeface="Calibri" pitchFamily="34" charset="0"/>
                <a:ea typeface="Calibri" pitchFamily="34" charset="-122"/>
                <a:cs typeface="Calibri" pitchFamily="34" charset="-120"/>
              </a:rPr>
              <a:t>Add specialties through config and watch the auto-bill rate climb toward 80%, as the model is certified at 95%+.</a:t>
            </a:r>
            <a:endParaRPr lang="en-US" sz="1080" dirty="0"/>
          </a:p>
        </p:txBody>
      </p:sp>
      <p:sp>
        <p:nvSpPr>
          <p:cNvPr id="27" name="Shape 25"/>
          <p:cNvSpPr/>
          <p:nvPr/>
        </p:nvSpPr>
        <p:spPr>
          <a:xfrm>
            <a:off x="594360" y="4572000"/>
            <a:ext cx="11000232" cy="1463040"/>
          </a:xfrm>
          <a:prstGeom prst="roundRect">
            <a:avLst>
              <a:gd name="adj" fmla="val 3750"/>
            </a:avLst>
          </a:prstGeom>
          <a:solidFill>
            <a:srgbClr val="1B2A4A"/>
          </a:solidFill>
          <a:ln/>
        </p:spPr>
      </p:sp>
      <p:sp>
        <p:nvSpPr>
          <p:cNvPr id="28" name="Text 26"/>
          <p:cNvSpPr/>
          <p:nvPr/>
        </p:nvSpPr>
        <p:spPr>
          <a:xfrm>
            <a:off x="822960" y="4681728"/>
            <a:ext cx="1005840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What moves as we go</a:t>
            </a:r>
            <a:endParaRPr lang="en-US" sz="1300" dirty="0"/>
          </a:p>
        </p:txBody>
      </p:sp>
      <p:sp>
        <p:nvSpPr>
          <p:cNvPr id="29" name="Text 27"/>
          <p:cNvSpPr/>
          <p:nvPr/>
        </p:nvSpPr>
        <p:spPr>
          <a:xfrm>
            <a:off x="868680" y="5029200"/>
            <a:ext cx="2560320" cy="502920"/>
          </a:xfrm>
          <a:prstGeom prst="rect">
            <a:avLst/>
          </a:prstGeom>
          <a:noFill/>
          <a:ln/>
        </p:spPr>
        <p:txBody>
          <a:bodyPr wrap="square" lIns="0" tIns="0" rIns="0" bIns="0" rtlCol="0" anchor="ctr"/>
          <a:lstStyle/>
          <a:p>
            <a:pPr indent="0" marL="0">
              <a:buNone/>
            </a:pPr>
            <a:r>
              <a:rPr lang="en-US" sz="2200" b="1" dirty="0">
                <a:solidFill>
                  <a:srgbClr val="13B5A6"/>
                </a:solidFill>
                <a:latin typeface="Georgia" pitchFamily="34" charset="0"/>
                <a:ea typeface="Georgia" pitchFamily="34" charset="-122"/>
                <a:cs typeface="Georgia" pitchFamily="34" charset="-120"/>
              </a:rPr>
              <a:t>90%+</a:t>
            </a:r>
            <a:endParaRPr lang="en-US" sz="2200" dirty="0"/>
          </a:p>
        </p:txBody>
      </p:sp>
      <p:sp>
        <p:nvSpPr>
          <p:cNvPr id="30" name="Text 28"/>
          <p:cNvSpPr/>
          <p:nvPr/>
        </p:nvSpPr>
        <p:spPr>
          <a:xfrm>
            <a:off x="868680" y="5532120"/>
            <a:ext cx="2560320" cy="36576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Chart accuracy</a:t>
            </a:r>
            <a:endParaRPr lang="en-US" sz="1100" dirty="0"/>
          </a:p>
        </p:txBody>
      </p:sp>
      <p:sp>
        <p:nvSpPr>
          <p:cNvPr id="31" name="Text 29"/>
          <p:cNvSpPr/>
          <p:nvPr/>
        </p:nvSpPr>
        <p:spPr>
          <a:xfrm>
            <a:off x="3611880" y="5029200"/>
            <a:ext cx="2560320" cy="502920"/>
          </a:xfrm>
          <a:prstGeom prst="rect">
            <a:avLst/>
          </a:prstGeom>
          <a:noFill/>
          <a:ln/>
        </p:spPr>
        <p:txBody>
          <a:bodyPr wrap="square" lIns="0" tIns="0" rIns="0" bIns="0" rtlCol="0" anchor="ctr"/>
          <a:lstStyle/>
          <a:p>
            <a:pPr indent="0" marL="0">
              <a:buNone/>
            </a:pPr>
            <a:r>
              <a:rPr lang="en-US" sz="2200" b="1" dirty="0">
                <a:solidFill>
                  <a:srgbClr val="13B5A6"/>
                </a:solidFill>
                <a:latin typeface="Georgia" pitchFamily="34" charset="0"/>
                <a:ea typeface="Georgia" pitchFamily="34" charset="-122"/>
                <a:cs typeface="Georgia" pitchFamily="34" charset="-120"/>
              </a:rPr>
              <a:t>80%+</a:t>
            </a:r>
            <a:endParaRPr lang="en-US" sz="2200" dirty="0"/>
          </a:p>
        </p:txBody>
      </p:sp>
      <p:sp>
        <p:nvSpPr>
          <p:cNvPr id="32" name="Text 30"/>
          <p:cNvSpPr/>
          <p:nvPr/>
        </p:nvSpPr>
        <p:spPr>
          <a:xfrm>
            <a:off x="3611880" y="5532120"/>
            <a:ext cx="2560320" cy="36576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Auto-billed</a:t>
            </a:r>
            <a:endParaRPr lang="en-US" sz="1100" dirty="0"/>
          </a:p>
        </p:txBody>
      </p:sp>
      <p:sp>
        <p:nvSpPr>
          <p:cNvPr id="33" name="Text 31"/>
          <p:cNvSpPr/>
          <p:nvPr/>
        </p:nvSpPr>
        <p:spPr>
          <a:xfrm>
            <a:off x="6355080" y="5029200"/>
            <a:ext cx="2560320" cy="502920"/>
          </a:xfrm>
          <a:prstGeom prst="rect">
            <a:avLst/>
          </a:prstGeom>
          <a:noFill/>
          <a:ln/>
        </p:spPr>
        <p:txBody>
          <a:bodyPr wrap="square" lIns="0" tIns="0" rIns="0" bIns="0" rtlCol="0" anchor="ctr"/>
          <a:lstStyle/>
          <a:p>
            <a:pPr indent="0" marL="0">
              <a:buNone/>
            </a:pPr>
            <a:r>
              <a:rPr lang="en-US" sz="2200" b="1" dirty="0">
                <a:solidFill>
                  <a:srgbClr val="13B5A6"/>
                </a:solidFill>
                <a:latin typeface="Georgia" pitchFamily="34" charset="0"/>
                <a:ea typeface="Georgia" pitchFamily="34" charset="-122"/>
                <a:cs typeface="Georgia" pitchFamily="34" charset="-120"/>
              </a:rPr>
              <a:t>30%+</a:t>
            </a:r>
            <a:endParaRPr lang="en-US" sz="2200" dirty="0"/>
          </a:p>
        </p:txBody>
      </p:sp>
      <p:sp>
        <p:nvSpPr>
          <p:cNvPr id="34" name="Text 32"/>
          <p:cNvSpPr/>
          <p:nvPr/>
        </p:nvSpPr>
        <p:spPr>
          <a:xfrm>
            <a:off x="6355080" y="5532120"/>
            <a:ext cx="2560320" cy="36576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Less manual effort</a:t>
            </a:r>
            <a:endParaRPr lang="en-US" sz="1100" dirty="0"/>
          </a:p>
        </p:txBody>
      </p:sp>
      <p:sp>
        <p:nvSpPr>
          <p:cNvPr id="35" name="Text 33"/>
          <p:cNvSpPr/>
          <p:nvPr/>
        </p:nvSpPr>
        <p:spPr>
          <a:xfrm>
            <a:off x="9098280" y="5029200"/>
            <a:ext cx="2560320" cy="502920"/>
          </a:xfrm>
          <a:prstGeom prst="rect">
            <a:avLst/>
          </a:prstGeom>
          <a:noFill/>
          <a:ln/>
        </p:spPr>
        <p:txBody>
          <a:bodyPr wrap="square" lIns="0" tIns="0" rIns="0" bIns="0" rtlCol="0" anchor="ctr"/>
          <a:lstStyle/>
          <a:p>
            <a:pPr indent="0" marL="0">
              <a:buNone/>
            </a:pPr>
            <a:r>
              <a:rPr lang="en-US" sz="2200" b="1" dirty="0">
                <a:solidFill>
                  <a:srgbClr val="13B5A6"/>
                </a:solidFill>
                <a:latin typeface="Georgia" pitchFamily="34" charset="0"/>
                <a:ea typeface="Georgia" pitchFamily="34" charset="-122"/>
                <a:cs typeface="Georgia" pitchFamily="34" charset="-120"/>
              </a:rPr>
              <a:t>10–15%</a:t>
            </a:r>
            <a:endParaRPr lang="en-US" sz="2200" dirty="0"/>
          </a:p>
        </p:txBody>
      </p:sp>
      <p:sp>
        <p:nvSpPr>
          <p:cNvPr id="36" name="Text 34"/>
          <p:cNvSpPr/>
          <p:nvPr/>
        </p:nvSpPr>
        <p:spPr>
          <a:xfrm>
            <a:off x="9098280" y="5532120"/>
            <a:ext cx="2560320" cy="36576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Faster turnaround</a:t>
            </a:r>
            <a:endParaRPr lang="en-US" sz="1100" dirty="0"/>
          </a:p>
        </p:txBody>
      </p:sp>
      <p:sp>
        <p:nvSpPr>
          <p:cNvPr id="37" name="Shape 35"/>
          <p:cNvSpPr/>
          <p:nvPr/>
        </p:nvSpPr>
        <p:spPr>
          <a:xfrm>
            <a:off x="0" y="6565392"/>
            <a:ext cx="12188952" cy="292608"/>
          </a:xfrm>
          <a:prstGeom prst="rect">
            <a:avLst/>
          </a:prstGeom>
          <a:solidFill>
            <a:srgbClr val="0E1B33"/>
          </a:solidFill>
          <a:ln/>
        </p:spPr>
      </p:sp>
      <p:sp>
        <p:nvSpPr>
          <p:cNvPr id="38" name="Text 36"/>
          <p:cNvSpPr/>
          <p:nvPr/>
        </p:nvSpPr>
        <p:spPr>
          <a:xfrm>
            <a:off x="457200" y="6565392"/>
            <a:ext cx="5486400" cy="292608"/>
          </a:xfrm>
          <a:prstGeom prst="rect">
            <a:avLst/>
          </a:prstGeom>
          <a:noFill/>
          <a:ln/>
        </p:spPr>
        <p:txBody>
          <a:bodyPr wrap="square" lIns="0" tIns="0" rIns="0" bIns="0" rtlCol="0" anchor="ctr"/>
          <a:lstStyle/>
          <a:p>
            <a:pPr indent="0" marL="0">
              <a:buNone/>
            </a:pPr>
            <a:r>
              <a:rPr lang="en-US" sz="850" dirty="0">
                <a:solidFill>
                  <a:srgbClr val="9FB0C7"/>
                </a:solidFill>
                <a:latin typeface="Calibri" pitchFamily="34" charset="0"/>
                <a:ea typeface="Calibri" pitchFamily="34" charset="-122"/>
                <a:cs typeface="Calibri" pitchFamily="34" charset="-120"/>
              </a:rPr>
              <a:t>ACE · Autonomous Coding Engine</a:t>
            </a:r>
            <a:endParaRPr lang="en-US" sz="850" dirty="0"/>
          </a:p>
        </p:txBody>
      </p:sp>
      <p:sp>
        <p:nvSpPr>
          <p:cNvPr id="39" name="Text 37"/>
          <p:cNvSpPr/>
          <p:nvPr/>
        </p:nvSpPr>
        <p:spPr>
          <a:xfrm>
            <a:off x="6245352" y="6565392"/>
            <a:ext cx="5486400" cy="292608"/>
          </a:xfrm>
          <a:prstGeom prst="rect">
            <a:avLst/>
          </a:prstGeom>
          <a:noFill/>
          <a:ln/>
        </p:spPr>
        <p:txBody>
          <a:bodyPr wrap="square" lIns="0" tIns="0" rIns="0" bIns="0" rtlCol="0" anchor="ctr"/>
          <a:lstStyle/>
          <a:p>
            <a:pPr algn="r" indent="0" marL="0">
              <a:buNone/>
            </a:pPr>
            <a:r>
              <a:rPr lang="en-US" sz="850" dirty="0">
                <a:solidFill>
                  <a:srgbClr val="9FB0C7"/>
                </a:solidFill>
                <a:latin typeface="Calibri" pitchFamily="34" charset="0"/>
                <a:ea typeface="Calibri" pitchFamily="34" charset="-122"/>
                <a:cs typeface="Calibri" pitchFamily="34" charset="-120"/>
              </a:rPr>
              <a:t>Nous Infosystems  ·  for Vee Healthtek  ·  Confidential</a:t>
            </a:r>
            <a:endParaRPr lang="en-US" sz="850" dirty="0"/>
          </a:p>
        </p:txBody>
      </p:sp>
      <p:sp>
        <p:nvSpPr>
          <p:cNvPr id="40" name="Text 38"/>
          <p:cNvSpPr/>
          <p:nvPr/>
        </p:nvSpPr>
        <p:spPr>
          <a:xfrm>
            <a:off x="11686032" y="6565392"/>
            <a:ext cx="365760" cy="292608"/>
          </a:xfrm>
          <a:prstGeom prst="rect">
            <a:avLst/>
          </a:prstGeom>
          <a:noFill/>
          <a:ln/>
        </p:spPr>
        <p:txBody>
          <a:bodyPr wrap="square" lIns="0" tIns="0" rIns="0" bIns="0" rtlCol="0" anchor="ctr"/>
          <a:lstStyle/>
          <a:p>
            <a:pPr algn="r" indent="0" marL="0">
              <a:buNone/>
            </a:pPr>
            <a:r>
              <a:rPr lang="en-US" sz="850" b="1" dirty="0">
                <a:solidFill>
                  <a:srgbClr val="13B5A6"/>
                </a:solidFill>
                <a:latin typeface="Calibri" pitchFamily="34" charset="0"/>
                <a:ea typeface="Calibri" pitchFamily="34" charset="-122"/>
                <a:cs typeface="Calibri" pitchFamily="34" charset="-120"/>
              </a:rPr>
              <a:t>15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E1B33"/>
        </a:solidFill>
      </p:bgPr>
    </p:bg>
    <p:spTree>
      <p:nvGrpSpPr>
        <p:cNvPr id="1" name=""/>
        <p:cNvGrpSpPr/>
        <p:nvPr/>
      </p:nvGrpSpPr>
      <p:grpSpPr>
        <a:xfrm>
          <a:off x="0" y="0"/>
          <a:ext cx="0" cy="0"/>
          <a:chOff x="0" y="0"/>
          <a:chExt cx="0" cy="0"/>
        </a:xfrm>
      </p:grpSpPr>
      <p:sp>
        <p:nvSpPr>
          <p:cNvPr id="2" name="Shape 0"/>
          <p:cNvSpPr/>
          <p:nvPr/>
        </p:nvSpPr>
        <p:spPr>
          <a:xfrm>
            <a:off x="0" y="0"/>
            <a:ext cx="201168" cy="6858000"/>
          </a:xfrm>
          <a:prstGeom prst="rect">
            <a:avLst/>
          </a:prstGeom>
          <a:solidFill>
            <a:srgbClr val="13B5A6"/>
          </a:solidFill>
          <a:ln/>
        </p:spPr>
      </p:sp>
      <p:sp>
        <p:nvSpPr>
          <p:cNvPr id="3" name="Text 1"/>
          <p:cNvSpPr/>
          <p:nvPr/>
        </p:nvSpPr>
        <p:spPr>
          <a:xfrm>
            <a:off x="731520" y="640080"/>
            <a:ext cx="9144000" cy="365760"/>
          </a:xfrm>
          <a:prstGeom prst="rect">
            <a:avLst/>
          </a:prstGeom>
          <a:noFill/>
          <a:ln/>
        </p:spPr>
        <p:txBody>
          <a:bodyPr wrap="square" lIns="0" tIns="0" rIns="0" bIns="0" rtlCol="0" anchor="ctr"/>
          <a:lstStyle/>
          <a:p>
            <a:pPr indent="0" marL="0">
              <a:buNone/>
            </a:pPr>
            <a:r>
              <a:rPr lang="en-US" sz="1300" b="1" spc="300" kern="0" dirty="0">
                <a:solidFill>
                  <a:srgbClr val="13B5A6"/>
                </a:solidFill>
                <a:latin typeface="Calibri" pitchFamily="34" charset="0"/>
                <a:ea typeface="Calibri" pitchFamily="34" charset="-122"/>
                <a:cs typeface="Calibri" pitchFamily="34" charset="-120"/>
              </a:rPr>
              <a:t>WHY NOUS</a:t>
            </a:r>
            <a:endParaRPr lang="en-US" sz="1300" dirty="0"/>
          </a:p>
        </p:txBody>
      </p:sp>
      <p:sp>
        <p:nvSpPr>
          <p:cNvPr id="4" name="Text 2"/>
          <p:cNvSpPr/>
          <p:nvPr/>
        </p:nvSpPr>
        <p:spPr>
          <a:xfrm>
            <a:off x="731520" y="1051560"/>
            <a:ext cx="10789920" cy="822960"/>
          </a:xfrm>
          <a:prstGeom prst="rect">
            <a:avLst/>
          </a:prstGeom>
          <a:noFill/>
          <a:ln/>
        </p:spPr>
        <p:txBody>
          <a:bodyPr wrap="square" lIns="0" tIns="0" rIns="0" bIns="0"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Not just a model — a platform you can run and trust</a:t>
            </a:r>
            <a:endParaRPr lang="en-US" sz="2800" dirty="0"/>
          </a:p>
        </p:txBody>
      </p:sp>
      <p:sp>
        <p:nvSpPr>
          <p:cNvPr id="5" name="Shape 3"/>
          <p:cNvSpPr/>
          <p:nvPr/>
        </p:nvSpPr>
        <p:spPr>
          <a:xfrm>
            <a:off x="731520" y="2103120"/>
            <a:ext cx="5394960" cy="1078992"/>
          </a:xfrm>
          <a:prstGeom prst="roundRect">
            <a:avLst>
              <a:gd name="adj" fmla="val 5085"/>
            </a:avLst>
          </a:prstGeom>
          <a:solidFill>
            <a:srgbClr val="1B2A4A"/>
          </a:solidFill>
          <a:ln/>
        </p:spPr>
      </p:sp>
      <p:sp>
        <p:nvSpPr>
          <p:cNvPr id="6" name="Shape 4"/>
          <p:cNvSpPr/>
          <p:nvPr/>
        </p:nvSpPr>
        <p:spPr>
          <a:xfrm>
            <a:off x="731520" y="2103120"/>
            <a:ext cx="109728" cy="1078992"/>
          </a:xfrm>
          <a:prstGeom prst="rect">
            <a:avLst/>
          </a:prstGeom>
          <a:solidFill>
            <a:srgbClr val="13B5A6"/>
          </a:solidFill>
          <a:ln/>
        </p:spPr>
      </p:sp>
      <p:sp>
        <p:nvSpPr>
          <p:cNvPr id="7" name="Text 5"/>
          <p:cNvSpPr/>
          <p:nvPr/>
        </p:nvSpPr>
        <p:spPr>
          <a:xfrm>
            <a:off x="1024128" y="2231136"/>
            <a:ext cx="4937760"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We measure honestly</a:t>
            </a:r>
            <a:endParaRPr lang="en-US" sz="1300" dirty="0"/>
          </a:p>
        </p:txBody>
      </p:sp>
      <p:sp>
        <p:nvSpPr>
          <p:cNvPr id="8" name="Text 6"/>
          <p:cNvSpPr/>
          <p:nvPr/>
        </p:nvSpPr>
        <p:spPr>
          <a:xfrm>
            <a:off x="1024128" y="2560320"/>
            <a:ext cx="4937760" cy="566928"/>
          </a:xfrm>
          <a:prstGeom prst="rect">
            <a:avLst/>
          </a:prstGeom>
          <a:noFill/>
          <a:ln/>
        </p:spPr>
        <p:txBody>
          <a:bodyPr wrap="square" lIns="0" tIns="0" rIns="0" bIns="0" rtlCol="0" anchor="t"/>
          <a:lstStyle/>
          <a:p>
            <a:pPr indent="0" marL="0">
              <a:lnSpc>
                <a:spcPct val="98000"/>
              </a:lnSpc>
              <a:buNone/>
            </a:pPr>
            <a:r>
              <a:rPr lang="en-US" sz="1050" dirty="0">
                <a:solidFill>
                  <a:srgbClr val="AFC0D8"/>
                </a:solidFill>
                <a:latin typeface="Calibri" pitchFamily="34" charset="0"/>
                <a:ea typeface="Calibri" pitchFamily="34" charset="-122"/>
                <a:cs typeface="Calibri" pitchFamily="34" charset="-120"/>
              </a:rPr>
              <a:t>Accuracy against adjudicated consensus — the instrument that lets you grow autonomy without guessing.</a:t>
            </a:r>
            <a:endParaRPr lang="en-US" sz="1050" dirty="0"/>
          </a:p>
        </p:txBody>
      </p:sp>
      <p:sp>
        <p:nvSpPr>
          <p:cNvPr id="9" name="Shape 7"/>
          <p:cNvSpPr/>
          <p:nvPr/>
        </p:nvSpPr>
        <p:spPr>
          <a:xfrm>
            <a:off x="6400800" y="2103120"/>
            <a:ext cx="5394960" cy="1078992"/>
          </a:xfrm>
          <a:prstGeom prst="roundRect">
            <a:avLst>
              <a:gd name="adj" fmla="val 5085"/>
            </a:avLst>
          </a:prstGeom>
          <a:solidFill>
            <a:srgbClr val="1B2A4A"/>
          </a:solidFill>
          <a:ln/>
        </p:spPr>
      </p:sp>
      <p:sp>
        <p:nvSpPr>
          <p:cNvPr id="10" name="Shape 8"/>
          <p:cNvSpPr/>
          <p:nvPr/>
        </p:nvSpPr>
        <p:spPr>
          <a:xfrm>
            <a:off x="6400800" y="2103120"/>
            <a:ext cx="109728" cy="1078992"/>
          </a:xfrm>
          <a:prstGeom prst="rect">
            <a:avLst/>
          </a:prstGeom>
          <a:solidFill>
            <a:srgbClr val="13B5A6"/>
          </a:solidFill>
          <a:ln/>
        </p:spPr>
      </p:sp>
      <p:sp>
        <p:nvSpPr>
          <p:cNvPr id="11" name="Text 9"/>
          <p:cNvSpPr/>
          <p:nvPr/>
        </p:nvSpPr>
        <p:spPr>
          <a:xfrm>
            <a:off x="6693408" y="2231136"/>
            <a:ext cx="4937760"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Everything is defensible</a:t>
            </a:r>
            <a:endParaRPr lang="en-US" sz="1300" dirty="0"/>
          </a:p>
        </p:txBody>
      </p:sp>
      <p:sp>
        <p:nvSpPr>
          <p:cNvPr id="12" name="Text 10"/>
          <p:cNvSpPr/>
          <p:nvPr/>
        </p:nvSpPr>
        <p:spPr>
          <a:xfrm>
            <a:off x="6693408" y="2560320"/>
            <a:ext cx="4937760" cy="566928"/>
          </a:xfrm>
          <a:prstGeom prst="rect">
            <a:avLst/>
          </a:prstGeom>
          <a:noFill/>
          <a:ln/>
        </p:spPr>
        <p:txBody>
          <a:bodyPr wrap="square" lIns="0" tIns="0" rIns="0" bIns="0" rtlCol="0" anchor="t"/>
          <a:lstStyle/>
          <a:p>
            <a:pPr indent="0" marL="0">
              <a:lnSpc>
                <a:spcPct val="98000"/>
              </a:lnSpc>
              <a:buNone/>
            </a:pPr>
            <a:r>
              <a:rPr lang="en-US" sz="1050" dirty="0">
                <a:solidFill>
                  <a:srgbClr val="AFC0D8"/>
                </a:solidFill>
                <a:latin typeface="Calibri" pitchFamily="34" charset="0"/>
                <a:ea typeface="Calibri" pitchFamily="34" charset="-122"/>
                <a:cs typeface="Calibri" pitchFamily="34" charset="-120"/>
              </a:rPr>
              <a:t>Citations, real rule checks and a full audit trail — every claim can be explained.</a:t>
            </a:r>
            <a:endParaRPr lang="en-US" sz="1050" dirty="0"/>
          </a:p>
        </p:txBody>
      </p:sp>
      <p:sp>
        <p:nvSpPr>
          <p:cNvPr id="13" name="Shape 11"/>
          <p:cNvSpPr/>
          <p:nvPr/>
        </p:nvSpPr>
        <p:spPr>
          <a:xfrm>
            <a:off x="731520" y="3328416"/>
            <a:ext cx="5394960" cy="1078992"/>
          </a:xfrm>
          <a:prstGeom prst="roundRect">
            <a:avLst>
              <a:gd name="adj" fmla="val 5085"/>
            </a:avLst>
          </a:prstGeom>
          <a:solidFill>
            <a:srgbClr val="1B2A4A"/>
          </a:solidFill>
          <a:ln/>
        </p:spPr>
      </p:sp>
      <p:sp>
        <p:nvSpPr>
          <p:cNvPr id="14" name="Shape 12"/>
          <p:cNvSpPr/>
          <p:nvPr/>
        </p:nvSpPr>
        <p:spPr>
          <a:xfrm>
            <a:off x="731520" y="3328416"/>
            <a:ext cx="109728" cy="1078992"/>
          </a:xfrm>
          <a:prstGeom prst="rect">
            <a:avLst/>
          </a:prstGeom>
          <a:solidFill>
            <a:srgbClr val="13B5A6"/>
          </a:solidFill>
          <a:ln/>
        </p:spPr>
      </p:sp>
      <p:sp>
        <p:nvSpPr>
          <p:cNvPr id="15" name="Text 13"/>
          <p:cNvSpPr/>
          <p:nvPr/>
        </p:nvSpPr>
        <p:spPr>
          <a:xfrm>
            <a:off x="1024128" y="3456432"/>
            <a:ext cx="4937760"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New specialties are quick</a:t>
            </a:r>
            <a:endParaRPr lang="en-US" sz="1300" dirty="0"/>
          </a:p>
        </p:txBody>
      </p:sp>
      <p:sp>
        <p:nvSpPr>
          <p:cNvPr id="16" name="Text 14"/>
          <p:cNvSpPr/>
          <p:nvPr/>
        </p:nvSpPr>
        <p:spPr>
          <a:xfrm>
            <a:off x="1024128" y="3785616"/>
            <a:ext cx="4937760" cy="566928"/>
          </a:xfrm>
          <a:prstGeom prst="rect">
            <a:avLst/>
          </a:prstGeom>
          <a:noFill/>
          <a:ln/>
        </p:spPr>
        <p:txBody>
          <a:bodyPr wrap="square" lIns="0" tIns="0" rIns="0" bIns="0" rtlCol="0" anchor="t"/>
          <a:lstStyle/>
          <a:p>
            <a:pPr indent="0" marL="0">
              <a:lnSpc>
                <a:spcPct val="98000"/>
              </a:lnSpc>
              <a:buNone/>
            </a:pPr>
            <a:r>
              <a:rPr lang="en-US" sz="1050" dirty="0">
                <a:solidFill>
                  <a:srgbClr val="AFC0D8"/>
                </a:solidFill>
                <a:latin typeface="Calibri" pitchFamily="34" charset="0"/>
                <a:ea typeface="Calibri" pitchFamily="34" charset="-122"/>
                <a:cs typeface="Calibri" pitchFamily="34" charset="-120"/>
              </a:rPr>
              <a:t>They onboard through config and a gold set — not another build.</a:t>
            </a:r>
            <a:endParaRPr lang="en-US" sz="1050" dirty="0"/>
          </a:p>
        </p:txBody>
      </p:sp>
      <p:sp>
        <p:nvSpPr>
          <p:cNvPr id="17" name="Shape 15"/>
          <p:cNvSpPr/>
          <p:nvPr/>
        </p:nvSpPr>
        <p:spPr>
          <a:xfrm>
            <a:off x="6400800" y="3328416"/>
            <a:ext cx="5394960" cy="1078992"/>
          </a:xfrm>
          <a:prstGeom prst="roundRect">
            <a:avLst>
              <a:gd name="adj" fmla="val 5085"/>
            </a:avLst>
          </a:prstGeom>
          <a:solidFill>
            <a:srgbClr val="1B2A4A"/>
          </a:solidFill>
          <a:ln/>
        </p:spPr>
      </p:sp>
      <p:sp>
        <p:nvSpPr>
          <p:cNvPr id="18" name="Shape 16"/>
          <p:cNvSpPr/>
          <p:nvPr/>
        </p:nvSpPr>
        <p:spPr>
          <a:xfrm>
            <a:off x="6400800" y="3328416"/>
            <a:ext cx="109728" cy="1078992"/>
          </a:xfrm>
          <a:prstGeom prst="rect">
            <a:avLst/>
          </a:prstGeom>
          <a:solidFill>
            <a:srgbClr val="13B5A6"/>
          </a:solidFill>
          <a:ln/>
        </p:spPr>
      </p:sp>
      <p:sp>
        <p:nvSpPr>
          <p:cNvPr id="19" name="Text 17"/>
          <p:cNvSpPr/>
          <p:nvPr/>
        </p:nvSpPr>
        <p:spPr>
          <a:xfrm>
            <a:off x="6693408" y="3456432"/>
            <a:ext cx="4937760"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You own the knowledge</a:t>
            </a:r>
            <a:endParaRPr lang="en-US" sz="1300" dirty="0"/>
          </a:p>
        </p:txBody>
      </p:sp>
      <p:sp>
        <p:nvSpPr>
          <p:cNvPr id="20" name="Text 18"/>
          <p:cNvSpPr/>
          <p:nvPr/>
        </p:nvSpPr>
        <p:spPr>
          <a:xfrm>
            <a:off x="6693408" y="3785616"/>
            <a:ext cx="4937760" cy="566928"/>
          </a:xfrm>
          <a:prstGeom prst="rect">
            <a:avLst/>
          </a:prstGeom>
          <a:noFill/>
          <a:ln/>
        </p:spPr>
        <p:txBody>
          <a:bodyPr wrap="square" lIns="0" tIns="0" rIns="0" bIns="0" rtlCol="0" anchor="t"/>
          <a:lstStyle/>
          <a:p>
            <a:pPr indent="0" marL="0">
              <a:lnSpc>
                <a:spcPct val="98000"/>
              </a:lnSpc>
              <a:buNone/>
            </a:pPr>
            <a:r>
              <a:rPr lang="en-US" sz="1050" dirty="0">
                <a:solidFill>
                  <a:srgbClr val="AFC0D8"/>
                </a:solidFill>
                <a:latin typeface="Calibri" pitchFamily="34" charset="0"/>
                <a:ea typeface="Calibri" pitchFamily="34" charset="-122"/>
                <a:cs typeface="Calibri" pitchFamily="34" charset="-120"/>
              </a:rPr>
              <a:t>A knowledge graph your team builds and curates inside the app.</a:t>
            </a:r>
            <a:endParaRPr lang="en-US" sz="1050" dirty="0"/>
          </a:p>
        </p:txBody>
      </p:sp>
      <p:sp>
        <p:nvSpPr>
          <p:cNvPr id="21" name="Shape 19"/>
          <p:cNvSpPr/>
          <p:nvPr/>
        </p:nvSpPr>
        <p:spPr>
          <a:xfrm>
            <a:off x="731520" y="4553712"/>
            <a:ext cx="5394960" cy="1078992"/>
          </a:xfrm>
          <a:prstGeom prst="roundRect">
            <a:avLst>
              <a:gd name="adj" fmla="val 5085"/>
            </a:avLst>
          </a:prstGeom>
          <a:solidFill>
            <a:srgbClr val="1B2A4A"/>
          </a:solidFill>
          <a:ln/>
        </p:spPr>
      </p:sp>
      <p:sp>
        <p:nvSpPr>
          <p:cNvPr id="22" name="Shape 20"/>
          <p:cNvSpPr/>
          <p:nvPr/>
        </p:nvSpPr>
        <p:spPr>
          <a:xfrm>
            <a:off x="731520" y="4553712"/>
            <a:ext cx="109728" cy="1078992"/>
          </a:xfrm>
          <a:prstGeom prst="rect">
            <a:avLst/>
          </a:prstGeom>
          <a:solidFill>
            <a:srgbClr val="13B5A6"/>
          </a:solidFill>
          <a:ln/>
        </p:spPr>
      </p:sp>
      <p:sp>
        <p:nvSpPr>
          <p:cNvPr id="23" name="Text 21"/>
          <p:cNvSpPr/>
          <p:nvPr/>
        </p:nvSpPr>
        <p:spPr>
          <a:xfrm>
            <a:off x="1024128" y="4681728"/>
            <a:ext cx="4937760"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You run it, not us</a:t>
            </a:r>
            <a:endParaRPr lang="en-US" sz="1300" dirty="0"/>
          </a:p>
        </p:txBody>
      </p:sp>
      <p:sp>
        <p:nvSpPr>
          <p:cNvPr id="24" name="Text 22"/>
          <p:cNvSpPr/>
          <p:nvPr/>
        </p:nvSpPr>
        <p:spPr>
          <a:xfrm>
            <a:off x="1024128" y="5010912"/>
            <a:ext cx="4937760" cy="566928"/>
          </a:xfrm>
          <a:prstGeom prst="rect">
            <a:avLst/>
          </a:prstGeom>
          <a:noFill/>
          <a:ln/>
        </p:spPr>
        <p:txBody>
          <a:bodyPr wrap="square" lIns="0" tIns="0" rIns="0" bIns="0" rtlCol="0" anchor="t"/>
          <a:lstStyle/>
          <a:p>
            <a:pPr indent="0" marL="0">
              <a:lnSpc>
                <a:spcPct val="98000"/>
              </a:lnSpc>
              <a:buNone/>
            </a:pPr>
            <a:r>
              <a:rPr lang="en-US" sz="1050" dirty="0">
                <a:solidFill>
                  <a:srgbClr val="AFC0D8"/>
                </a:solidFill>
                <a:latin typeface="Calibri" pitchFamily="34" charset="0"/>
                <a:ea typeface="Calibri" pitchFamily="34" charset="-122"/>
                <a:cs typeface="Calibri" pitchFamily="34" charset="-120"/>
              </a:rPr>
              <a:t>Thresholds, rules, SLAs, roles, the control tower and the governance ramp are all yours.</a:t>
            </a:r>
            <a:endParaRPr lang="en-US" sz="1050" dirty="0"/>
          </a:p>
        </p:txBody>
      </p:sp>
      <p:sp>
        <p:nvSpPr>
          <p:cNvPr id="25" name="Shape 23"/>
          <p:cNvSpPr/>
          <p:nvPr/>
        </p:nvSpPr>
        <p:spPr>
          <a:xfrm>
            <a:off x="6400800" y="4553712"/>
            <a:ext cx="5394960" cy="1078992"/>
          </a:xfrm>
          <a:prstGeom prst="roundRect">
            <a:avLst>
              <a:gd name="adj" fmla="val 5085"/>
            </a:avLst>
          </a:prstGeom>
          <a:solidFill>
            <a:srgbClr val="1B2A4A"/>
          </a:solidFill>
          <a:ln/>
        </p:spPr>
      </p:sp>
      <p:sp>
        <p:nvSpPr>
          <p:cNvPr id="26" name="Shape 24"/>
          <p:cNvSpPr/>
          <p:nvPr/>
        </p:nvSpPr>
        <p:spPr>
          <a:xfrm>
            <a:off x="6400800" y="4553712"/>
            <a:ext cx="109728" cy="1078992"/>
          </a:xfrm>
          <a:prstGeom prst="rect">
            <a:avLst/>
          </a:prstGeom>
          <a:solidFill>
            <a:srgbClr val="13B5A6"/>
          </a:solidFill>
          <a:ln/>
        </p:spPr>
      </p:sp>
      <p:sp>
        <p:nvSpPr>
          <p:cNvPr id="27" name="Text 25"/>
          <p:cNvSpPr/>
          <p:nvPr/>
        </p:nvSpPr>
        <p:spPr>
          <a:xfrm>
            <a:off x="6693408" y="4681728"/>
            <a:ext cx="4937760"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It fits your world</a:t>
            </a:r>
            <a:endParaRPr lang="en-US" sz="1300" dirty="0"/>
          </a:p>
        </p:txBody>
      </p:sp>
      <p:sp>
        <p:nvSpPr>
          <p:cNvPr id="28" name="Text 26"/>
          <p:cNvSpPr/>
          <p:nvPr/>
        </p:nvSpPr>
        <p:spPr>
          <a:xfrm>
            <a:off x="6693408" y="5010912"/>
            <a:ext cx="4937760" cy="566928"/>
          </a:xfrm>
          <a:prstGeom prst="rect">
            <a:avLst/>
          </a:prstGeom>
          <a:noFill/>
          <a:ln/>
        </p:spPr>
        <p:txBody>
          <a:bodyPr wrap="square" lIns="0" tIns="0" rIns="0" bIns="0" rtlCol="0" anchor="t"/>
          <a:lstStyle/>
          <a:p>
            <a:pPr indent="0" marL="0">
              <a:lnSpc>
                <a:spcPct val="98000"/>
              </a:lnSpc>
              <a:buNone/>
            </a:pPr>
            <a:r>
              <a:rPr lang="en-US" sz="1050" dirty="0">
                <a:solidFill>
                  <a:srgbClr val="AFC0D8"/>
                </a:solidFill>
                <a:latin typeface="Calibri" pitchFamily="34" charset="0"/>
                <a:ea typeface="Calibri" pitchFamily="34" charset="-122"/>
                <a:cs typeface="Calibri" pitchFamily="34" charset="-120"/>
              </a:rPr>
              <a:t>Designed to live inside Vee Healthtek's RevAmp coding ecosystem.</a:t>
            </a:r>
            <a:endParaRPr lang="en-US" sz="1050" dirty="0"/>
          </a:p>
        </p:txBody>
      </p:sp>
      <p:sp>
        <p:nvSpPr>
          <p:cNvPr id="29" name="Text 27"/>
          <p:cNvSpPr/>
          <p:nvPr/>
        </p:nvSpPr>
        <p:spPr>
          <a:xfrm>
            <a:off x="731520" y="6172200"/>
            <a:ext cx="10789920" cy="457200"/>
          </a:xfrm>
          <a:prstGeom prst="rect">
            <a:avLst/>
          </a:prstGeom>
          <a:noFill/>
          <a:ln/>
        </p:spPr>
        <p:txBody>
          <a:bodyPr wrap="square" lIns="0" tIns="0" rIns="0" bIns="0" rtlCol="0" anchor="ctr"/>
          <a:lstStyle/>
          <a:p>
            <a:pPr indent="0" marL="0">
              <a:buNone/>
            </a:pPr>
            <a:r>
              <a:rPr lang="en-US" sz="1400" i="1" dirty="0">
                <a:solidFill>
                  <a:srgbClr val="CADCFC"/>
                </a:solidFill>
                <a:latin typeface="Calibri" pitchFamily="34" charset="0"/>
                <a:ea typeface="Calibri" pitchFamily="34" charset="-122"/>
                <a:cs typeface="Calibri" pitchFamily="34" charset="-120"/>
              </a:rPr>
              <a:t>This is working software today — and it's built to earn your trust one chart at a time.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Nous Infosystems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ACE — Autonomous Coding Engine</dc:title>
  <dc:subject>PptxGenJS Presentation</dc:subject>
  <dc:creator>Nous Infosystems</dc:creator>
  <cp:lastModifiedBy>Nous Infosystems</cp:lastModifiedBy>
  <cp:revision>1</cp:revision>
  <dcterms:created xsi:type="dcterms:W3CDTF">2026-06-10T11:35:18Z</dcterms:created>
  <dcterms:modified xsi:type="dcterms:W3CDTF">2026-06-10T11:35:18Z</dcterms:modified>
</cp:coreProperties>
</file>