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1097280"/>
            <a:ext cx="4572000" cy="4572000"/>
          </a:xfrm>
          <a:prstGeom prst="roundRect">
            <a:avLst>
              <a:gd name="adj" fmla="val 4000"/>
            </a:avLst>
          </a:prstGeom>
          <a:solidFill>
            <a:srgbClr val="24365C">
              <a:alpha val="6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875520" y="3108960"/>
            <a:ext cx="3657600" cy="3657600"/>
          </a:xfrm>
          <a:prstGeom prst="roundRect">
            <a:avLst>
              <a:gd name="adj" fmla="val 5000"/>
            </a:avLst>
          </a:prstGeom>
          <a:solidFill>
            <a:srgbClr val="24365C">
              <a:alpha val="4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 ·   FOR VEE HEALTHTEK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— Autonomous Coding Engine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731520" y="30632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for medical-coding translation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Flow  ·  Technical Architecture  ·  Design Rationale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4709160"/>
            <a:ext cx="1825142" cy="420624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13B5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4709160"/>
            <a:ext cx="18251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grounded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57830" y="4709160"/>
            <a:ext cx="2582266" cy="420624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13B5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57830" y="4709160"/>
            <a:ext cx="25822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Citation-backed &amp; auditable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41264" y="4709160"/>
            <a:ext cx="2498141" cy="420624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13B5A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41264" y="4709160"/>
            <a:ext cx="249814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Confidence-routed autonomy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40573" y="4709160"/>
            <a:ext cx="2582266" cy="420624"/>
          </a:xfrm>
          <a:prstGeom prst="roundRect">
            <a:avLst>
              <a:gd name="adj" fmla="val 50000"/>
            </a:avLst>
          </a:prstGeom>
          <a:solidFill>
            <a:srgbClr val="24365C"/>
          </a:solidFill>
          <a:ln w="12700">
            <a:solidFill>
              <a:srgbClr val="13B5A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40573" y="4709160"/>
            <a:ext cx="258226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Admin-configurable platform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0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In-person demo · Bangalore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&amp; OBJECTIVES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autonomous coding — and what 'good' means here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32120" cy="4754880"/>
          </a:xfrm>
          <a:prstGeom prst="roundRect">
            <a:avLst>
              <a:gd name="adj" fmla="val 134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00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coding challenge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10" name="Text 8"/>
          <p:cNvSpPr/>
          <p:nvPr/>
        </p:nvSpPr>
        <p:spPr>
          <a:xfrm>
            <a:off x="960120" y="205740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→ codes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reports must become precise ICD-10 / CPT / HCPCS — specificity, bundling and modifiers all matter.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301752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non-negotiable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mean denials, compliance exposure and rework; coders are scarce and audited.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" y="4023360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97764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&amp; turnaround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chart volume with TAT pressure; coder effort is the cost driver.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31520" y="4983480"/>
            <a:ext cx="146304" cy="146304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49377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gap with 'black-box' AI  </a:t>
            </a:r>
            <a:pPr indent="0" marL="0">
              <a:lnSpc>
                <a:spcPct val="98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 need to see why a code was chosen before they let anything auto-bill.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5513832" cy="4754880"/>
          </a:xfrm>
          <a:prstGeom prst="roundRect">
            <a:avLst>
              <a:gd name="adj" fmla="val 1346"/>
            </a:avLst>
          </a:prstGeom>
          <a:solidFill>
            <a:srgbClr val="1B2A4A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Vee Healthtek success measures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92240" y="19476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Progressive, not a hard day-one floor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92240" y="23317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90%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366760" y="23317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chart-level accuracy (SLA)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80%</a:t>
            </a:r>
            <a:endParaRPr lang="en-US" sz="2700" dirty="0"/>
          </a:p>
        </p:txBody>
      </p:sp>
      <p:sp>
        <p:nvSpPr>
          <p:cNvPr id="23" name="Text 21"/>
          <p:cNvSpPr/>
          <p:nvPr/>
        </p:nvSpPr>
        <p:spPr>
          <a:xfrm>
            <a:off x="8366760" y="306324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straight-through billing (STB) rate, at maturity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92240" y="37947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30%</a:t>
            </a:r>
            <a:endParaRPr lang="en-US" sz="2700" dirty="0"/>
          </a:p>
        </p:txBody>
      </p:sp>
      <p:sp>
        <p:nvSpPr>
          <p:cNvPr id="25" name="Text 23"/>
          <p:cNvSpPr/>
          <p:nvPr/>
        </p:nvSpPr>
        <p:spPr>
          <a:xfrm>
            <a:off x="8366760" y="379476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manual-effort reduction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45262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10–15%</a:t>
            </a:r>
            <a:endParaRPr lang="en-US" sz="2700" dirty="0"/>
          </a:p>
        </p:txBody>
      </p:sp>
      <p:sp>
        <p:nvSpPr>
          <p:cNvPr id="27" name="Text 25"/>
          <p:cNvSpPr/>
          <p:nvPr/>
        </p:nvSpPr>
        <p:spPr>
          <a:xfrm>
            <a:off x="8366760" y="452628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turnaround-time reduction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492240" y="5303520"/>
            <a:ext cx="4937760" cy="18288"/>
          </a:xfrm>
          <a:prstGeom prst="rect">
            <a:avLst/>
          </a:prstGeom>
          <a:solidFill>
            <a:srgbClr val="3A4D72"/>
          </a:solidFill>
          <a:ln/>
        </p:spPr>
      </p:sp>
      <p:sp>
        <p:nvSpPr>
          <p:cNvPr id="29" name="Text 27"/>
          <p:cNvSpPr/>
          <p:nvPr/>
        </p:nvSpPr>
        <p:spPr>
          <a:xfrm>
            <a:off x="6492240" y="542239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ramp: 100% audit early → certify the model at ≥ 95% → taper sampling.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ACE at a glance — four pillars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2679192" cy="44805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2679192" cy="1097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1965960"/>
            <a:ext cx="868680" cy="868680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713232" y="301752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13232" y="3657600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multi-stage reasoning agent conditions, extracts, codes, validates and routes — observable live via streaming.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319272" y="1554480"/>
            <a:ext cx="2679192" cy="44805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19272" y="1554480"/>
            <a:ext cx="2679192" cy="1097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593592" y="1965960"/>
            <a:ext cx="868680" cy="868680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16" name="Text 14"/>
          <p:cNvSpPr/>
          <p:nvPr/>
        </p:nvSpPr>
        <p:spPr>
          <a:xfrm>
            <a:off x="3593592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575304" y="301752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&amp; defensible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75304" y="3657600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grounding + deterministic gates + per-code citations and an append-only audit trail.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81344" y="1554480"/>
            <a:ext cx="2679192" cy="44805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81344" y="1554480"/>
            <a:ext cx="2679192" cy="1097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1" name="Shape 19"/>
          <p:cNvSpPr/>
          <p:nvPr/>
        </p:nvSpPr>
        <p:spPr>
          <a:xfrm>
            <a:off x="6455664" y="1965960"/>
            <a:ext cx="868680" cy="868680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22" name="Text 20"/>
          <p:cNvSpPr/>
          <p:nvPr/>
        </p:nvSpPr>
        <p:spPr>
          <a:xfrm>
            <a:off x="6455664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437376" y="301752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Confidence-routed autonomy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437376" y="3657600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 sends charts to Straight-Through Billing, QA, or Manual — with hard human-review rules.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043416" y="1554480"/>
            <a:ext cx="2679192" cy="4480560"/>
          </a:xfrm>
          <a:prstGeom prst="roundRect">
            <a:avLst>
              <a:gd name="adj" fmla="val 2389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043416" y="1554480"/>
            <a:ext cx="2679192" cy="1097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7" name="Shape 25"/>
          <p:cNvSpPr/>
          <p:nvPr/>
        </p:nvSpPr>
        <p:spPr>
          <a:xfrm>
            <a:off x="9317736" y="1965960"/>
            <a:ext cx="868680" cy="868680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28" name="Text 26"/>
          <p:cNvSpPr/>
          <p:nvPr/>
        </p:nvSpPr>
        <p:spPr>
          <a:xfrm>
            <a:off x="9317736" y="19659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9299448" y="3017520"/>
            <a:ext cx="21671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platform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9299448" y="3657600"/>
            <a:ext cx="216712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tune routing, gates, the knowledge graph, specialties and roles at runtime — no redeploy.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operational workflow — intake to billing, with a learning loop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783080" cy="841248"/>
          </a:xfrm>
          <a:prstGeom prst="roundRect">
            <a:avLst>
              <a:gd name="adj" fmla="val 652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30352" y="1371600"/>
            <a:ext cx="1636776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/ EHR via FHIR · HL7 · EDI · batch / REST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95728" y="1371600"/>
            <a:ext cx="1783080" cy="841248"/>
          </a:xfrm>
          <a:prstGeom prst="roundRect">
            <a:avLst>
              <a:gd name="adj" fmla="val 652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468880" y="1371600"/>
            <a:ext cx="1636776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gate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 — docs, specialty, exclusions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4256" y="1371600"/>
            <a:ext cx="1783080" cy="841248"/>
          </a:xfrm>
          <a:prstGeom prst="roundRect">
            <a:avLst>
              <a:gd name="adj" fmla="val 6522"/>
            </a:avLst>
          </a:prstGeom>
          <a:solidFill>
            <a:srgbClr val="0E8C81"/>
          </a:solidFill>
          <a:ln/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07408" y="1371600"/>
            <a:ext cx="1636776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pipeline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→ extract → code → validate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72784" y="1371600"/>
            <a:ext cx="1783080" cy="841248"/>
          </a:xfrm>
          <a:prstGeom prst="roundRect">
            <a:avLst>
              <a:gd name="adj" fmla="val 652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45936" y="1371600"/>
            <a:ext cx="1636776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4-factor score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211312" y="1371600"/>
            <a:ext cx="3520440" cy="841248"/>
          </a:xfrm>
          <a:prstGeom prst="roundRect">
            <a:avLst>
              <a:gd name="adj" fmla="val 6522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284464" y="1371600"/>
            <a:ext cx="3374136" cy="841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/ clearinghouse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85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submitted (837)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240280" y="1792224"/>
            <a:ext cx="155448" cy="0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4178808" y="1792224"/>
            <a:ext cx="155448" cy="0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117336" y="1792224"/>
            <a:ext cx="155448" cy="0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055864" y="1792224"/>
            <a:ext cx="155448" cy="0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457200" y="2395728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routing  →  </a:t>
            </a:r>
            <a:pPr indent="0" marL="0">
              <a:buNone/>
            </a:pPr>
            <a:r>
              <a:rPr lang="en-US" sz="120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chart goes to exactly one of three lanes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761488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2761488"/>
            <a:ext cx="118872" cy="86868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2761488"/>
            <a:ext cx="3200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STB — Straight-Through Billing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auto-bill, audit-sampled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88536" y="2761488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288536" y="2761488"/>
            <a:ext cx="118872" cy="868680"/>
          </a:xfrm>
          <a:prstGeom prst="rect">
            <a:avLst/>
          </a:prstGeom>
          <a:solidFill>
            <a:srgbClr val="E8A13A"/>
          </a:solidFill>
          <a:ln/>
        </p:spPr>
      </p:sp>
      <p:sp>
        <p:nvSpPr>
          <p:cNvPr id="27" name="Text 25"/>
          <p:cNvSpPr/>
          <p:nvPr/>
        </p:nvSpPr>
        <p:spPr>
          <a:xfrm>
            <a:off x="4562856" y="2761488"/>
            <a:ext cx="3200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review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 verifies the AI draft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119872" y="2761488"/>
            <a:ext cx="36118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8119872" y="2761488"/>
            <a:ext cx="118872" cy="8686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0" name="Text 28"/>
          <p:cNvSpPr/>
          <p:nvPr/>
        </p:nvSpPr>
        <p:spPr>
          <a:xfrm>
            <a:off x="8394192" y="2761488"/>
            <a:ext cx="32004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coding</a:t>
            </a:r>
            <a:endParaRPr lang="en-US" sz="12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pre-extraction assists a coder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3913632"/>
            <a:ext cx="5541264" cy="1115568"/>
          </a:xfrm>
          <a:prstGeom prst="roundRect">
            <a:avLst>
              <a:gd name="adj" fmla="val 5738"/>
            </a:avLst>
          </a:prstGeom>
          <a:solidFill>
            <a:srgbClr val="EAF1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58368" y="4032504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/ physician query  (branch)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658368" y="4343400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documentation can't support a specific code, ACE drafts a compliant, non-leading query; the physician's answer re-codes the chart.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90488" y="3913632"/>
            <a:ext cx="5541264" cy="1115568"/>
          </a:xfrm>
          <a:prstGeom prst="roundRect">
            <a:avLst>
              <a:gd name="adj" fmla="val 5738"/>
            </a:avLst>
          </a:prstGeom>
          <a:solidFill>
            <a:srgbClr val="EAF1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91656" y="4032504"/>
            <a:ext cx="5175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Closed-loop learning  (feedback)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6391656" y="4343400"/>
            <a:ext cx="51297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corrections become retrieval exemplars that visibly shift later similar charts (batched 24–48h in production).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285232"/>
            <a:ext cx="11274552" cy="960120"/>
          </a:xfrm>
          <a:prstGeom prst="roundRect">
            <a:avLst>
              <a:gd name="adj" fmla="val 5714"/>
            </a:avLst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713232" y="5285232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carries its evidence forward.  </a:t>
            </a:r>
            <a:pPr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· pipeline trace · 4-factor confidence · chart &amp; guideline citations · validation gates · routing reason — all attached to the encounter and audit packet, so every lane is fully explainable.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AI MAKES THE DIFFERENCE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places the model earns its keep — and the control on each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709928"/>
            <a:ext cx="786384" cy="786384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709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645920" y="1600200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summarization &amp; extraction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645920" y="1947672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free-text reports into structured findings, procedures, laterality, contrast — a coder-ready summary.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0488" y="1417320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19088" y="1709928"/>
            <a:ext cx="786384" cy="786384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19088" y="1709928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79208" y="1600200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code selection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79208" y="1947672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surfaces candidate codes; the agent may only emit what's retrieved — structural hallucination control.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953512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85800" y="3246120"/>
            <a:ext cx="786384" cy="786384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32461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645920" y="3136392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Cited, defensible coding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645920" y="3483864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code is tied to the chart line and the guideline that justify it; citations are verified before acceptance.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90488" y="2953512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19088" y="3246120"/>
            <a:ext cx="786384" cy="786384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24" name="Text 22"/>
          <p:cNvSpPr/>
          <p:nvPr/>
        </p:nvSpPr>
        <p:spPr>
          <a:xfrm>
            <a:off x="6419088" y="3246120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379208" y="3136392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Self-consistency on hard charts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379208" y="3483864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independent passes catch 'confident-but-wrong' on ambiguous or multi-procedure cases.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489704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85800" y="4782312"/>
            <a:ext cx="786384" cy="786384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478231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645920" y="4672584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645920" y="5020056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4-factor score tells the system when to auto-bill vs. ask a human — the model knows what it doesn't know.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0488" y="4489704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19088" y="4782312"/>
            <a:ext cx="786384" cy="786384"/>
          </a:xfrm>
          <a:prstGeom prst="ellipse">
            <a:avLst/>
          </a:prstGeom>
          <a:solidFill>
            <a:srgbClr val="EAF1F8"/>
          </a:solidFill>
          <a:ln/>
        </p:spPr>
      </p:sp>
      <p:sp>
        <p:nvSpPr>
          <p:cNvPr id="34" name="Text 32"/>
          <p:cNvSpPr/>
          <p:nvPr/>
        </p:nvSpPr>
        <p:spPr>
          <a:xfrm>
            <a:off x="6419088" y="4782312"/>
            <a:ext cx="7863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E8C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7379208" y="4672584"/>
            <a:ext cx="41239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co-pilot &amp; learning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379208" y="5020056"/>
            <a:ext cx="412394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compliant physician queries; learns from coder corrections to improve later charts.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view — a self-contained, container-based stack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2651760" y="115214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651760" y="1371600"/>
            <a:ext cx="274320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0" y="1371600"/>
            <a:ext cx="256032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Coders / QA / CDI / Admin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(RBAC by role)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766560" y="1371600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0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PMS / EHR source systems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Admin · eClinicalWorks · Cerner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651760" y="217627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51760" y="2395728"/>
            <a:ext cx="3840480" cy="731520"/>
          </a:xfrm>
          <a:prstGeom prst="roundRect">
            <a:avLst>
              <a:gd name="adj" fmla="val 7500"/>
            </a:avLst>
          </a:prstGeom>
          <a:solidFill>
            <a:srgbClr val="1B2A4A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43200" y="2395728"/>
            <a:ext cx="36576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 — React + TypeScript + Vite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by nginx (reverse proxy, SSE pass-through)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2395728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0" y="2395728"/>
            <a:ext cx="402336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channels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 R4 · HL7 v2 · EDI 837/835 · REST / batch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651760" y="32004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651760" y="3419856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0E8C81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743200" y="3419856"/>
            <a:ext cx="36576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(Python 3.12)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orchestrator · validation engine · SSE event stream · RBAC + change-log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766560" y="3419856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858000" y="3419856"/>
            <a:ext cx="18288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— Sonnet (default) / Opus (hard)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0" y="3419856"/>
            <a:ext cx="201168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052560" y="3419856"/>
            <a:ext cx="18288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fallback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→ route Manual; never fabricate codes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2651760" y="459028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651760" y="4809744"/>
            <a:ext cx="3840480" cy="1097280"/>
          </a:xfrm>
          <a:prstGeom prst="roundRect">
            <a:avLst>
              <a:gd name="adj" fmla="val 5000"/>
            </a:avLst>
          </a:prstGeom>
          <a:solidFill>
            <a:srgbClr val="1B2A4A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743200" y="4809744"/>
            <a:ext cx="36576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16 + pgvector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D7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encounters · runs · codes · audit ledger · config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766560" y="4809744"/>
            <a:ext cx="420624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858000" y="4809744"/>
            <a:ext cx="402336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&amp; reference store</a:t>
            </a:r>
            <a:endParaRPr lang="en-US" sz="1150" dirty="0"/>
          </a:p>
          <a:p>
            <a:pPr algn="ctr" indent="0" marL="0">
              <a:lnSpc>
                <a:spcPct val="95000"/>
              </a:lnSpc>
              <a:buNone/>
            </a:pPr>
            <a:r>
              <a:rPr lang="en-US" sz="9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policies · ontology (KG) · ICD-10 / CPT* / HCPCS · NCCI / MUE / modifiers · guidelines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" y="1325880"/>
            <a:ext cx="2057400" cy="4709160"/>
          </a:xfrm>
          <a:prstGeom prst="roundRect">
            <a:avLst>
              <a:gd name="adj" fmla="val 2667"/>
            </a:avLst>
          </a:prstGeom>
          <a:solidFill>
            <a:srgbClr val="EAF1F8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14630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4360" y="1783080"/>
            <a:ext cx="1810512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· api · db — one command up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&amp; offline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retrieval, gates and audit run without external services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target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Azure AI Foundry, US-region, multi-tenant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651760" y="6053328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*CPT shown as a clearly-labeled placeholder; production swaps in the licensed AMA CPT set (same shape).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agentic pipeline — Stage 0 to 5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BFD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481328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566928" y="148132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137160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43400" y="1371600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gate: required docs, specialty, exclusions. Ineligible → Manual queue with a reason.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007108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66928" y="2116836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E8C81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11683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1·2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200710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Conditioning + Extraction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343400" y="2007108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LLM analysis call: chart summary + structured findings, procedures, laterality, contrast.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642616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BFD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" y="2752344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13B5A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2752344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600200" y="2642616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retrieval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43400" y="2642616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+ ontology-graph traversal + payer policy + learned exemplars → grounded candidate codes.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278124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3387852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0E8C81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3387852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3278124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coding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343400" y="3278124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emits codes (only from retrieval) with chart + guideline citations. Self-consistency on hard charts.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3913632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BFD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66928" y="4023360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24365C"/>
          </a:solidFill>
          <a:ln/>
        </p:spPr>
      </p:sp>
      <p:sp>
        <p:nvSpPr>
          <p:cNvPr id="29" name="Text 27"/>
          <p:cNvSpPr/>
          <p:nvPr/>
        </p:nvSpPr>
        <p:spPr>
          <a:xfrm>
            <a:off x="566928" y="402336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3b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1600200" y="3913632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verification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343400" y="3913632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cited span is checked against the chart; unsupported codes are dropped before validation.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4549140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66928" y="4658868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24365C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658868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1600200" y="4549140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gates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343400" y="4549140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Deterministic: NCCI bundling, MUE units, modifier validity, specificity, sex/age, payer necessity.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184648"/>
            <a:ext cx="11274552" cy="585216"/>
          </a:xfrm>
          <a:prstGeom prst="roundRect">
            <a:avLst>
              <a:gd name="adj" fmla="val 7813"/>
            </a:avLst>
          </a:prstGeom>
          <a:solidFill>
            <a:srgbClr val="FBFDFF"/>
          </a:solidFill>
          <a:ln w="12700">
            <a:solidFill>
              <a:srgbClr val="D8E1E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66928" y="5294376"/>
            <a:ext cx="868680" cy="365760"/>
          </a:xfrm>
          <a:prstGeom prst="roundRect">
            <a:avLst>
              <a:gd name="adj" fmla="val 12500"/>
            </a:avLst>
          </a:prstGeom>
          <a:solidFill>
            <a:srgbClr val="1B2A4A"/>
          </a:solidFill>
          <a:ln/>
        </p:spPr>
      </p:sp>
      <p:sp>
        <p:nvSpPr>
          <p:cNvPr id="39" name="Text 37"/>
          <p:cNvSpPr/>
          <p:nvPr/>
        </p:nvSpPr>
        <p:spPr>
          <a:xfrm>
            <a:off x="566928" y="5294376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1600200" y="5184648"/>
            <a:ext cx="2697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 + route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4343400" y="5184648"/>
            <a:ext cx="720547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4-factor confidence → STB / QA / Manual, with bounded-autonomy hard rules forcing human review.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5929884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observability: the orchestrator emits an event per stage over Server-Sent Events — the UI streams the agent's reasoning as it runs.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Graph-RAG &amp; the knowledge graph — grounding as a control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5486400" cy="48006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grounds every coding decision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194560"/>
            <a:ext cx="10972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14884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sets (lexical)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ICD-10-CM / CPT / HCPCS descriptions, specialty- and modality-aware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971800"/>
            <a:ext cx="10972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29260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ontology (graph)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concepts → codes, with is_a / finding_site / causative_agent edges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749040"/>
            <a:ext cx="10972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370332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policy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medical-necessity &amp; prior-auth for the encounter's payer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526280"/>
            <a:ext cx="10972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6" name="Text 14"/>
          <p:cNvSpPr/>
          <p:nvPr/>
        </p:nvSpPr>
        <p:spPr>
          <a:xfrm>
            <a:off x="932688" y="448056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Coding guidelines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ICD-10 / NCCI guidance, retrieved and cited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5303520"/>
            <a:ext cx="10972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8" name="Text 16"/>
          <p:cNvSpPr/>
          <p:nvPr/>
        </p:nvSpPr>
        <p:spPr>
          <a:xfrm>
            <a:off x="932688" y="525780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exemplars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coder corrections for this chart pattern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1463040"/>
            <a:ext cx="5513832" cy="2286000"/>
          </a:xfrm>
          <a:prstGeom prst="roundRect">
            <a:avLst>
              <a:gd name="adj" fmla="val 2800"/>
            </a:avLst>
          </a:prstGeom>
          <a:solidFill>
            <a:srgbClr val="1B2A4A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92240" y="1645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grounding rule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92240" y="2029968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6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coding agent may only emit codes that retrieval surfaces. If it isn't grounded, it isn't billed.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2788920"/>
            <a:ext cx="4983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converts hallucination from a prompt-tuning hope into a structural property of the system — and it makes the medical-necessity gate deterministic.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3931920"/>
            <a:ext cx="5513832" cy="2331720"/>
          </a:xfrm>
          <a:prstGeom prst="roundRect">
            <a:avLst>
              <a:gd name="adj" fmla="val 2745"/>
            </a:avLst>
          </a:prstGeom>
          <a:solidFill>
            <a:srgbClr val="EAF1F8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92240" y="4114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Curated, client-owned knowledge graph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492240" y="4480560"/>
            <a:ext cx="49834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build the KG in-app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concepts, map them to codes, and wire relationships — read by Graph-RAG on the very next run.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 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scale</a:t>
            </a:r>
            <a:endParaRPr lang="en-US" sz="115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swaps in licensed SNOMED CT / UMLS at the same shape; pgvector reserved for embedding retrieval.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validation, calibrated routing &amp; bounded autonomy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30168" cy="475488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630168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gates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1343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 PTP bundling (hard vs 59/X)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85800" y="277063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6974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 units-per-day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85800" y="322783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1546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Modifier validity registry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85800" y="368503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611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specificity / billable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85800" y="414223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069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Sex- and age-plausibility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459943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5262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Payer medical-necessity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0080" y="5029200"/>
            <a:ext cx="3264408" cy="18288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23" name="Text 21"/>
          <p:cNvSpPr/>
          <p:nvPr/>
        </p:nvSpPr>
        <p:spPr>
          <a:xfrm>
            <a:off x="658368" y="5120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Rules, not vibes — every gate is inspectable and reads live from editable reference tables.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279392" y="1463040"/>
            <a:ext cx="3630168" cy="475488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279392" y="1463040"/>
            <a:ext cx="3630168" cy="566928"/>
          </a:xfrm>
          <a:prstGeom prst="rect">
            <a:avLst/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4462272" y="146304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confidence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4507992" y="2313432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22402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certainty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07992" y="2770632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0" name="Text 28"/>
          <p:cNvSpPr/>
          <p:nvPr/>
        </p:nvSpPr>
        <p:spPr>
          <a:xfrm>
            <a:off x="4736592" y="26974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 match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4507992" y="3227832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31546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Rule-engine agreement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507992" y="3685032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34" name="Text 32"/>
          <p:cNvSpPr/>
          <p:nvPr/>
        </p:nvSpPr>
        <p:spPr>
          <a:xfrm>
            <a:off x="4736592" y="3611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pattern fit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4507992" y="4142232"/>
            <a:ext cx="118872" cy="118872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6" name="Text 34"/>
          <p:cNvSpPr/>
          <p:nvPr/>
        </p:nvSpPr>
        <p:spPr>
          <a:xfrm>
            <a:off x="4736592" y="4069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calibrated score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4507992" y="4599432"/>
            <a:ext cx="118872" cy="118872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38" name="Text 36"/>
          <p:cNvSpPr/>
          <p:nvPr/>
        </p:nvSpPr>
        <p:spPr>
          <a:xfrm>
            <a:off x="4736592" y="45262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STB / QA / Manual thresholds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462272" y="5029200"/>
            <a:ext cx="3264408" cy="18288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0" name="Text 38"/>
          <p:cNvSpPr/>
          <p:nvPr/>
        </p:nvSpPr>
        <p:spPr>
          <a:xfrm>
            <a:off x="4480560" y="5120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4-factor blend (weights admin-tunable) — far more trustworthy than a raw model probability.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101584" y="1463040"/>
            <a:ext cx="3630168" cy="475488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101584" y="1463040"/>
            <a:ext cx="363016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43" name="Text 41"/>
          <p:cNvSpPr/>
          <p:nvPr/>
        </p:nvSpPr>
        <p:spPr>
          <a:xfrm>
            <a:off x="8284464" y="146304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autonomy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8330184" y="2313432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45" name="Text 43"/>
          <p:cNvSpPr/>
          <p:nvPr/>
        </p:nvSpPr>
        <p:spPr>
          <a:xfrm>
            <a:off x="8558784" y="22402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Critical-care codes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8330184" y="2770632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47" name="Text 45"/>
          <p:cNvSpPr/>
          <p:nvPr/>
        </p:nvSpPr>
        <p:spPr>
          <a:xfrm>
            <a:off x="8558784" y="26974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NCCI bundle break / unbundling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8330184" y="3227832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49" name="Text 47"/>
          <p:cNvSpPr/>
          <p:nvPr/>
        </p:nvSpPr>
        <p:spPr>
          <a:xfrm>
            <a:off x="8558784" y="31546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or contradictory docs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8330184" y="3685032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51" name="Text 49"/>
          <p:cNvSpPr/>
          <p:nvPr/>
        </p:nvSpPr>
        <p:spPr>
          <a:xfrm>
            <a:off x="8558784" y="36118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Blocking conditioning flag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8330184" y="4142232"/>
            <a:ext cx="118872" cy="118872"/>
          </a:xfrm>
          <a:prstGeom prst="ellipse">
            <a:avLst/>
          </a:prstGeom>
          <a:solidFill>
            <a:srgbClr val="E8A13A"/>
          </a:solidFill>
          <a:ln/>
        </p:spPr>
      </p:sp>
      <p:sp>
        <p:nvSpPr>
          <p:cNvPr id="53" name="Text 51"/>
          <p:cNvSpPr/>
          <p:nvPr/>
        </p:nvSpPr>
        <p:spPr>
          <a:xfrm>
            <a:off x="8558784" y="40690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forced human review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8330184" y="4599432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55" name="Text 53"/>
          <p:cNvSpPr/>
          <p:nvPr/>
        </p:nvSpPr>
        <p:spPr>
          <a:xfrm>
            <a:off x="8558784" y="4526280"/>
            <a:ext cx="2990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regardless of confidence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8284464" y="5029200"/>
            <a:ext cx="3264408" cy="18288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57" name="Text 55"/>
          <p:cNvSpPr/>
          <p:nvPr/>
        </p:nvSpPr>
        <p:spPr>
          <a:xfrm>
            <a:off x="8302752" y="5120640"/>
            <a:ext cx="3246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0E8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ceilings on what may ever auto-bill — the safety net leadership asked for.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59" name="Text 57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Defensibility &amp; governance — built in, not bolted on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17320"/>
            <a:ext cx="118872" cy="13716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600200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Per-code citations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1984248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accepted code links to the chart line and the guideline that justify it; coders see why.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190488" y="1417320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90488" y="1417320"/>
            <a:ext cx="118872" cy="13716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3" name="Text 11"/>
          <p:cNvSpPr/>
          <p:nvPr/>
        </p:nvSpPr>
        <p:spPr>
          <a:xfrm>
            <a:off x="6510528" y="1600200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Append-only audit packet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10528" y="1984248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Stage, actor, model version and timestamps — your RAC-audit defense, generated automatically.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953512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53512"/>
            <a:ext cx="118872" cy="13716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13639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change log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admin edit (config, policy, KG, reference data, golden set) recorded with who &amp; when, by role.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190488" y="2953512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90488" y="2953512"/>
            <a:ext cx="118872" cy="13716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3136392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harness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510528" y="3520440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reported against adjudicated consensus with the inter-rater reliability ceiling — honest, not inflated.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4489704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57200" y="4489704"/>
            <a:ext cx="118872" cy="13716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4672584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override + reason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77240" y="5056632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edits are captured with rationale, feeding the learning loop and the audit trail.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190488" y="4489704"/>
            <a:ext cx="5541264" cy="13716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90488" y="4489704"/>
            <a:ext cx="118872" cy="13716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9" name="Text 27"/>
          <p:cNvSpPr/>
          <p:nvPr/>
        </p:nvSpPr>
        <p:spPr>
          <a:xfrm>
            <a:off x="6510528" y="4672584"/>
            <a:ext cx="4992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by role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510528" y="5056632"/>
            <a:ext cx="499262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Coder / QA / CDI / Supervisor — navigation and every action gated; maps to SSO in production.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RATIONALE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decisions — options considered &amp; why we chose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1274552" cy="38404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880360" y="137160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considered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6995160" y="1371600"/>
            <a:ext cx="4690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&amp; rationale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55648"/>
            <a:ext cx="11274552" cy="548640"/>
          </a:xfrm>
          <a:prstGeom prst="rect">
            <a:avLst/>
          </a:prstGeom>
          <a:solidFill>
            <a:srgbClr val="EFF4F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556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880360" y="17556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NLP / SLM (BioBERT, MedSpaCy)  ·  frontier LLM  ·  hybrid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95160" y="175564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Claude now for accuracy, reasoning &amp; citations; roadmap distills to US-region SLMs for cost / latency / residency.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304288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042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80360" y="23042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Prompt-only  ·  plain RAG  ·  Graph-RAG + deterministic gates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995160" y="230428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grounding + gates — the agent can only emit retrieved codes; structural, not a prompt-tuning hope.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52928"/>
            <a:ext cx="11274552" cy="548640"/>
          </a:xfrm>
          <a:prstGeom prst="rect">
            <a:avLst/>
          </a:prstGeom>
          <a:solidFill>
            <a:srgbClr val="EFF4F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28529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&amp; routing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880360" y="28529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model probability  ·  calibrated multi-factor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995160" y="285292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4-factor score — trustworthy STB / QA / Manual thresholds the business can set.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401568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0156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880360" y="340156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self-check  ·  deterministic rule engine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995160" y="340156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engine for auditability — NCCI / MUE / modifier / payer are rules, fully inspectable.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3950208"/>
            <a:ext cx="11274552" cy="548640"/>
          </a:xfrm>
          <a:prstGeom prst="rect">
            <a:avLst/>
          </a:prstGeom>
          <a:solidFill>
            <a:srgbClr val="EFF4F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95020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store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880360" y="395020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vector DB  ·  PostgreSQL + pgvector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95020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transactional store — simpler ops, no extra service; pgvector reserved for embedding retrieval.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498848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449884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Autonomy model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880360" y="449884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auto  ·  human-in-loop  ·  bounded autonomy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95160" y="449884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autonomy — hard rules force review (critical care, NCCI break, ambiguity) regardless of score.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047488"/>
            <a:ext cx="11274552" cy="548640"/>
          </a:xfrm>
          <a:prstGeom prst="rect">
            <a:avLst/>
          </a:prstGeom>
          <a:solidFill>
            <a:srgbClr val="EFF4FA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504748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Configurability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880360" y="504748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thresholds  ·  runtime config store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95160" y="504748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DB-backed config — admins tune routing, gates, SLAs, the KG &amp; roles with no redeploy.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5596128"/>
            <a:ext cx="11274552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596128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Hard-chart accuracy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880360" y="5596128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self-consistency  ·  never  ·  targeted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995160" y="5596128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2000"/>
              </a:lnSpc>
              <a:buNone/>
            </a:pPr>
            <a:r>
              <a:rPr lang="en-US" sz="10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self-consistency only on hard charts — accuracy where it matters, cost controlled.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DEPLOYMENT &amp; DATA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Production posture and the licensing reality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630168" cy="402336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63040"/>
            <a:ext cx="3630168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residency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85800" y="2304288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2402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+ Azure AI Foundry; US-region mandatory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054096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99008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with strict no co-mingling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3803904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73989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today → AKS / container apps in cloud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" y="4553712"/>
            <a:ext cx="118872" cy="118872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89704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 distillation for cost, latency &amp; data residency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79392" y="1463040"/>
            <a:ext cx="3630168" cy="402336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279392" y="1463040"/>
            <a:ext cx="3630168" cy="566928"/>
          </a:xfrm>
          <a:prstGeom prst="rect">
            <a:avLst/>
          </a:prstGeom>
          <a:solidFill>
            <a:srgbClr val="0E8C81"/>
          </a:solidFill>
          <a:ln/>
        </p:spPr>
      </p:sp>
      <p:sp>
        <p:nvSpPr>
          <p:cNvPr id="20" name="Text 18"/>
          <p:cNvSpPr/>
          <p:nvPr/>
        </p:nvSpPr>
        <p:spPr>
          <a:xfrm>
            <a:off x="4462272" y="146304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secrets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4507992" y="2304288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22402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Synthetic, PHI-free charts in the demo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07992" y="3054096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4" name="Text 22"/>
          <p:cNvSpPr/>
          <p:nvPr/>
        </p:nvSpPr>
        <p:spPr>
          <a:xfrm>
            <a:off x="4736592" y="299008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secret (model API key) in env, never in git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07992" y="3803904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6" name="Text 24"/>
          <p:cNvSpPr/>
          <p:nvPr/>
        </p:nvSpPr>
        <p:spPr>
          <a:xfrm>
            <a:off x="4736592" y="373989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ledger + change log for traceability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07992" y="4553712"/>
            <a:ext cx="118872" cy="118872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28" name="Text 26"/>
          <p:cNvSpPr/>
          <p:nvPr/>
        </p:nvSpPr>
        <p:spPr>
          <a:xfrm>
            <a:off x="4736592" y="4489704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 controls &amp; encryption at deployment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1584" y="1463040"/>
            <a:ext cx="3630168" cy="4023360"/>
          </a:xfrm>
          <a:prstGeom prst="roundRect">
            <a:avLst>
              <a:gd name="adj" fmla="val 1763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101584" y="1463040"/>
            <a:ext cx="3630168" cy="566928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1" name="Text 29"/>
          <p:cNvSpPr/>
          <p:nvPr/>
        </p:nvSpPr>
        <p:spPr>
          <a:xfrm>
            <a:off x="8284464" y="1463040"/>
            <a:ext cx="32644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Licensing reality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8330184" y="2304288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33" name="Text 31"/>
          <p:cNvSpPr/>
          <p:nvPr/>
        </p:nvSpPr>
        <p:spPr>
          <a:xfrm>
            <a:off x="8558784" y="2240280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now: ICD-10-CM / HCPCS / NCCI / MUE / guidelines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330184" y="3054096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35" name="Text 33"/>
          <p:cNvSpPr/>
          <p:nvPr/>
        </p:nvSpPr>
        <p:spPr>
          <a:xfrm>
            <a:off x="8558784" y="2990088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CPT (AMA) = labeled placeholder → client license in prod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330184" y="3803904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37" name="Text 35"/>
          <p:cNvSpPr/>
          <p:nvPr/>
        </p:nvSpPr>
        <p:spPr>
          <a:xfrm>
            <a:off x="8558784" y="3739896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Ontology: demo set → licensed SNOMED CT / UMLS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330184" y="4553712"/>
            <a:ext cx="118872" cy="118872"/>
          </a:xfrm>
          <a:prstGeom prst="ellipse">
            <a:avLst/>
          </a:prstGeom>
          <a:solidFill>
            <a:srgbClr val="13B5A6"/>
          </a:solidFill>
          <a:ln/>
        </p:spPr>
      </p:sp>
      <p:sp>
        <p:nvSpPr>
          <p:cNvPr id="39" name="Text 37"/>
          <p:cNvSpPr/>
          <p:nvPr/>
        </p:nvSpPr>
        <p:spPr>
          <a:xfrm>
            <a:off x="8558784" y="4489704"/>
            <a:ext cx="2971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shapes — a swap, not a rebuild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562356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AF1F8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562356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demo-scale:  </a:t>
            </a:r>
            <a:pPr indent="0" marL="0">
              <a:lnSpc>
                <a:spcPct val="98000"/>
              </a:lnSpc>
              <a:buNone/>
            </a:pPr>
            <a:r>
              <a:rPr lang="en-US" sz="1100" dirty="0">
                <a:solidFill>
                  <a:srgbClr val="2731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mechanisms are real; gold-chart volume, SLM retraining and denial-prevention scale post-demo — nothing is faked, and the fallback never invents codes.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789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88952" cy="27432"/>
          </a:xfrm>
          <a:prstGeom prst="rect">
            <a:avLst/>
          </a:prstGeom>
          <a:solidFill>
            <a:srgbClr val="D8E1EC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310896"/>
            <a:ext cx="109728" cy="512064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74320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PATH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maturity ramp — earn autonomy, don't assume it</a:t>
            </a:r>
            <a:endParaRPr lang="en-US" sz="2300" dirty="0"/>
          </a:p>
        </p:txBody>
      </p:sp>
      <p:sp>
        <p:nvSpPr>
          <p:cNvPr id="7" name="Shape 5"/>
          <p:cNvSpPr/>
          <p:nvPr/>
        </p:nvSpPr>
        <p:spPr>
          <a:xfrm>
            <a:off x="594360" y="18288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828800"/>
            <a:ext cx="3520440" cy="10972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9" name="Shape 7"/>
          <p:cNvSpPr/>
          <p:nvPr/>
        </p:nvSpPr>
        <p:spPr>
          <a:xfrm>
            <a:off x="1943100" y="2194560"/>
            <a:ext cx="822960" cy="82296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94310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77724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34930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codes alongside coders; 100% human audit. Calibrate, build the gold set, prove accuracy.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4178808" y="2971800"/>
            <a:ext cx="329184" cy="0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572000" y="18288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0" y="1828800"/>
            <a:ext cx="3520440" cy="109728"/>
          </a:xfrm>
          <a:prstGeom prst="rect">
            <a:avLst/>
          </a:prstGeom>
          <a:solidFill>
            <a:srgbClr val="0E8C81"/>
          </a:solidFill>
          <a:ln/>
        </p:spPr>
      </p:sp>
      <p:sp>
        <p:nvSpPr>
          <p:cNvPr id="16" name="Shape 14"/>
          <p:cNvSpPr/>
          <p:nvPr/>
        </p:nvSpPr>
        <p:spPr>
          <a:xfrm>
            <a:off x="5920740" y="2194560"/>
            <a:ext cx="822960" cy="822960"/>
          </a:xfrm>
          <a:prstGeom prst="ellipse">
            <a:avLst/>
          </a:prstGeom>
          <a:solidFill>
            <a:srgbClr val="0E8C81"/>
          </a:solidFill>
          <a:ln/>
        </p:spPr>
      </p:sp>
      <p:sp>
        <p:nvSpPr>
          <p:cNvPr id="17" name="Text 15"/>
          <p:cNvSpPr/>
          <p:nvPr/>
        </p:nvSpPr>
        <p:spPr>
          <a:xfrm>
            <a:off x="592074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5488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STB pilot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00600" y="34930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Straight-Through Billing for high-confidence lanes; QA samples taper as certification holds.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156448" y="2971800"/>
            <a:ext cx="329184" cy="0"/>
          </a:xfrm>
          <a:prstGeom prst="line">
            <a:avLst/>
          </a:prstGeom>
          <a:noFill/>
          <a:ln w="27940">
            <a:solidFill>
              <a:srgbClr val="13B5A6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549640" y="1828800"/>
            <a:ext cx="35204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12700">
            <a:solidFill>
              <a:srgbClr val="D8E1EC"/>
            </a:solidFill>
            <a:prstDash val="solid"/>
          </a:ln>
          <a:effectLst>
            <a:outerShdw sx="100000" sy="100000" kx="0" ky="0" algn="bl" rotWithShape="0" blurRad="88900" dist="38100" dir="8100000">
              <a:srgbClr val="1B2A4A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549640" y="1828800"/>
            <a:ext cx="3520440" cy="1097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Shape 21"/>
          <p:cNvSpPr/>
          <p:nvPr/>
        </p:nvSpPr>
        <p:spPr>
          <a:xfrm>
            <a:off x="9898380" y="2194560"/>
            <a:ext cx="822960" cy="8229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9898380" y="21945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8732520" y="310896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778240" y="349300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8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specialties via the accelerator; STB rate climbs toward ≥ 80% as the model is certified at ≥ 95%.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94360" y="4572000"/>
            <a:ext cx="11000232" cy="1463040"/>
          </a:xfrm>
          <a:prstGeom prst="roundRect">
            <a:avLst>
              <a:gd name="adj" fmla="val 3750"/>
            </a:avLst>
          </a:prstGeom>
          <a:solidFill>
            <a:srgbClr val="1B2A4A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" y="46817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moves at each step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68680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90% SLA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86868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accuracy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11880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 ≥ 80%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361188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STB rate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55080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≥ 30%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635508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effort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098280" y="5029200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3B5A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− 10–15%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9098280" y="55321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Turnaround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6565392"/>
            <a:ext cx="12188952" cy="292608"/>
          </a:xfrm>
          <a:prstGeom prst="rect">
            <a:avLst/>
          </a:prstGeom>
          <a:solidFill>
            <a:srgbClr val="0E1B33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 · Autonomous Coding Engine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45352" y="656539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FB0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Nous Infosystems  ·  for Vee Healthtek  ·  Confidential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686032" y="6565392"/>
            <a:ext cx="365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3B5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NOUS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05156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model — a defensible, configurable platform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10312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" y="2103120"/>
            <a:ext cx="109728" cy="107899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7" name="Text 5"/>
          <p:cNvSpPr/>
          <p:nvPr/>
        </p:nvSpPr>
        <p:spPr>
          <a:xfrm>
            <a:off x="1024128" y="2231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&amp; calibration harness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25603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accuracy vs. adjudicated consensus — the trust instrument that lets autonomy grow safely.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0" y="2103120"/>
            <a:ext cx="109728" cy="107899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1" name="Text 9"/>
          <p:cNvSpPr/>
          <p:nvPr/>
        </p:nvSpPr>
        <p:spPr>
          <a:xfrm>
            <a:off x="6693408" y="223113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Defensibility engine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93408" y="256032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deterministic gates + audit packet — every claim is auditable.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1520" y="332841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2A4A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3328416"/>
            <a:ext cx="109728" cy="107899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Specialty accelerator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24128" y="37856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specialties onboard via config + a gold set, not a rebuild.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00800" y="3328416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2A4A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0" y="3328416"/>
            <a:ext cx="109728" cy="107899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19" name="Text 17"/>
          <p:cNvSpPr/>
          <p:nvPr/>
        </p:nvSpPr>
        <p:spPr>
          <a:xfrm>
            <a:off x="6693408" y="345643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Graph-RAG curation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93408" y="3785616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client-owned knowledge graph, built and governed in-app.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55371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2A4A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553712"/>
            <a:ext cx="109728" cy="107899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platform &amp; operating model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24128" y="50109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control of routing, gates, SLAs, roles — plus the control-tower &amp; governance ramp.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0" y="4553712"/>
            <a:ext cx="5394960" cy="1078992"/>
          </a:xfrm>
          <a:prstGeom prst="roundRect">
            <a:avLst>
              <a:gd name="adj" fmla="val 5085"/>
            </a:avLst>
          </a:prstGeom>
          <a:solidFill>
            <a:srgbClr val="1B2A4A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0" y="4553712"/>
            <a:ext cx="109728" cy="1078992"/>
          </a:xfrm>
          <a:prstGeom prst="rect">
            <a:avLst/>
          </a:prstGeom>
          <a:solidFill>
            <a:srgbClr val="13B5A6"/>
          </a:solidFill>
          <a:ln/>
        </p:spPr>
      </p:sp>
      <p:sp>
        <p:nvSpPr>
          <p:cNvPr id="27" name="Text 25"/>
          <p:cNvSpPr/>
          <p:nvPr/>
        </p:nvSpPr>
        <p:spPr>
          <a:xfrm>
            <a:off x="6693408" y="46817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RevAmp-native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693408" y="5010912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FC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to live inside Vee Healthtek's coding ecosystem.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31520" y="61722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today, not slideware — and built to earn autonomy chart by chart.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Nous Infosystems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ACE — Autonomous Coding Engine</dc:title>
  <dc:subject>PptxGenJS Presentation</dc:subject>
  <dc:creator>Nous Infosystems</dc:creator>
  <cp:lastModifiedBy>Nous Infosystems</cp:lastModifiedBy>
  <cp:revision>1</cp:revision>
  <dcterms:created xsi:type="dcterms:W3CDTF">2026-06-09T05:55:05Z</dcterms:created>
  <dcterms:modified xsi:type="dcterms:W3CDTF">2026-06-09T05:55:05Z</dcterms:modified>
</cp:coreProperties>
</file>