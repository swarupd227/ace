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-2468880"/>
            <a:ext cx="6583680" cy="6583680"/>
          </a:xfrm>
          <a:prstGeom prst="ellipse">
            <a:avLst/>
          </a:prstGeom>
          <a:solidFill>
            <a:srgbClr val="24365C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2834640"/>
            <a:ext cx="4572000" cy="4572000"/>
          </a:xfrm>
          <a:prstGeom prst="ellipse">
            <a:avLst/>
          </a:prstGeom>
          <a:solidFill>
            <a:srgbClr val="24365C">
              <a:alpha val="3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0" y="640080"/>
            <a:ext cx="2926080" cy="2926080"/>
          </a:xfrm>
          <a:prstGeom prst="ellipse">
            <a:avLst/>
          </a:prstGeom>
          <a:solidFill>
            <a:srgbClr val="13B5A6">
              <a:alpha val="14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INFOSYSTEMS   ·   FOR VEE HEALTHTEK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96596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ACE — Autonomous Coding Engine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that turns clinical notes into billable codes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49808" y="3703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flow  ·  Technical architecture  ·  Design rationale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4709160"/>
            <a:ext cx="2053742" cy="420624"/>
          </a:xfrm>
          <a:prstGeom prst="roundRect">
            <a:avLst>
              <a:gd name="adj" fmla="val 50000"/>
            </a:avLst>
          </a:prstGeom>
          <a:solidFill>
            <a:srgbClr val="24365C"/>
          </a:solidFill>
          <a:ln w="12700">
            <a:solidFill>
              <a:srgbClr val="13B5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709160"/>
            <a:ext cx="205374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like a coder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86430" y="4709160"/>
            <a:ext cx="1876349" cy="420624"/>
          </a:xfrm>
          <a:prstGeom prst="roundRect">
            <a:avLst>
              <a:gd name="adj" fmla="val 50000"/>
            </a:avLst>
          </a:prstGeom>
          <a:solidFill>
            <a:srgbClr val="24365C"/>
          </a:solidFill>
          <a:ln w="12700">
            <a:solidFill>
              <a:srgbClr val="13B5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6430" y="4709160"/>
            <a:ext cx="187634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Cites every code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63947" y="4709160"/>
            <a:ext cx="1965046" cy="420624"/>
          </a:xfrm>
          <a:prstGeom prst="roundRect">
            <a:avLst>
              <a:gd name="adj" fmla="val 50000"/>
            </a:avLst>
          </a:prstGeom>
          <a:solidFill>
            <a:srgbClr val="24365C"/>
          </a:solidFill>
          <a:ln w="12700">
            <a:solidFill>
              <a:srgbClr val="13B5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63947" y="4709160"/>
            <a:ext cx="196504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when to ask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230161" y="4709160"/>
            <a:ext cx="2053742" cy="420624"/>
          </a:xfrm>
          <a:prstGeom prst="roundRect">
            <a:avLst>
              <a:gd name="adj" fmla="val 50000"/>
            </a:avLst>
          </a:prstGeom>
          <a:solidFill>
            <a:srgbClr val="24365C"/>
          </a:solidFill>
          <a:ln w="12700">
            <a:solidFill>
              <a:srgbClr val="13B5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30161" y="4709160"/>
            <a:ext cx="205374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 to configure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In-person demo · Bangalore ·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88952" cy="27432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10896"/>
            <a:ext cx="109728" cy="512064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BUILT THIS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4754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Turning clinical notes into clean claims — without losing trust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5532120" cy="475488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coding hard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103120"/>
            <a:ext cx="146304" cy="146304"/>
          </a:xfrm>
          <a:prstGeom prst="ellipse">
            <a:avLst/>
          </a:prstGeom>
          <a:solidFill>
            <a:srgbClr val="13B5A6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0574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notes to codes.  </a:t>
            </a:r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clinician writes the story; someone has to turn it into the exact ICD-10, CPT and HCPCS — and get the specificity, bundling and modifiers right.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1520" y="3063240"/>
            <a:ext cx="146304" cy="146304"/>
          </a:xfrm>
          <a:prstGeom prst="ellipse">
            <a:avLst/>
          </a:prstGeom>
          <a:solidFill>
            <a:srgbClr val="13B5A6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0175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Mistakes are costly.  </a:t>
            </a:r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code means a denial, a compliance question, or rework. Good coders are hard to find, and everything they touch is audited.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4023360"/>
            <a:ext cx="146304" cy="146304"/>
          </a:xfrm>
          <a:prstGeom prst="ellipse">
            <a:avLst/>
          </a:prstGeom>
          <a:solidFill>
            <a:srgbClr val="13B5A6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97764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never enough time.  </a:t>
            </a:r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are high and turnaround matters. Coder time is the real cost.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1520" y="4983480"/>
            <a:ext cx="146304" cy="146304"/>
          </a:xfrm>
          <a:prstGeom prst="ellipse">
            <a:avLst/>
          </a:prstGeom>
          <a:solidFill>
            <a:srgbClr val="13B5A6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9377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has to earn trust.  </a:t>
            </a:r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lets a black box bill a claim. People want to see the reasoning before they hand over control.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17920" y="1417320"/>
            <a:ext cx="5513832" cy="4754880"/>
          </a:xfrm>
          <a:prstGeom prst="roundRect">
            <a:avLst>
              <a:gd name="adj" fmla="val 1346"/>
            </a:avLst>
          </a:prstGeom>
          <a:solidFill>
            <a:srgbClr val="1B2A4A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9224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you'll know it's working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19476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grow over time — they're not a day-one cliff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92240" y="233172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3B5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90%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8366760" y="23317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across the whole chart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9224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3B5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80%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8366760" y="306324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with no human touch, once earned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92240" y="37947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3B5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30%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8366760" y="379476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manual coding effort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92240" y="45262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3B5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10–15%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8366760" y="45262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turnaround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92240" y="5303520"/>
            <a:ext cx="4937760" cy="18288"/>
          </a:xfrm>
          <a:prstGeom prst="rect">
            <a:avLst/>
          </a:prstGeom>
          <a:solidFill>
            <a:srgbClr val="3A4D72"/>
          </a:solidFill>
          <a:ln/>
        </p:spPr>
      </p:sp>
      <p:sp>
        <p:nvSpPr>
          <p:cNvPr id="29" name="Text 27"/>
          <p:cNvSpPr/>
          <p:nvPr/>
        </p:nvSpPr>
        <p:spPr>
          <a:xfrm>
            <a:off x="6492240" y="5422392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with a human checking every chart, certify the model once it holds 95%+, then ease off the sampling.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E1B33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 · Autonomous Coding Engine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245352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Infosystems  ·  for Vee Healthtek  ·  Confidential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1686032" y="656539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88952" cy="27432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10896"/>
            <a:ext cx="109728" cy="512064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HEARD FROM VEE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4754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asked for — and how ACE answers it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57200" y="117043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working session with Amrish (CTAIO), Michelle (CPTO) and the team, plus the SOW and use-case documents.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112745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15727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told us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742432" y="1572768"/>
            <a:ext cx="5879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ACE does today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1938528"/>
            <a:ext cx="11274552" cy="603504"/>
          </a:xfrm>
          <a:prstGeom prst="rect">
            <a:avLst/>
          </a:prstGeom>
          <a:solidFill>
            <a:srgbClr val="EFF4FA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577840" y="2029968"/>
            <a:ext cx="18288" cy="420624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1938528"/>
            <a:ext cx="4791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model honest with a knowledge graph and agentic RAG over payer policy, medical necessity and clinical ontologies.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742432" y="1938528"/>
            <a:ext cx="5824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Graph-RAG grounds every code; the ontology, payer policies and guidelines are built and curated right in the app.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542032"/>
            <a:ext cx="11274552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77840" y="2633472"/>
            <a:ext cx="18288" cy="420624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2542032"/>
            <a:ext cx="4791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the chart for the coder.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742432" y="2542032"/>
            <a:ext cx="5824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chart opens with a plain-language summary and structured extraction.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145536"/>
            <a:ext cx="11274552" cy="603504"/>
          </a:xfrm>
          <a:prstGeom prst="rect">
            <a:avLst/>
          </a:prstGeom>
          <a:solidFill>
            <a:srgbClr val="EFF4FA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77840" y="3236976"/>
            <a:ext cx="18288" cy="420624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" y="3145536"/>
            <a:ext cx="4791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Colour-code confidence, and make everything observable and traceable.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742432" y="3145536"/>
            <a:ext cx="5824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colour-coded lanes, a live agent trace, and a 'knowledge used for this chart' panel.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749040"/>
            <a:ext cx="11274552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77840" y="3840480"/>
            <a:ext cx="18288" cy="420624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" y="3749040"/>
            <a:ext cx="4791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coders override — and capture the reason.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742432" y="3749040"/>
            <a:ext cx="5824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accept or override with a reason, saved to the audit trail and the learning loop.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4352544"/>
            <a:ext cx="11274552" cy="603504"/>
          </a:xfrm>
          <a:prstGeom prst="rect">
            <a:avLst/>
          </a:prstGeom>
          <a:solidFill>
            <a:srgbClr val="EFF4FA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77840" y="4443984"/>
            <a:ext cx="18288" cy="420624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" y="4352544"/>
            <a:ext cx="4791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 in batch, and flag invalid or 'junk' codes.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742432" y="4352544"/>
            <a:ext cx="5824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 become exemplars that shift later charts; deterministic gates reject impossible codes before billing.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4956048"/>
            <a:ext cx="11274552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77840" y="5047488"/>
            <a:ext cx="18288" cy="420624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33" name="Text 31"/>
          <p:cNvSpPr/>
          <p:nvPr/>
        </p:nvSpPr>
        <p:spPr>
          <a:xfrm>
            <a:off x="621792" y="4956048"/>
            <a:ext cx="4791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and distil to smaller models on Azure AI Foundry, US-region.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742432" y="4956048"/>
            <a:ext cx="5824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model today, with a clear path to US-region SLMs — the architecture is ready for it.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5559552"/>
            <a:ext cx="11274552" cy="603504"/>
          </a:xfrm>
          <a:prstGeom prst="rect">
            <a:avLst/>
          </a:prstGeom>
          <a:solidFill>
            <a:srgbClr val="EFF4FA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577840" y="5650992"/>
            <a:ext cx="18288" cy="420624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" y="5559552"/>
            <a:ext cx="4791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Radiology, expand to E&amp;M, ED and Pathology, and move quickly.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742432" y="5559552"/>
            <a:ext cx="5824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Radiology-led and already multi-specialty; new specialties onboard via config, not a rebuild.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E1B3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 · Autonomous Coding Engine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245352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Infosystems  ·  for Vee Healthtek  ·  Confidential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1686032" y="656539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88952" cy="27432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10896"/>
            <a:ext cx="109728" cy="512064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4754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ACE in four parts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79192" cy="4480560"/>
          </a:xfrm>
          <a:prstGeom prst="roundRect">
            <a:avLst>
              <a:gd name="adj" fmla="val 2389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54480"/>
            <a:ext cx="2679192" cy="109728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965960"/>
            <a:ext cx="868680" cy="868680"/>
          </a:xfrm>
          <a:prstGeom prst="ellipse">
            <a:avLst/>
          </a:prstGeom>
          <a:solidFill>
            <a:srgbClr val="EAF1F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9659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C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13232" y="301752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like a careful coder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3657600"/>
            <a:ext cx="21671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the chart, pulls out what matters, picks the codes, checks the rules, and only then decides if it's safe to bill — and you can watch it work.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319272" y="1554480"/>
            <a:ext cx="2679192" cy="4480560"/>
          </a:xfrm>
          <a:prstGeom prst="roundRect">
            <a:avLst>
              <a:gd name="adj" fmla="val 2389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19272" y="1554480"/>
            <a:ext cx="2679192" cy="109728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3592" y="1965960"/>
            <a:ext cx="868680" cy="868680"/>
          </a:xfrm>
          <a:prstGeom prst="ellipse">
            <a:avLst/>
          </a:prstGeom>
          <a:solidFill>
            <a:srgbClr val="EAF1F8"/>
          </a:solidFill>
          <a:ln/>
        </p:spPr>
      </p:sp>
      <p:sp>
        <p:nvSpPr>
          <p:cNvPr id="16" name="Text 14"/>
          <p:cNvSpPr/>
          <p:nvPr/>
        </p:nvSpPr>
        <p:spPr>
          <a:xfrm>
            <a:off x="3593592" y="19659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C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575304" y="301752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its work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575304" y="3657600"/>
            <a:ext cx="21671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code points back to a line in the chart and the rule behind it, with an audit trail you could hand to an auditor.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81344" y="1554480"/>
            <a:ext cx="2679192" cy="4480560"/>
          </a:xfrm>
          <a:prstGeom prst="roundRect">
            <a:avLst>
              <a:gd name="adj" fmla="val 2389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81344" y="1554480"/>
            <a:ext cx="2679192" cy="109728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21" name="Shape 19"/>
          <p:cNvSpPr/>
          <p:nvPr/>
        </p:nvSpPr>
        <p:spPr>
          <a:xfrm>
            <a:off x="6455664" y="1965960"/>
            <a:ext cx="868680" cy="868680"/>
          </a:xfrm>
          <a:prstGeom prst="ellipse">
            <a:avLst/>
          </a:prstGeom>
          <a:solidFill>
            <a:srgbClr val="EAF1F8"/>
          </a:solidFill>
          <a:ln/>
        </p:spPr>
      </p:sp>
      <p:sp>
        <p:nvSpPr>
          <p:cNvPr id="22" name="Text 20"/>
          <p:cNvSpPr/>
          <p:nvPr/>
        </p:nvSpPr>
        <p:spPr>
          <a:xfrm>
            <a:off x="6455664" y="19659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C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437376" y="301752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when to ask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37376" y="3657600"/>
            <a:ext cx="21671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confidence score it actually trusts sends each chart to auto-bill, a quick QA check, or a coder. Some calls always go to a person.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043416" y="1554480"/>
            <a:ext cx="2679192" cy="4480560"/>
          </a:xfrm>
          <a:prstGeom prst="roundRect">
            <a:avLst>
              <a:gd name="adj" fmla="val 2389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043416" y="1554480"/>
            <a:ext cx="2679192" cy="109728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27" name="Shape 25"/>
          <p:cNvSpPr/>
          <p:nvPr/>
        </p:nvSpPr>
        <p:spPr>
          <a:xfrm>
            <a:off x="9317736" y="1965960"/>
            <a:ext cx="868680" cy="868680"/>
          </a:xfrm>
          <a:prstGeom prst="ellipse">
            <a:avLst/>
          </a:prstGeom>
          <a:solidFill>
            <a:srgbClr val="EAF1F8"/>
          </a:solidFill>
          <a:ln/>
        </p:spPr>
      </p:sp>
      <p:sp>
        <p:nvSpPr>
          <p:cNvPr id="28" name="Text 26"/>
          <p:cNvSpPr/>
          <p:nvPr/>
        </p:nvSpPr>
        <p:spPr>
          <a:xfrm>
            <a:off x="9317736" y="19659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C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9299448" y="301752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 to run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299448" y="3657600"/>
            <a:ext cx="21671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 tunes the thresholds, the rules, the knowledge graph, the specialties and who can do what — no code, no redeploy.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E1B33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 · Autonomous Coding Engine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245352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Infosystems  ·  for Vee Healthtek  ·  Confidential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686032" y="656539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88952" cy="27432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10896"/>
            <a:ext cx="109728" cy="512064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FLOW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4754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a chart moves — from intake to billing, with a feedback loop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1783080" cy="841248"/>
          </a:xfrm>
          <a:prstGeom prst="roundRect">
            <a:avLst>
              <a:gd name="adj" fmla="val 6522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30352" y="1371600"/>
            <a:ext cx="1636776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D7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PMS / EHR (FHIR · HL7 · EDI)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395728" y="1371600"/>
            <a:ext cx="1783080" cy="841248"/>
          </a:xfrm>
          <a:prstGeom prst="roundRect">
            <a:avLst>
              <a:gd name="adj" fmla="val 6522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371600"/>
            <a:ext cx="1636776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codable?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D7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docs, right specialty, no exclusions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34256" y="1371600"/>
            <a:ext cx="1783080" cy="841248"/>
          </a:xfrm>
          <a:prstGeom prst="roundRect">
            <a:avLst>
              <a:gd name="adj" fmla="val 6522"/>
            </a:avLst>
          </a:prstGeom>
          <a:solidFill>
            <a:srgbClr val="0E8C81"/>
          </a:solidFill>
          <a:ln/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07408" y="1371600"/>
            <a:ext cx="1636776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 codes it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D7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→ extract → code → check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2784" y="1371600"/>
            <a:ext cx="1783080" cy="841248"/>
          </a:xfrm>
          <a:prstGeom prst="roundRect">
            <a:avLst>
              <a:gd name="adj" fmla="val 6522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45936" y="1371600"/>
            <a:ext cx="1636776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sure is it?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D7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confidence score it trusts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11312" y="1371600"/>
            <a:ext cx="3520440" cy="841248"/>
          </a:xfrm>
          <a:prstGeom prst="roundRect">
            <a:avLst>
              <a:gd name="adj" fmla="val 6522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84464" y="1371600"/>
            <a:ext cx="3374136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/ clearinghouse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D7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goes out (837)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240280" y="1792224"/>
            <a:ext cx="155448" cy="0"/>
          </a:xfrm>
          <a:prstGeom prst="line">
            <a:avLst/>
          </a:prstGeom>
          <a:noFill/>
          <a:ln w="27940">
            <a:solidFill>
              <a:srgbClr val="13B5A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178808" y="1792224"/>
            <a:ext cx="155448" cy="0"/>
          </a:xfrm>
          <a:prstGeom prst="line">
            <a:avLst/>
          </a:prstGeom>
          <a:noFill/>
          <a:ln w="27940">
            <a:solidFill>
              <a:srgbClr val="13B5A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117336" y="1792224"/>
            <a:ext cx="155448" cy="0"/>
          </a:xfrm>
          <a:prstGeom prst="line">
            <a:avLst/>
          </a:prstGeom>
          <a:noFill/>
          <a:ln w="27940">
            <a:solidFill>
              <a:srgbClr val="13B5A6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055864" y="1792224"/>
            <a:ext cx="155448" cy="0"/>
          </a:xfrm>
          <a:prstGeom prst="line">
            <a:avLst/>
          </a:prstGeom>
          <a:noFill/>
          <a:ln w="27940">
            <a:solidFill>
              <a:srgbClr val="13B5A6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457200" y="239572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how sure it is, </a:t>
            </a:r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chart goes to exactly one of three lanes: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2761488"/>
            <a:ext cx="36118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2761488"/>
            <a:ext cx="118872" cy="86868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2761488"/>
            <a:ext cx="320040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Straight-through billing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 — bills automatically, audit-sampled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288536" y="2761488"/>
            <a:ext cx="36118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288536" y="2761488"/>
            <a:ext cx="118872" cy="86868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62856" y="2761488"/>
            <a:ext cx="320040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QA check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auditor confirms the AI's draft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119872" y="2761488"/>
            <a:ext cx="36118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19872" y="2761488"/>
            <a:ext cx="118872" cy="86868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0" name="Text 28"/>
          <p:cNvSpPr/>
          <p:nvPr/>
        </p:nvSpPr>
        <p:spPr>
          <a:xfrm>
            <a:off x="8394192" y="2761488"/>
            <a:ext cx="320040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Coder does it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hands over a head start, a person finishes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57200" y="3913632"/>
            <a:ext cx="5541264" cy="1115568"/>
          </a:xfrm>
          <a:prstGeom prst="roundRect">
            <a:avLst>
              <a:gd name="adj" fmla="val 5738"/>
            </a:avLst>
          </a:prstGeom>
          <a:solidFill>
            <a:srgbClr val="EAF1F8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8368" y="4032504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notes fall short — a physician query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58368" y="4343400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documentation can't support a more specific code, ACE writes a compliant, non-leading question for the physician. Their answer re-codes the chart.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90488" y="3913632"/>
            <a:ext cx="5541264" cy="1115568"/>
          </a:xfrm>
          <a:prstGeom prst="roundRect">
            <a:avLst>
              <a:gd name="adj" fmla="val 5738"/>
            </a:avLst>
          </a:prstGeom>
          <a:solidFill>
            <a:srgbClr val="EAF1F8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91656" y="4032504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gets better over time — the feedback loop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391656" y="4343400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coder corrects ACE, that correction quietly improves the next similar chart (batched every 24–48 hours in production).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5285232"/>
            <a:ext cx="11274552" cy="960120"/>
          </a:xfrm>
          <a:prstGeom prst="roundRect">
            <a:avLst>
              <a:gd name="adj" fmla="val 5714"/>
            </a:avLst>
          </a:prstGeom>
          <a:solidFill>
            <a:srgbClr val="1B2A4A"/>
          </a:solidFill>
          <a:ln/>
        </p:spPr>
      </p:sp>
      <p:sp>
        <p:nvSpPr>
          <p:cNvPr id="38" name="Text 36"/>
          <p:cNvSpPr/>
          <p:nvPr/>
        </p:nvSpPr>
        <p:spPr>
          <a:xfrm>
            <a:off x="713232" y="5285232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travels with the chart.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summary, the agent's trace, the confidence score, the citations, the checks and the reason it landed where it did — all attached to the encounter, so any lane can be explained in seconds.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E1B3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 · Autonomous Coding Engine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245352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Infosystems  ·  for Vee Healthtek  ·  Confidential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1686032" y="656539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88952" cy="27432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10896"/>
            <a:ext cx="109728" cy="512064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AI ACTUALLY DOES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4754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places the model does the heavy lifting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554126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709928"/>
            <a:ext cx="786384" cy="786384"/>
          </a:xfrm>
          <a:prstGeom prst="ellipse">
            <a:avLst/>
          </a:prstGeom>
          <a:solidFill>
            <a:srgbClr val="EAF1F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709928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C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45920" y="1600200"/>
            <a:ext cx="4123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and summarises the chart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645920" y="1947672"/>
            <a:ext cx="4123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free-text report into structured findings, procedures, laterality and contrast — a summary a coder can scan in seconds.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90488" y="1417320"/>
            <a:ext cx="554126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19088" y="1709928"/>
            <a:ext cx="786384" cy="786384"/>
          </a:xfrm>
          <a:prstGeom prst="ellipse">
            <a:avLst/>
          </a:prstGeom>
          <a:solidFill>
            <a:srgbClr val="EAF1F8"/>
          </a:solidFill>
          <a:ln/>
        </p:spPr>
      </p:sp>
      <p:sp>
        <p:nvSpPr>
          <p:cNvPr id="14" name="Text 12"/>
          <p:cNvSpPr/>
          <p:nvPr/>
        </p:nvSpPr>
        <p:spPr>
          <a:xfrm>
            <a:off x="6419088" y="1709928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C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79208" y="1600200"/>
            <a:ext cx="4123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codes it can back 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379208" y="1947672"/>
            <a:ext cx="4123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only choose from codes the knowledge graph surfaced, so it can't invent one.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554126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5800" y="3246120"/>
            <a:ext cx="786384" cy="786384"/>
          </a:xfrm>
          <a:prstGeom prst="ellipse">
            <a:avLst/>
          </a:prstGeom>
          <a:solidFill>
            <a:srgbClr val="EAF1F8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24612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C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645920" y="3136392"/>
            <a:ext cx="4123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Cites every code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645920" y="3483864"/>
            <a:ext cx="4123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code is tied to the line in the chart and the guideline behind it — and those citations are checked before anything is accepted.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90488" y="2953512"/>
            <a:ext cx="554126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19088" y="3246120"/>
            <a:ext cx="786384" cy="786384"/>
          </a:xfrm>
          <a:prstGeom prst="ellipse">
            <a:avLst/>
          </a:prstGeom>
          <a:solidFill>
            <a:srgbClr val="EAF1F8"/>
          </a:solidFill>
          <a:ln/>
        </p:spPr>
      </p:sp>
      <p:sp>
        <p:nvSpPr>
          <p:cNvPr id="24" name="Text 22"/>
          <p:cNvSpPr/>
          <p:nvPr/>
        </p:nvSpPr>
        <p:spPr>
          <a:xfrm>
            <a:off x="6419088" y="324612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C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379208" y="3136392"/>
            <a:ext cx="4123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Double-checks the hard ones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379208" y="3483864"/>
            <a:ext cx="4123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ambiguous or multi-procedure charts it codes more than once and compares, catching the confident-but-wrong cases.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489704"/>
            <a:ext cx="554126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85800" y="4782312"/>
            <a:ext cx="786384" cy="786384"/>
          </a:xfrm>
          <a:prstGeom prst="ellipse">
            <a:avLst/>
          </a:prstGeom>
          <a:solidFill>
            <a:srgbClr val="EAF1F8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4782312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C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645920" y="4672584"/>
            <a:ext cx="4123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when it's unsure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645920" y="5020056"/>
            <a:ext cx="4123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confidence score decides whether to auto-bill or hand it to a person. The model knows what it doesn't know.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90488" y="4489704"/>
            <a:ext cx="554126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419088" y="4782312"/>
            <a:ext cx="786384" cy="786384"/>
          </a:xfrm>
          <a:prstGeom prst="ellipse">
            <a:avLst/>
          </a:prstGeom>
          <a:solidFill>
            <a:srgbClr val="EAF1F8"/>
          </a:solidFill>
          <a:ln/>
        </p:spPr>
      </p:sp>
      <p:sp>
        <p:nvSpPr>
          <p:cNvPr id="34" name="Text 32"/>
          <p:cNvSpPr/>
          <p:nvPr/>
        </p:nvSpPr>
        <p:spPr>
          <a:xfrm>
            <a:off x="6419088" y="4782312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C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7379208" y="4672584"/>
            <a:ext cx="4123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 with queries, and learns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7379208" y="5020056"/>
            <a:ext cx="4123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compliant physician queries, and gets a little better with every coder correction.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E1B33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 · Autonomous Coding Engine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245352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Infosystems  ·  for Vee Healthtek  ·  Confidential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686032" y="656539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88952" cy="27432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10896"/>
            <a:ext cx="109728" cy="512064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4754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it's put together — one self-contained stack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2651760" y="11155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51760" y="1335024"/>
            <a:ext cx="274320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43200" y="1335024"/>
            <a:ext cx="2560320" cy="694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Coders / QA / CDI / Admin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browser, gated by role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766560" y="1335024"/>
            <a:ext cx="42062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0" y="1335024"/>
            <a:ext cx="4023360" cy="694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PMS / EHR source systems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Admin · eClinicalWorks · Cerner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51760" y="21214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SEE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2340864"/>
            <a:ext cx="3840480" cy="694944"/>
          </a:xfrm>
          <a:prstGeom prst="roundRect">
            <a:avLst>
              <a:gd name="adj" fmla="val 7895"/>
            </a:avLst>
          </a:prstGeom>
          <a:solidFill>
            <a:srgbClr val="1B2A4A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743200" y="2340864"/>
            <a:ext cx="3657600" cy="694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— React + TypeScript + Vite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D7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by nginx (also passes the live agent stream)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766560" y="2340864"/>
            <a:ext cx="42062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0" y="2340864"/>
            <a:ext cx="4023360" cy="694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channels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R4 · HL7 v2 · EDI 837/835 · REST / batch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651760" y="31272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WORK HAPPENS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651760" y="3346704"/>
            <a:ext cx="3840480" cy="987552"/>
          </a:xfrm>
          <a:prstGeom prst="roundRect">
            <a:avLst>
              <a:gd name="adj" fmla="val 5556"/>
            </a:avLst>
          </a:prstGeom>
          <a:solidFill>
            <a:srgbClr val="0E8C81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0" y="3346704"/>
            <a:ext cx="3657600" cy="9875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 (Python 3.12)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D7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coding agent, the rule checks, the live trace, roles and the change log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766560" y="3346704"/>
            <a:ext cx="2011680" cy="987552"/>
          </a:xfrm>
          <a:prstGeom prst="roundRect">
            <a:avLst>
              <a:gd name="adj" fmla="val 5556"/>
            </a:avLst>
          </a:prstGeom>
          <a:solidFill>
            <a:srgbClr val="1B2A4A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0" y="3346704"/>
            <a:ext cx="1828800" cy="9875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model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D7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— Sonnet by default, Opus on hard charts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961120" y="3346704"/>
            <a:ext cx="201168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052560" y="3346704"/>
            <a:ext cx="1828800" cy="9875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fallback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key? it routes to a human instead of guessing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51760" y="43159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KNOWS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651760" y="4535424"/>
            <a:ext cx="3840480" cy="987552"/>
          </a:xfrm>
          <a:prstGeom prst="roundRect">
            <a:avLst>
              <a:gd name="adj" fmla="val 5556"/>
            </a:avLst>
          </a:prstGeom>
          <a:solidFill>
            <a:srgbClr val="1B2A4A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743200" y="4535424"/>
            <a:ext cx="3657600" cy="9875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+ pgvector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D7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encounters, runs, codes, the audit trail and settings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766560" y="4535424"/>
            <a:ext cx="420624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858000" y="4535424"/>
            <a:ext cx="4023360" cy="9875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&amp; reference store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policies · the ontology (KG) · ICD-10 / CPT* / HCPCS · NCCI / MUE / modifiers · guidelines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7200" y="1298448"/>
            <a:ext cx="2057400" cy="4224528"/>
          </a:xfrm>
          <a:prstGeom prst="roundRect">
            <a:avLst>
              <a:gd name="adj" fmla="val 2667"/>
            </a:avLst>
          </a:prstGeom>
          <a:solidFill>
            <a:srgbClr val="EAF1F8"/>
          </a:solidFill>
          <a:ln/>
        </p:spPr>
      </p:sp>
      <p:sp>
        <p:nvSpPr>
          <p:cNvPr id="30" name="Text 28"/>
          <p:cNvSpPr/>
          <p:nvPr/>
        </p:nvSpPr>
        <p:spPr>
          <a:xfrm>
            <a:off x="59436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ships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94360" y="1783080"/>
            <a:ext cx="181051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Docker command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api and database come up together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its own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retrieval, the checks and the audit trail need no outside services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your cloud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+ Azure AI Foundry, US-region, multi-tenant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651760" y="5797296"/>
            <a:ext cx="905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*CPT is shown as a clearly-labelled placeholder; in production we drop in your licensed AMA CPT set — same shape.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E1B33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 · Autonomous Coding Engine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245352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Infosystems  ·  for Vee Healthtek  ·  Confidential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686032" y="656539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88952" cy="27432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10896"/>
            <a:ext cx="109728" cy="512064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4754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Inside the coding agent — the steps it runs, in order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11274552" cy="585216"/>
          </a:xfrm>
          <a:prstGeom prst="roundRect">
            <a:avLst>
              <a:gd name="adj" fmla="val 7813"/>
            </a:avLst>
          </a:prstGeom>
          <a:solidFill>
            <a:srgbClr val="FBFDFF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868680" cy="365760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14813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00200" y="1371600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codable?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1371600"/>
            <a:ext cx="7205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rule check: right documents, supported specialty, no exclusions. If not, it goes to a coder with the reason.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007108"/>
            <a:ext cx="11274552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" y="2116836"/>
            <a:ext cx="868680" cy="365760"/>
          </a:xfrm>
          <a:prstGeom prst="roundRect">
            <a:avLst>
              <a:gd name="adj" fmla="val 12500"/>
            </a:avLst>
          </a:prstGeom>
          <a:solidFill>
            <a:srgbClr val="0E8C81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211683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1·2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00200" y="2007108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&amp; extract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43400" y="2007108"/>
            <a:ext cx="7205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call reads the chart and pulls out the findings, procedures, laterality and contrast in structured form.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42616"/>
            <a:ext cx="11274552" cy="585216"/>
          </a:xfrm>
          <a:prstGeom prst="roundRect">
            <a:avLst>
              <a:gd name="adj" fmla="val 7813"/>
            </a:avLst>
          </a:prstGeom>
          <a:solidFill>
            <a:srgbClr val="FBFDFF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2752344"/>
            <a:ext cx="868680" cy="365760"/>
          </a:xfrm>
          <a:prstGeom prst="roundRect">
            <a:avLst>
              <a:gd name="adj" fmla="val 12500"/>
            </a:avLst>
          </a:prstGeom>
          <a:solidFill>
            <a:srgbClr val="13B5A6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75234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00200" y="2642616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candidate codes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43400" y="2642616"/>
            <a:ext cx="7205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Graph-RAG pulls candidates from the code sets, the ontology, payer policy and past corrections — the only codes it may use.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278124"/>
            <a:ext cx="11274552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3387852"/>
            <a:ext cx="868680" cy="365760"/>
          </a:xfrm>
          <a:prstGeom prst="roundRect">
            <a:avLst>
              <a:gd name="adj" fmla="val 12500"/>
            </a:avLst>
          </a:prstGeom>
          <a:solidFill>
            <a:srgbClr val="0E8C81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338785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600200" y="3278124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it, with citations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343400" y="3278124"/>
            <a:ext cx="7205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picks codes and cites the chart line and guideline for each. Hard charts get a second, independent pass.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913632"/>
            <a:ext cx="11274552" cy="585216"/>
          </a:xfrm>
          <a:prstGeom prst="roundRect">
            <a:avLst>
              <a:gd name="adj" fmla="val 7813"/>
            </a:avLst>
          </a:prstGeom>
          <a:solidFill>
            <a:srgbClr val="FBFDFF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" y="4023360"/>
            <a:ext cx="868680" cy="365760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/>
        </p:spPr>
      </p:sp>
      <p:sp>
        <p:nvSpPr>
          <p:cNvPr id="29" name="Text 27"/>
          <p:cNvSpPr/>
          <p:nvPr/>
        </p:nvSpPr>
        <p:spPr>
          <a:xfrm>
            <a:off x="566928" y="402336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3b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600200" y="391363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citations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343400" y="3913632"/>
            <a:ext cx="7205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cited line is verified against the chart; anything unsupported is dropped before the rules run.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549140"/>
            <a:ext cx="11274552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6928" y="4658868"/>
            <a:ext cx="868680" cy="365760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65886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600200" y="4549140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rule checks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343400" y="4549140"/>
            <a:ext cx="7205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Plain, deterministic checks: NCCI bundling, MUE units, valid modifiers, specificity, sex/age, payer necessity.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5184648"/>
            <a:ext cx="11274552" cy="585216"/>
          </a:xfrm>
          <a:prstGeom prst="roundRect">
            <a:avLst>
              <a:gd name="adj" fmla="val 7813"/>
            </a:avLst>
          </a:prstGeom>
          <a:solidFill>
            <a:srgbClr val="FBFDFF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6928" y="5294376"/>
            <a:ext cx="868680" cy="365760"/>
          </a:xfrm>
          <a:prstGeom prst="roundRect">
            <a:avLst>
              <a:gd name="adj" fmla="val 12500"/>
            </a:avLst>
          </a:prstGeom>
          <a:solidFill>
            <a:srgbClr val="1B2A4A"/>
          </a:solidFill>
          <a:ln/>
        </p:spPr>
      </p:sp>
      <p:sp>
        <p:nvSpPr>
          <p:cNvPr id="39" name="Text 37"/>
          <p:cNvSpPr/>
          <p:nvPr/>
        </p:nvSpPr>
        <p:spPr>
          <a:xfrm>
            <a:off x="566928" y="52943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600200" y="5184648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&amp; route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343400" y="5184648"/>
            <a:ext cx="7205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confidence score sends it to auto-bill, QA or a coder — with hard limits that always send certain cases to a person.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57200" y="5929884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watch all of this happen — the app streams each step live as the agent runs.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E1B33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 · Autonomous Coding Engine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245352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Infosystems  ·  for Vee Healthtek  ·  Confidential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11686032" y="656539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88952" cy="27432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10896"/>
            <a:ext cx="109728" cy="512064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4754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Graph-RAG &amp; the knowledge graph — why the model can't go off-script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5486400" cy="48006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grounds every coding decision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194560"/>
            <a:ext cx="109728" cy="566928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2148840"/>
            <a:ext cx="4800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sets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ICD-10-CM, CPT and HCPCS descriptions, matched to the specialty and modality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971800"/>
            <a:ext cx="109728" cy="566928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2926080"/>
            <a:ext cx="4800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medical ontology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concepts linked to codes and to each other (is-a, finding-site, caused-by)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749040"/>
            <a:ext cx="109728" cy="566928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" y="3703320"/>
            <a:ext cx="4800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policy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medical-necessity and prior-auth rules for that chart's payer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4526280"/>
            <a:ext cx="109728" cy="566928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4480560"/>
            <a:ext cx="4800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guidelines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ICD-10 / NCCI guidance, pulled in and cited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5303520"/>
            <a:ext cx="109728" cy="566928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" y="5257800"/>
            <a:ext cx="4800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corrections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your coders fixed on charts like this one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1463040"/>
            <a:ext cx="5513832" cy="2286000"/>
          </a:xfrm>
          <a:prstGeom prst="roundRect">
            <a:avLst>
              <a:gd name="adj" fmla="val 2800"/>
            </a:avLst>
          </a:prstGeom>
          <a:solidFill>
            <a:srgbClr val="1B2A4A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0" y="16459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rule that matters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0" y="2029968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6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 only use codes that retrieval brings back. If a code isn't grounded, it doesn't get billed.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92240" y="27889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turns 'don't make things up' from a hope into a property of the system — and it's what lets the medical-necessity check be a plain, deterministic rule.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3931920"/>
            <a:ext cx="5513832" cy="2331720"/>
          </a:xfrm>
          <a:prstGeom prst="roundRect">
            <a:avLst>
              <a:gd name="adj" fmla="val 2745"/>
            </a:avLst>
          </a:prstGeom>
          <a:solidFill>
            <a:srgbClr val="EAF1F8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92240" y="4114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graph your team owns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92240" y="4480560"/>
            <a:ext cx="4983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curated in the app. 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concept, map it to codes, draw a relationship — and the agent uses it on the very next chart.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production scale, 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drop in licensed SNOMED CT / UMLS in the same shape; pgvector is ready for embedding search.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E1B33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 · Autonomous Coding Engine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245352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Infosystems  ·  for Vee Healthtek  ·  Confidential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686032" y="656539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88952" cy="27432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10896"/>
            <a:ext cx="109728" cy="512064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4754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rule checks, the confidence score, and the hard limits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3630168" cy="4754880"/>
          </a:xfrm>
          <a:prstGeom prst="roundRect">
            <a:avLst>
              <a:gd name="adj" fmla="val 1763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3630168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463040"/>
            <a:ext cx="3264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checks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313432"/>
            <a:ext cx="118872" cy="11887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2402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NCCI bundling (hard, or fixable with a modifier)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770632"/>
            <a:ext cx="118872" cy="11887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6974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 — units allowed per day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227832"/>
            <a:ext cx="118872" cy="11887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1546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modifier even valid?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3685032"/>
            <a:ext cx="118872" cy="11887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6118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code specific / billable?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4142232"/>
            <a:ext cx="118872" cy="11887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0690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fit the patient's sex and age?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4599432"/>
            <a:ext cx="118872" cy="11887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5262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payer cover it?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5029200"/>
            <a:ext cx="3264408" cy="18288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512064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rules, not guesswork — every check is inspectable and reads live from tables your team can edit.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79392" y="1463040"/>
            <a:ext cx="3630168" cy="4754880"/>
          </a:xfrm>
          <a:prstGeom prst="roundRect">
            <a:avLst>
              <a:gd name="adj" fmla="val 1763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79392" y="1463040"/>
            <a:ext cx="3630168" cy="566928"/>
          </a:xfrm>
          <a:prstGeom prst="rect">
            <a:avLst/>
          </a:prstGeom>
          <a:solidFill>
            <a:srgbClr val="0E8C81"/>
          </a:solidFill>
          <a:ln/>
        </p:spPr>
      </p:sp>
      <p:sp>
        <p:nvSpPr>
          <p:cNvPr id="26" name="Text 24"/>
          <p:cNvSpPr/>
          <p:nvPr/>
        </p:nvSpPr>
        <p:spPr>
          <a:xfrm>
            <a:off x="4462272" y="1463040"/>
            <a:ext cx="3264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confidence score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07992" y="2313432"/>
            <a:ext cx="118872" cy="118872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28" name="Text 26"/>
          <p:cNvSpPr/>
          <p:nvPr/>
        </p:nvSpPr>
        <p:spPr>
          <a:xfrm>
            <a:off x="4736592" y="22402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sure is the model?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07992" y="2770632"/>
            <a:ext cx="118872" cy="118872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30" name="Text 28"/>
          <p:cNvSpPr/>
          <p:nvPr/>
        </p:nvSpPr>
        <p:spPr>
          <a:xfrm>
            <a:off x="4736592" y="26974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chart back it up?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07992" y="3227832"/>
            <a:ext cx="118872" cy="118872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32" name="Text 30"/>
          <p:cNvSpPr/>
          <p:nvPr/>
        </p:nvSpPr>
        <p:spPr>
          <a:xfrm>
            <a:off x="4736592" y="31546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rules agree?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07992" y="3685032"/>
            <a:ext cx="118872" cy="118872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34" name="Text 32"/>
          <p:cNvSpPr/>
          <p:nvPr/>
        </p:nvSpPr>
        <p:spPr>
          <a:xfrm>
            <a:off x="4736592" y="36118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match past charts?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07992" y="4142232"/>
            <a:ext cx="118872" cy="118872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4736592" y="40690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score it can trust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07992" y="4599432"/>
            <a:ext cx="118872" cy="118872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38" name="Text 36"/>
          <p:cNvSpPr/>
          <p:nvPr/>
        </p:nvSpPr>
        <p:spPr>
          <a:xfrm>
            <a:off x="4736592" y="45262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auto-bill / QA / coder line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462272" y="5029200"/>
            <a:ext cx="3264408" cy="18288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40" name="Text 38"/>
          <p:cNvSpPr/>
          <p:nvPr/>
        </p:nvSpPr>
        <p:spPr>
          <a:xfrm>
            <a:off x="4480560" y="512064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of four signals (you set the weights) — far more trustworthy than a raw model percentage.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101584" y="1463040"/>
            <a:ext cx="3630168" cy="4754880"/>
          </a:xfrm>
          <a:prstGeom prst="roundRect">
            <a:avLst>
              <a:gd name="adj" fmla="val 1763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101584" y="1463040"/>
            <a:ext cx="3630168" cy="566928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43" name="Text 41"/>
          <p:cNvSpPr/>
          <p:nvPr/>
        </p:nvSpPr>
        <p:spPr>
          <a:xfrm>
            <a:off x="8284464" y="1463040"/>
            <a:ext cx="3264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limits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330184" y="2313432"/>
            <a:ext cx="118872" cy="118872"/>
          </a:xfrm>
          <a:prstGeom prst="ellipse">
            <a:avLst/>
          </a:prstGeom>
          <a:solidFill>
            <a:srgbClr val="13B5A6"/>
          </a:solidFill>
          <a:ln/>
        </p:spPr>
      </p:sp>
      <p:sp>
        <p:nvSpPr>
          <p:cNvPr id="45" name="Text 43"/>
          <p:cNvSpPr/>
          <p:nvPr/>
        </p:nvSpPr>
        <p:spPr>
          <a:xfrm>
            <a:off x="8558784" y="22402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Critical-care codes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330184" y="2770632"/>
            <a:ext cx="118872" cy="118872"/>
          </a:xfrm>
          <a:prstGeom prst="ellipse">
            <a:avLst/>
          </a:prstGeom>
          <a:solidFill>
            <a:srgbClr val="13B5A6"/>
          </a:solidFill>
          <a:ln/>
        </p:spPr>
      </p:sp>
      <p:sp>
        <p:nvSpPr>
          <p:cNvPr id="47" name="Text 45"/>
          <p:cNvSpPr/>
          <p:nvPr/>
        </p:nvSpPr>
        <p:spPr>
          <a:xfrm>
            <a:off x="8558784" y="26974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an NCCI bundle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330184" y="3227832"/>
            <a:ext cx="118872" cy="118872"/>
          </a:xfrm>
          <a:prstGeom prst="ellipse">
            <a:avLst/>
          </a:prstGeom>
          <a:solidFill>
            <a:srgbClr val="13B5A6"/>
          </a:solidFill>
          <a:ln/>
        </p:spPr>
      </p:sp>
      <p:sp>
        <p:nvSpPr>
          <p:cNvPr id="49" name="Text 47"/>
          <p:cNvSpPr/>
          <p:nvPr/>
        </p:nvSpPr>
        <p:spPr>
          <a:xfrm>
            <a:off x="8558784" y="31546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that disagree with themselves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330184" y="3685032"/>
            <a:ext cx="118872" cy="118872"/>
          </a:xfrm>
          <a:prstGeom prst="ellipse">
            <a:avLst/>
          </a:prstGeom>
          <a:solidFill>
            <a:srgbClr val="13B5A6"/>
          </a:solidFill>
          <a:ln/>
        </p:spPr>
      </p:sp>
      <p:sp>
        <p:nvSpPr>
          <p:cNvPr id="51" name="Text 49"/>
          <p:cNvSpPr/>
          <p:nvPr/>
        </p:nvSpPr>
        <p:spPr>
          <a:xfrm>
            <a:off x="8558784" y="36118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blocking documentation flag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330184" y="4142232"/>
            <a:ext cx="118872" cy="118872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53" name="Text 51"/>
          <p:cNvSpPr/>
          <p:nvPr/>
        </p:nvSpPr>
        <p:spPr>
          <a:xfrm>
            <a:off x="8558784" y="40690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sent to a person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30184" y="4599432"/>
            <a:ext cx="118872" cy="118872"/>
          </a:xfrm>
          <a:prstGeom prst="ellipse">
            <a:avLst/>
          </a:prstGeom>
          <a:solidFill>
            <a:srgbClr val="13B5A6"/>
          </a:solidFill>
          <a:ln/>
        </p:spPr>
      </p:sp>
      <p:sp>
        <p:nvSpPr>
          <p:cNvPr id="55" name="Text 53"/>
          <p:cNvSpPr/>
          <p:nvPr/>
        </p:nvSpPr>
        <p:spPr>
          <a:xfrm>
            <a:off x="8558784" y="4526280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matter how confident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284464" y="5029200"/>
            <a:ext cx="3264408" cy="18288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57" name="Text 55"/>
          <p:cNvSpPr/>
          <p:nvPr/>
        </p:nvSpPr>
        <p:spPr>
          <a:xfrm>
            <a:off x="8302752" y="512064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ceiling on what can ever bill on its own — the safety net your leadership asked for.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E1B33"/>
          </a:solidFill>
          <a:ln/>
        </p:spPr>
      </p:sp>
      <p:sp>
        <p:nvSpPr>
          <p:cNvPr id="59" name="Text 57"/>
          <p:cNvSpPr/>
          <p:nvPr/>
        </p:nvSpPr>
        <p:spPr>
          <a:xfrm>
            <a:off x="45720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 · Autonomous Coding Engine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6245352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Infosystems  ·  for Vee Healthtek  ·  Confidential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1686032" y="656539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88952" cy="27432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10896"/>
            <a:ext cx="109728" cy="512064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BY DESIGN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4754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every claim can be explained and defended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554126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17320"/>
            <a:ext cx="118872" cy="1371600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600200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code is cited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1984248"/>
            <a:ext cx="4992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accepted code links back to the chart line and the guideline that justify it — coders see the why.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90488" y="1417320"/>
            <a:ext cx="554126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90488" y="1417320"/>
            <a:ext cx="118872" cy="1371600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600200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audit trail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10528" y="1984248"/>
            <a:ext cx="4992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step, who did it, which model and when — the record you'd hand to a RAC auditor, written automatically.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953512"/>
            <a:ext cx="554126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953512"/>
            <a:ext cx="118872" cy="1371600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136392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admin change is logged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3520440"/>
            <a:ext cx="4992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Config, policy, knowledge-graph, reference-data and gold-set edits — all recorded with who changed what, and when.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0488" y="2953512"/>
            <a:ext cx="554126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90488" y="2953512"/>
            <a:ext cx="118872" cy="1371600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136392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accuracy numbers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510528" y="3520440"/>
            <a:ext cx="4992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against adjudicated consensus, with the limit of where coders themselves disagree — no inflated claims.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4489704"/>
            <a:ext cx="554126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4489704"/>
            <a:ext cx="118872" cy="1371600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4672584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 keep the reason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7240" y="5056632"/>
            <a:ext cx="4992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coder changes a code, the rationale is captured — feeding both the audit trail and the learning loop.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0488" y="4489704"/>
            <a:ext cx="554126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90488" y="4489704"/>
            <a:ext cx="118872" cy="1371600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672584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control who can do what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510528" y="5056632"/>
            <a:ext cx="4992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coder, QA, CDI, supervisor — both the menus and the buttons; maps to your SSO in production.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E1B33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 · Autonomous Coding Engine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245352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Infosystems  ·  for Vee Healthtek  ·  Confidential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686032" y="656539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88952" cy="27432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10896"/>
            <a:ext cx="109728" cy="512064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RATIONALE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4754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big choices — what we weighed, and why we landed where we did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11274552" cy="38404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32588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971800" y="13258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considered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995160" y="1325880"/>
            <a:ext cx="4690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landed — and why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1709928"/>
            <a:ext cx="11274552" cy="548640"/>
          </a:xfrm>
          <a:prstGeom prst="rect">
            <a:avLst/>
          </a:prstGeom>
          <a:solidFill>
            <a:srgbClr val="EFF4FA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70992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engine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71800" y="170992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NLP / small models  ·  a frontier LLM  ·  a mix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995160" y="170992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Claude now, for accuracy and clean citations — with a clear path to smaller US-region models for cost and latency.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258568"/>
            <a:ext cx="112745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25856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 hallucination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71800" y="225856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 prompting  ·  plain RAG  ·  Graph-RAG + rule checks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995160" y="225856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it in retrieval and check it with rules. The agent can only use codes it was given — not a prompt we hope holds.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807208"/>
            <a:ext cx="11274552" cy="548640"/>
          </a:xfrm>
          <a:prstGeom prst="rect">
            <a:avLst/>
          </a:prstGeom>
          <a:solidFill>
            <a:srgbClr val="EFF4FA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8072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what to auto-bill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971800" y="280720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raw % ·  a blended, calibrated score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995160" y="280720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blended score you can trust, so the auto-bill / QA / coder line is one the business actually sets.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355848"/>
            <a:ext cx="112745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35584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the codes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971800" y="335584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model check itself  ·  a real rule engine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95160" y="335584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Plain, deterministic rules — NCCI, MUE, modifiers, payer — so every check can be inspected and defended.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904488"/>
            <a:ext cx="11274552" cy="548640"/>
          </a:xfrm>
          <a:prstGeom prst="rect">
            <a:avLst/>
          </a:prstGeom>
          <a:solidFill>
            <a:srgbClr val="EFF4FA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9044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knowledge lives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971800" y="390448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vector database  ·  Postgres + pgvector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995160" y="390448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database, fewer moving parts, easier to run — and pgvector is there when we turn on embedding search.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453128"/>
            <a:ext cx="112745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" y="445312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to automate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971800" y="445312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auto  ·  human-in-the-loop  ·  bounded autonomy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95160" y="445312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easy calls, but keep hard limits that always route the risky ones to a person.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5001768"/>
            <a:ext cx="11274552" cy="548640"/>
          </a:xfrm>
          <a:prstGeom prst="rect">
            <a:avLst/>
          </a:prstGeom>
          <a:solidFill>
            <a:srgbClr val="EFF4FA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" y="500176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it configurable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971800" y="500176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baked into code  ·  settings in the database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95160" y="500176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Thresholds, rules, SLAs, the knowledge graph and roles all change at runtime — no redeploy, no waiting on us.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5550408"/>
            <a:ext cx="112745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5504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on the hard charts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971800" y="5550408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double-check everything  ·  never  ·  only when it's hard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95160" y="555040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the extra effort only where it pays off — the ambiguous and multi-procedure charts.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E1B33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 · Autonomous Coding Engine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245352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Infosystems  ·  for Vee Healthtek  ·  Confidential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11686032" y="656539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88952" cy="27432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10896"/>
            <a:ext cx="109728" cy="512064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DEPLOYMENT &amp; DATA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4754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it runs, what it protects, and the licensing reality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3630168" cy="4023360"/>
          </a:xfrm>
          <a:prstGeom prst="roundRect">
            <a:avLst>
              <a:gd name="adj" fmla="val 1763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3630168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463040"/>
            <a:ext cx="3264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2304288"/>
            <a:ext cx="118872" cy="11887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240280"/>
            <a:ext cx="2971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+ Azure AI Foundry, US-region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054096"/>
            <a:ext cx="118872" cy="11887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990088"/>
            <a:ext cx="2971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Multi-tenant, with strict separation between clients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803904"/>
            <a:ext cx="118872" cy="11887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739896"/>
            <a:ext cx="2971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today → AKS / container apps in the cloud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553712"/>
            <a:ext cx="118872" cy="118872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489704"/>
            <a:ext cx="2971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 to smaller in-region models for cost &amp; residency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279392" y="1463040"/>
            <a:ext cx="3630168" cy="4023360"/>
          </a:xfrm>
          <a:prstGeom prst="roundRect">
            <a:avLst>
              <a:gd name="adj" fmla="val 1763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279392" y="1463040"/>
            <a:ext cx="3630168" cy="566928"/>
          </a:xfrm>
          <a:prstGeom prst="rect">
            <a:avLst/>
          </a:prstGeom>
          <a:solidFill>
            <a:srgbClr val="0E8C81"/>
          </a:solidFill>
          <a:ln/>
        </p:spPr>
      </p:sp>
      <p:sp>
        <p:nvSpPr>
          <p:cNvPr id="20" name="Text 18"/>
          <p:cNvSpPr/>
          <p:nvPr/>
        </p:nvSpPr>
        <p:spPr>
          <a:xfrm>
            <a:off x="4462272" y="1463040"/>
            <a:ext cx="3264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protects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07992" y="2304288"/>
            <a:ext cx="118872" cy="118872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22" name="Text 20"/>
          <p:cNvSpPr/>
          <p:nvPr/>
        </p:nvSpPr>
        <p:spPr>
          <a:xfrm>
            <a:off x="4736592" y="2240280"/>
            <a:ext cx="2971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data is synthetic — no real patient information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07992" y="3054096"/>
            <a:ext cx="118872" cy="118872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24" name="Text 22"/>
          <p:cNvSpPr/>
          <p:nvPr/>
        </p:nvSpPr>
        <p:spPr>
          <a:xfrm>
            <a:off x="4736592" y="2990088"/>
            <a:ext cx="2971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secret (the model key), kept out of source control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07992" y="3803904"/>
            <a:ext cx="118872" cy="118872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26" name="Text 24"/>
          <p:cNvSpPr/>
          <p:nvPr/>
        </p:nvSpPr>
        <p:spPr>
          <a:xfrm>
            <a:off x="4736592" y="3739896"/>
            <a:ext cx="2971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audit trail and an admin change log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07992" y="4553712"/>
            <a:ext cx="118872" cy="118872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28" name="Text 26"/>
          <p:cNvSpPr/>
          <p:nvPr/>
        </p:nvSpPr>
        <p:spPr>
          <a:xfrm>
            <a:off x="4736592" y="4489704"/>
            <a:ext cx="2971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controls and encryption at deployment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01584" y="1463040"/>
            <a:ext cx="3630168" cy="4023360"/>
          </a:xfrm>
          <a:prstGeom prst="roundRect">
            <a:avLst>
              <a:gd name="adj" fmla="val 1763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01584" y="1463040"/>
            <a:ext cx="3630168" cy="566928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31" name="Text 29"/>
          <p:cNvSpPr/>
          <p:nvPr/>
        </p:nvSpPr>
        <p:spPr>
          <a:xfrm>
            <a:off x="8284464" y="1463040"/>
            <a:ext cx="3264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licensing reality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8330184" y="2304288"/>
            <a:ext cx="118872" cy="118872"/>
          </a:xfrm>
          <a:prstGeom prst="ellipse">
            <a:avLst/>
          </a:prstGeom>
          <a:solidFill>
            <a:srgbClr val="13B5A6"/>
          </a:solidFill>
          <a:ln/>
        </p:spPr>
      </p:sp>
      <p:sp>
        <p:nvSpPr>
          <p:cNvPr id="33" name="Text 31"/>
          <p:cNvSpPr/>
          <p:nvPr/>
        </p:nvSpPr>
        <p:spPr>
          <a:xfrm>
            <a:off x="8558784" y="2240280"/>
            <a:ext cx="2971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now: ICD-10-CM, HCPCS, NCCI, MUE, guidelines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30184" y="3054096"/>
            <a:ext cx="118872" cy="118872"/>
          </a:xfrm>
          <a:prstGeom prst="ellipse">
            <a:avLst/>
          </a:prstGeom>
          <a:solidFill>
            <a:srgbClr val="13B5A6"/>
          </a:solidFill>
          <a:ln/>
        </p:spPr>
      </p:sp>
      <p:sp>
        <p:nvSpPr>
          <p:cNvPr id="35" name="Text 33"/>
          <p:cNvSpPr/>
          <p:nvPr/>
        </p:nvSpPr>
        <p:spPr>
          <a:xfrm>
            <a:off x="8558784" y="2990088"/>
            <a:ext cx="2971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CPT (AMA) is a placeholder → your licence in production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330184" y="3803904"/>
            <a:ext cx="118872" cy="118872"/>
          </a:xfrm>
          <a:prstGeom prst="ellipse">
            <a:avLst/>
          </a:prstGeom>
          <a:solidFill>
            <a:srgbClr val="13B5A6"/>
          </a:solidFill>
          <a:ln/>
        </p:spPr>
      </p:sp>
      <p:sp>
        <p:nvSpPr>
          <p:cNvPr id="37" name="Text 35"/>
          <p:cNvSpPr/>
          <p:nvPr/>
        </p:nvSpPr>
        <p:spPr>
          <a:xfrm>
            <a:off x="8558784" y="3739896"/>
            <a:ext cx="2971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Ontology: a demo set → licensed SNOMED CT / UMLS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330184" y="4553712"/>
            <a:ext cx="118872" cy="118872"/>
          </a:xfrm>
          <a:prstGeom prst="ellipse">
            <a:avLst/>
          </a:prstGeom>
          <a:solidFill>
            <a:srgbClr val="13B5A6"/>
          </a:solidFill>
          <a:ln/>
        </p:spPr>
      </p:sp>
      <p:sp>
        <p:nvSpPr>
          <p:cNvPr id="39" name="Text 37"/>
          <p:cNvSpPr/>
          <p:nvPr/>
        </p:nvSpPr>
        <p:spPr>
          <a:xfrm>
            <a:off x="8558784" y="4489704"/>
            <a:ext cx="2971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shapes throughout — it's a swap, not a rebuild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5623560"/>
            <a:ext cx="11274552" cy="68580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/>
        </p:spPr>
      </p:sp>
      <p:sp>
        <p:nvSpPr>
          <p:cNvPr id="41" name="Text 39"/>
          <p:cNvSpPr/>
          <p:nvPr/>
        </p:nvSpPr>
        <p:spPr>
          <a:xfrm>
            <a:off x="685800" y="56235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about what's demo-scale: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2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mechanisms are real; the volume of gold charts, the model retraining and denial-prevention grow after the demo. Nothing is faked, and if the model isn't available it routes to a person rather than guess.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E1B33"/>
          </a:solidFill>
          <a:ln/>
        </p:spPr>
      </p:sp>
      <p:sp>
        <p:nvSpPr>
          <p:cNvPr id="43" name="Text 41"/>
          <p:cNvSpPr/>
          <p:nvPr/>
        </p:nvSpPr>
        <p:spPr>
          <a:xfrm>
            <a:off x="45720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 · Autonomous Coding Engine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245352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Infosystems  ·  for Vee Healthtek  ·  Confidential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1686032" y="656539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88952" cy="27432"/>
          </a:xfrm>
          <a:prstGeom prst="rect">
            <a:avLst/>
          </a:prstGeom>
          <a:solidFill>
            <a:srgbClr val="D8E1E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310896"/>
            <a:ext cx="109728" cy="512064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PATH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4754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Earn autonomy — don't assume it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94360" y="1828800"/>
            <a:ext cx="35204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828800"/>
            <a:ext cx="3520440" cy="10972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9" name="Shape 7"/>
          <p:cNvSpPr/>
          <p:nvPr/>
        </p:nvSpPr>
        <p:spPr>
          <a:xfrm>
            <a:off x="1943100" y="2194560"/>
            <a:ext cx="822960" cy="82296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10" name="Text 8"/>
          <p:cNvSpPr/>
          <p:nvPr/>
        </p:nvSpPr>
        <p:spPr>
          <a:xfrm>
            <a:off x="194310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77240" y="3108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4930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 codes next to your coders while humans check everything. We calibrate, build the gold set, and prove the accuracy.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178808" y="2971800"/>
            <a:ext cx="329184" cy="0"/>
          </a:xfrm>
          <a:prstGeom prst="line">
            <a:avLst/>
          </a:prstGeom>
          <a:noFill/>
          <a:ln w="27940">
            <a:solidFill>
              <a:srgbClr val="13B5A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72000" y="1828800"/>
            <a:ext cx="35204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0" y="1828800"/>
            <a:ext cx="3520440" cy="109728"/>
          </a:xfrm>
          <a:prstGeom prst="rect">
            <a:avLst/>
          </a:prstGeom>
          <a:solidFill>
            <a:srgbClr val="0E8C81"/>
          </a:solidFill>
          <a:ln/>
        </p:spPr>
      </p:sp>
      <p:sp>
        <p:nvSpPr>
          <p:cNvPr id="16" name="Shape 14"/>
          <p:cNvSpPr/>
          <p:nvPr/>
        </p:nvSpPr>
        <p:spPr>
          <a:xfrm>
            <a:off x="5920740" y="2194560"/>
            <a:ext cx="822960" cy="822960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17" name="Text 15"/>
          <p:cNvSpPr/>
          <p:nvPr/>
        </p:nvSpPr>
        <p:spPr>
          <a:xfrm>
            <a:off x="592074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754880" y="3108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00600" y="34930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auto-billing for the high-confidence lane. QA sampling eases off as the model keeps holding its numbers.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8156448" y="2971800"/>
            <a:ext cx="329184" cy="0"/>
          </a:xfrm>
          <a:prstGeom prst="line">
            <a:avLst/>
          </a:prstGeom>
          <a:noFill/>
          <a:ln w="27940">
            <a:solidFill>
              <a:srgbClr val="13B5A6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549640" y="1828800"/>
            <a:ext cx="35204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88900" dist="38100" dir="8100000">
              <a:srgbClr val="1B2A4A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549640" y="1828800"/>
            <a:ext cx="3520440" cy="1097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9898380" y="2194560"/>
            <a:ext cx="822960" cy="8229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4" name="Text 22"/>
          <p:cNvSpPr/>
          <p:nvPr/>
        </p:nvSpPr>
        <p:spPr>
          <a:xfrm>
            <a:off x="98983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8732520" y="31089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78240" y="34930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specialties through config and watch the auto-bill rate climb toward 80%, as the model is certified at 95%+.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594360" y="4572000"/>
            <a:ext cx="11000232" cy="1463040"/>
          </a:xfrm>
          <a:prstGeom prst="roundRect">
            <a:avLst>
              <a:gd name="adj" fmla="val 3750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68172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moves as we go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68680" y="5029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B5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90%+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868680" y="5532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accuracy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611880" y="5029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B5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80%+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611880" y="5532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Auto-billed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55080" y="5029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B5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30%+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355080" y="5532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manual effort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098280" y="5029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B5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10–15%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9098280" y="5532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turnaround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E1B33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 · Autonomous Coding Engine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245352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Infosystems  ·  for Vee Healthtek  ·  Confidential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686032" y="656539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3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NOUS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just a model — a platform you can run and trust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5394960" cy="1078992"/>
          </a:xfrm>
          <a:prstGeom prst="roundRect">
            <a:avLst>
              <a:gd name="adj" fmla="val 5085"/>
            </a:avLst>
          </a:prstGeom>
          <a:solidFill>
            <a:srgbClr val="1B2A4A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103120"/>
            <a:ext cx="109728" cy="1078992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223113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 honestly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256032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against adjudicated consensus — the instrument that lets you grow autonomy without guessing.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0" y="2103120"/>
            <a:ext cx="5394960" cy="1078992"/>
          </a:xfrm>
          <a:prstGeom prst="roundRect">
            <a:avLst>
              <a:gd name="adj" fmla="val 5085"/>
            </a:avLst>
          </a:prstGeom>
          <a:solidFill>
            <a:srgbClr val="1B2A4A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2103120"/>
            <a:ext cx="109728" cy="1078992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11" name="Text 9"/>
          <p:cNvSpPr/>
          <p:nvPr/>
        </p:nvSpPr>
        <p:spPr>
          <a:xfrm>
            <a:off x="6693408" y="223113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defensible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93408" y="256032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Citations, real rule checks and a full audit trail — every claim can be explained.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1520" y="3328416"/>
            <a:ext cx="5394960" cy="1078992"/>
          </a:xfrm>
          <a:prstGeom prst="roundRect">
            <a:avLst>
              <a:gd name="adj" fmla="val 5085"/>
            </a:avLst>
          </a:prstGeom>
          <a:solidFill>
            <a:srgbClr val="1B2A4A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3328416"/>
            <a:ext cx="109728" cy="1078992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" y="34564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specialties are quick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78561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onboard through config and a gold set — not another build.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0" y="3328416"/>
            <a:ext cx="5394960" cy="1078992"/>
          </a:xfrm>
          <a:prstGeom prst="roundRect">
            <a:avLst>
              <a:gd name="adj" fmla="val 5085"/>
            </a:avLst>
          </a:prstGeom>
          <a:solidFill>
            <a:srgbClr val="1B2A4A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0" y="3328416"/>
            <a:ext cx="109728" cy="1078992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19" name="Text 17"/>
          <p:cNvSpPr/>
          <p:nvPr/>
        </p:nvSpPr>
        <p:spPr>
          <a:xfrm>
            <a:off x="6693408" y="34564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the knowledge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93408" y="378561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graph your team builds and curates inside the app.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1520" y="4553712"/>
            <a:ext cx="5394960" cy="1078992"/>
          </a:xfrm>
          <a:prstGeom prst="roundRect">
            <a:avLst>
              <a:gd name="adj" fmla="val 5085"/>
            </a:avLst>
          </a:prstGeom>
          <a:solidFill>
            <a:srgbClr val="1B2A4A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4553712"/>
            <a:ext cx="109728" cy="1078992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23" name="Text 21"/>
          <p:cNvSpPr/>
          <p:nvPr/>
        </p:nvSpPr>
        <p:spPr>
          <a:xfrm>
            <a:off x="1024128" y="46817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it, not 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24128" y="501091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Thresholds, rules, SLAs, roles, the control tower and the governance ramp are all yours.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0" y="4553712"/>
            <a:ext cx="5394960" cy="1078992"/>
          </a:xfrm>
          <a:prstGeom prst="roundRect">
            <a:avLst>
              <a:gd name="adj" fmla="val 5085"/>
            </a:avLst>
          </a:prstGeom>
          <a:solidFill>
            <a:srgbClr val="1B2A4A"/>
          </a:solidFill>
          <a:ln/>
        </p:spPr>
      </p:sp>
      <p:sp>
        <p:nvSpPr>
          <p:cNvPr id="26" name="Shape 24"/>
          <p:cNvSpPr/>
          <p:nvPr/>
        </p:nvSpPr>
        <p:spPr>
          <a:xfrm>
            <a:off x="6400800" y="4553712"/>
            <a:ext cx="109728" cy="1078992"/>
          </a:xfrm>
          <a:prstGeom prst="rect">
            <a:avLst/>
          </a:prstGeom>
          <a:solidFill>
            <a:srgbClr val="13B5A6"/>
          </a:solidFill>
          <a:ln/>
        </p:spPr>
      </p:sp>
      <p:sp>
        <p:nvSpPr>
          <p:cNvPr id="27" name="Text 25"/>
          <p:cNvSpPr/>
          <p:nvPr/>
        </p:nvSpPr>
        <p:spPr>
          <a:xfrm>
            <a:off x="6693408" y="46817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fits your world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93408" y="501091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to live inside Vee Healthtek's RevAmp coding ecosystem.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31520" y="61722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working software today — and it's built to earn your trust one chart at a time.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Nous Infosystems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ACE — Autonomous Coding Engine</dc:title>
  <dc:subject>PptxGenJS Presentation</dc:subject>
  <dc:creator>Nous Infosystems</dc:creator>
  <cp:lastModifiedBy>Nous Infosystems</cp:lastModifiedBy>
  <cp:revision>1</cp:revision>
  <dcterms:created xsi:type="dcterms:W3CDTF">2026-06-09T08:08:06Z</dcterms:created>
  <dcterms:modified xsi:type="dcterms:W3CDTF">2026-06-09T08:08:06Z</dcterms:modified>
</cp:coreProperties>
</file>